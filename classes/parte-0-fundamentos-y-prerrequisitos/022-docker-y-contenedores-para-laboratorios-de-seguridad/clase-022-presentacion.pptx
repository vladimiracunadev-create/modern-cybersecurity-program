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8046720" cy="2286000"/>
          </a:xfrm>
          <a:prstGeom prst="rect">
            <a:avLst/>
          </a:prstGeom>
          <a:noFill/>
        </p:spPr>
        <p:txBody>
          <a:bodyPr wrap="square">
            <a:spAutoFit/>
          </a:bodyPr>
          <a:lstStyle/>
          <a:p>
            <a:r>
              <a:rPr sz="3200" b="1">
                <a:solidFill>
                  <a:srgbClr val="0B3D2E"/>
                </a:solidFill>
              </a:rPr>
              <a:t>Clase 022 — Docker y contenedores para laboratorios de seguridad</a:t>
            </a:r>
          </a:p>
          <a:p>
            <a:r>
              <a:rPr sz="1600">
                <a:solidFill>
                  <a:srgbClr val="2E8B57"/>
                </a:solidFill>
              </a:rPr>
              <a:t>parte 0 fundamentos y prerrequisitos</a:t>
            </a:r>
          </a:p>
          <a:p>
            <a:r>
              <a:rPr sz="1200">
                <a:solidFill>
                  <a:srgbClr val="22282E"/>
                </a:solidFill>
              </a:rPr>
              <a:t>Programa de Ciberseguridad Moderna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Objetivo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Aprender a usar contenedores para desplegar entornos vulnerables y herramientas de seguridad de forma rápida, reproducible y desechable, que es exactamente lo que necesita un laboratorio de práctica.…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Resultados de aprendizaje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 finalizar, el alumno podrá:</a:t>
            </a:r>
          </a:p>
          <a:p>
            <a:pPr>
              <a:spcAft>
                <a:spcPts val="600"/>
              </a:spcAft>
            </a:pPr>
            <a:r>
              <a:rPr sz="1500">
                <a:solidFill>
                  <a:srgbClr val="22282E"/>
                </a:solidFill>
              </a:rPr>
              <a:t>•  Ejecutar y gestionar contenedores con la CLI de Docker (run, ps, exec, logs, stop, rm).</a:t>
            </a:r>
          </a:p>
          <a:p>
            <a:pPr>
              <a:spcAft>
                <a:spcPts val="600"/>
              </a:spcAft>
            </a:pPr>
            <a:r>
              <a:rPr sz="1500">
                <a:solidFill>
                  <a:srgbClr val="22282E"/>
                </a:solidFill>
              </a:rPr>
              <a:t>•  Construir imágenes propias con un Dockerfile y entender cómo funcionan las capas y la caché.</a:t>
            </a:r>
          </a:p>
          <a:p>
            <a:pPr>
              <a:spcAft>
                <a:spcPts val="600"/>
              </a:spcAft>
            </a:pPr>
            <a:r>
              <a:rPr sz="1500">
                <a:solidFill>
                  <a:srgbClr val="22282E"/>
                </a:solidFill>
              </a:rPr>
              <a:t>•  Orquestar varios servicios interconectados con un archivo de Docker Compose.</a:t>
            </a:r>
          </a:p>
          <a:p>
            <a:pPr>
              <a:spcAft>
                <a:spcPts val="600"/>
              </a:spcAft>
            </a:pPr>
            <a:r>
              <a:rPr sz="1500">
                <a:solidFill>
                  <a:srgbClr val="22282E"/>
                </a:solidFill>
              </a:rPr>
              <a:t>•  Desplegar laboratorios vulnerables (DVWA, Juice Shop) de forma aislada y reproducible.</a:t>
            </a:r>
          </a:p>
          <a:p>
            <a:pPr>
              <a:spcAft>
                <a:spcPts val="600"/>
              </a:spcAft>
            </a:pPr>
            <a:r>
              <a:rPr sz="1500">
                <a:solidFill>
                  <a:srgbClr val="22282E"/>
                </a:solidFill>
              </a:rPr>
              <a:t>•  Explicar el modelo de aislamiento por namespaces y cgroups y sus límites frente a una VM.</a:t>
            </a:r>
          </a:p>
          <a:p>
            <a:pPr>
              <a:spcAft>
                <a:spcPts val="600"/>
              </a:spcAft>
            </a:pPr>
            <a:r>
              <a:rPr sz="1500">
                <a:solidFill>
                  <a:srgbClr val="22282E"/>
                </a:solidFill>
              </a:rPr>
              <a:t>•  Aplicar buenas prácticas básicas de seguridad de contenedores (usuario no root, imagen mínima, escaneo).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Temas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1 — Imágenes vs. contenedores</a:t>
            </a:r>
          </a:p>
          <a:p>
            <a:pPr>
              <a:spcAft>
                <a:spcPts val="600"/>
              </a:spcAft>
            </a:pPr>
            <a:r>
              <a:rPr sz="1500">
                <a:solidFill>
                  <a:srgbClr val="22282E"/>
                </a:solidFill>
              </a:rPr>
              <a:t>•  2 — CLI de Docker</a:t>
            </a:r>
          </a:p>
          <a:p>
            <a:pPr>
              <a:spcAft>
                <a:spcPts val="600"/>
              </a:spcAft>
            </a:pPr>
            <a:r>
              <a:rPr sz="1500">
                <a:solidFill>
                  <a:srgbClr val="22282E"/>
                </a:solidFill>
              </a:rPr>
              <a:t>•  3 — Dockerfile</a:t>
            </a:r>
          </a:p>
          <a:p>
            <a:pPr>
              <a:spcAft>
                <a:spcPts val="600"/>
              </a:spcAft>
            </a:pPr>
            <a:r>
              <a:rPr sz="1500">
                <a:solidFill>
                  <a:srgbClr val="22282E"/>
                </a:solidFill>
              </a:rPr>
              <a:t>•  4 — Volúmenes y redes</a:t>
            </a:r>
          </a:p>
          <a:p>
            <a:pPr>
              <a:spcAft>
                <a:spcPts val="600"/>
              </a:spcAft>
            </a:pPr>
            <a:r>
              <a:rPr sz="1500">
                <a:solidFill>
                  <a:srgbClr val="22282E"/>
                </a:solidFill>
              </a:rPr>
              <a:t>•  5 — Docker Compose</a:t>
            </a:r>
          </a:p>
          <a:p>
            <a:pPr>
              <a:spcAft>
                <a:spcPts val="600"/>
              </a:spcAft>
            </a:pPr>
            <a:r>
              <a:rPr sz="1500">
                <a:solidFill>
                  <a:srgbClr val="22282E"/>
                </a:solidFill>
              </a:rPr>
              <a:t>•  6 — Labs vulnerables</a:t>
            </a:r>
          </a:p>
          <a:p>
            <a:pPr>
              <a:spcAft>
                <a:spcPts val="600"/>
              </a:spcAft>
            </a:pPr>
            <a:r>
              <a:rPr sz="1500">
                <a:solidFill>
                  <a:srgbClr val="22282E"/>
                </a:solidFill>
              </a:rPr>
              <a:t>•  7 — Aislamiento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Explicación en profundidad</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La distinción más importante y a la vez la más malentendida es la que separa una imagen de un contenedor. Una imagen es un artefacto inmutable y de solo lectura: un empaquetado en capas que contiene…</a:t>
            </a:r>
          </a:p>
          <a:p>
            <a:pPr>
              <a:spcAft>
                <a:spcPts val="600"/>
              </a:spcAft>
            </a:pPr>
            <a:r>
              <a:rPr sz="1500">
                <a:solidFill>
                  <a:srgbClr val="22282E"/>
                </a:solidFill>
              </a:rPr>
              <a:t>•  El trabajo diario con Docker gira en torno a un puñado de comandos. docker run crea y arranca un contenedor a partir de una imagen (descargándola del registro si no está local); docker ps lista los…</a:t>
            </a:r>
          </a:p>
          <a:p>
            <a:pPr>
              <a:spcAft>
                <a:spcPts val="600"/>
              </a:spcAft>
            </a:pPr>
            <a:r>
              <a:rPr sz="1500">
                <a:solidFill>
                  <a:srgbClr val="22282E"/>
                </a:solidFill>
              </a:rPr>
              <a:t>•  Un Dockerfile es una receta declarativa, línea a línea, para construir una imagen. Cada instrucción (FROM, COPY, RUN, ENTRYPOINT) genera una capa que se apila sobre la anterior, y Docker cachea esas…</a:t>
            </a:r>
          </a:p>
          <a:p>
            <a:pPr>
              <a:spcAft>
                <a:spcPts val="600"/>
              </a:spcAft>
            </a:pPr>
            <a:r>
              <a:rPr sz="1500">
                <a:solidFill>
                  <a:srgbClr val="22282E"/>
                </a:solidFill>
              </a:rPr>
              <a:t>•  Como el contenedor es efímero, cualquier dato que deba sobrevivir a su destrucción tiene que vivir en un volumen: un almacenamiento gestionado por Docker, independiente del ciclo de vida del…</a:t>
            </a:r>
          </a:p>
          <a:p>
            <a:pPr>
              <a:spcAft>
                <a:spcPts val="600"/>
              </a:spcAft>
            </a:pPr>
            <a:r>
              <a:rPr sz="1500">
                <a:solidFill>
                  <a:srgbClr val="22282E"/>
                </a:solidFill>
              </a:rPr>
              <a:t>•  Aquí está el concepto de seguridad más importante de la clase, y el que más se malinterpreta. Un contenedor no es una máquina virtual. Una VM ejecuta un sistema operativo huésped completo sobre un…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Definiciones y características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Imagen: plantilla inmutable y en capas con el software y su entorno de ejecución. Se versiona mediante tags y sirve de base para crear contenedores; su elección determina tamaño y superficie de…</a:t>
            </a:r>
          </a:p>
          <a:p>
            <a:pPr>
              <a:spcAft>
                <a:spcPts val="600"/>
              </a:spcAft>
            </a:pPr>
            <a:r>
              <a:rPr sz="1500">
                <a:solidFill>
                  <a:srgbClr val="22282E"/>
                </a:solidFill>
              </a:rPr>
              <a:t>•  Contenedor: instancia en ejecución de una imagen, con una capa de escritura efímera. Es rápido de crear y destruir, lo que lo hace ideal para laboratorios desechables que siempre parten de un estado…</a:t>
            </a:r>
          </a:p>
          <a:p>
            <a:pPr>
              <a:spcAft>
                <a:spcPts val="600"/>
              </a:spcAft>
            </a:pPr>
            <a:r>
              <a:rPr sz="1500">
                <a:solidFill>
                  <a:srgbClr val="22282E"/>
                </a:solidFill>
              </a:rPr>
              <a:t>•  Dockerfile: receta declarativa que describe cómo construir una imagen paso a paso. Aporta reproducibilidad y control exacto de lo que se instala; el orden de sus instrucciones afecta a la eficiencia…</a:t>
            </a:r>
          </a:p>
          <a:p>
            <a:pPr>
              <a:spcAft>
                <a:spcPts val="600"/>
              </a:spcAft>
            </a:pPr>
            <a:r>
              <a:rPr sz="1500">
                <a:solidFill>
                  <a:srgbClr val="22282E"/>
                </a:solidFill>
              </a:rPr>
              <a:t>•  Volumen: almacenamiento persistente gestionado por Docker, independiente del contenedor. Permite que datos como los de una base de datos sobrevivan a la recreación o destrucción del contenedor.</a:t>
            </a:r>
          </a:p>
          <a:p>
            <a:pPr>
              <a:spcAft>
                <a:spcPts val="600"/>
              </a:spcAft>
            </a:pPr>
            <a:r>
              <a:rPr sz="1500">
                <a:solidFill>
                  <a:srgbClr val="22282E"/>
                </a:solidFill>
              </a:rPr>
              <a:t>•  Namespaces: mecanismo del kernel que da a cada contenedor una vista aislada de procesos, red, usuarios y sistema de archivos. Es una de las dos piedras angulares del aislamiento de contenedores.</a:t>
            </a:r>
          </a:p>
          <a:p>
            <a:pPr>
              <a:spcAft>
                <a:spcPts val="600"/>
              </a:spcAft>
            </a:pPr>
            <a:r>
              <a:rPr sz="1500">
                <a:solidFill>
                  <a:srgbClr val="22282E"/>
                </a:solidFill>
              </a:rPr>
              <a:t>•  cgroups: mecanismo del kernel que limita y contabiliza el uso de recursos (CPU, memoria, E/S) de un contenedor. Evita que un contenedor agote los recursos del host y afecte a los demás.</a:t>
            </a:r>
          </a:p>
          <a:p>
            <a:pPr>
              <a:spcAft>
                <a:spcPts val="600"/>
              </a:spcAft>
            </a:pPr>
            <a:r>
              <a:rPr sz="1500">
                <a:solidFill>
                  <a:srgbClr val="22282E"/>
                </a:solidFill>
              </a:rPr>
              <a:t>•  Docker Compose: herramienta que declara varios servicios, redes y volúmenes en un archivo compose.yml. Levanta o destruye un laboratorio multi-servicio completo con un solo comando, garantizando…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Glosario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Término — Definición concisa</a:t>
            </a:r>
          </a:p>
          <a:p>
            <a:pPr>
              <a:spcAft>
                <a:spcPts val="600"/>
              </a:spcAft>
            </a:pPr>
            <a:r>
              <a:rPr sz="1500">
                <a:solidFill>
                  <a:srgbClr val="22282E"/>
                </a:solidFill>
              </a:rPr>
              <a:t>•  Imagen — Plantilla inmutable en capas para crear contenedores</a:t>
            </a:r>
          </a:p>
          <a:p>
            <a:pPr>
              <a:spcAft>
                <a:spcPts val="600"/>
              </a:spcAft>
            </a:pPr>
            <a:r>
              <a:rPr sz="1500">
                <a:solidFill>
                  <a:srgbClr val="22282E"/>
                </a:solidFill>
              </a:rPr>
              <a:t>•  Contenedor — Instancia en ejecución de una imagen</a:t>
            </a:r>
          </a:p>
          <a:p>
            <a:pPr>
              <a:spcAft>
                <a:spcPts val="600"/>
              </a:spcAft>
            </a:pPr>
            <a:r>
              <a:rPr sz="1500">
                <a:solidFill>
                  <a:srgbClr val="22282E"/>
                </a:solidFill>
              </a:rPr>
              <a:t>•  Capa (layer) — Unidad incremental de una imagen, cacheable</a:t>
            </a:r>
          </a:p>
          <a:p>
            <a:pPr>
              <a:spcAft>
                <a:spcPts val="600"/>
              </a:spcAft>
            </a:pPr>
            <a:r>
              <a:rPr sz="1500">
                <a:solidFill>
                  <a:srgbClr val="22282E"/>
                </a:solidFill>
              </a:rPr>
              <a:t>•  Dockerfile — Receta declarativa para construir una imagen</a:t>
            </a:r>
          </a:p>
          <a:p>
            <a:pPr>
              <a:spcAft>
                <a:spcPts val="600"/>
              </a:spcAft>
            </a:pPr>
            <a:r>
              <a:rPr sz="1500">
                <a:solidFill>
                  <a:srgbClr val="22282E"/>
                </a:solidFill>
              </a:rPr>
              <a:t>•  Registro — Repositorio de imágenes (p. ej. Docker Hub)</a:t>
            </a:r>
          </a:p>
          <a:p>
            <a:pPr>
              <a:spcAft>
                <a:spcPts val="600"/>
              </a:spcAft>
            </a:pPr>
            <a:r>
              <a:rPr sz="1500">
                <a:solidFill>
                  <a:srgbClr val="22282E"/>
                </a:solidFill>
              </a:rPr>
              <a:t>•  Tag — Etiqueta de versión de una imagen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Herramientas y preparación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Instala Docker Engine (Linux) o Docker Desktop (Windows/macOS) y verifica que funciona:</a:t>
            </a:r>
          </a:p>
          <a:p>
            <a:pPr>
              <a:spcAft>
                <a:spcPts val="600"/>
              </a:spcAft>
            </a:pPr>
            <a:r>
              <a:rPr sz="1500">
                <a:solidFill>
                  <a:srgbClr val="22282E"/>
                </a:solidFill>
              </a:rPr>
              <a:t>•  Comprueba también que tienes Compose disponible con docker compose version. Trabaja siempre dentro de tu VM de laboratorio o de una red aislada para no exponer contenedores vulnerables. Las imágenes…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Laboratorio guiado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Primer contenedor. Lanza un servidor web y comprueba que responde:</a:t>
            </a:r>
          </a:p>
          <a:p>
            <a:pPr>
              <a:spcAft>
                <a:spcPts val="600"/>
              </a:spcAft>
            </a:pPr>
            <a:r>
              <a:rPr sz="1500">
                <a:solidFill>
                  <a:srgbClr val="22282E"/>
                </a:solidFill>
              </a:rPr>
              <a:t>•  Inspeccionar y entrar. Mira los logs y abre una shell dentro del contenedor:</a:t>
            </a:r>
          </a:p>
          <a:p>
            <a:pPr>
              <a:spcAft>
                <a:spcPts val="600"/>
              </a:spcAft>
            </a:pPr>
            <a:r>
              <a:rPr sz="1500">
                <a:solidFill>
                  <a:srgbClr val="22282E"/>
                </a:solidFill>
              </a:rPr>
              <a:t>•  Desplegar un lab vulnerable (solo en red aislada):</a:t>
            </a:r>
          </a:p>
          <a:p>
            <a:pPr>
              <a:spcAft>
                <a:spcPts val="600"/>
              </a:spcAft>
            </a:pPr>
            <a:r>
              <a:rPr sz="1500">
                <a:solidFill>
                  <a:srgbClr val="22282E"/>
                </a:solidFill>
              </a:rPr>
              <a:t>•  Abre http://localhost:3000 desde la propia VM y no desde otra máquina.</a:t>
            </a:r>
          </a:p>
          <a:p>
            <a:pPr>
              <a:spcAft>
                <a:spcPts val="600"/>
              </a:spcAft>
            </a:pPr>
            <a:r>
              <a:rPr sz="1500">
                <a:solidFill>
                  <a:srgbClr val="22282E"/>
                </a:solidFill>
              </a:rPr>
              <a:t>•  Construir una imagen propia. Crea un Dockerfile que empaquete una herramienta Python tuya (por ejemplo pyscan.py):</a:t>
            </a:r>
          </a:p>
          <a:p>
            <a:pPr>
              <a:spcAft>
                <a:spcPts val="600"/>
              </a:spcAft>
            </a:pPr>
            <a:r>
              <a:rPr sz="1500">
                <a:solidFill>
                  <a:srgbClr val="22282E"/>
                </a:solidFill>
              </a:rPr>
              <a:t>•  Compose multi-servicio. Escribe un compose.yml que levante DVWA junto a su base de datos MySQL en una red interna y arráncalo con docker compose up -d. Verifica que la app resuelve la base de datos…</a:t>
            </a:r>
          </a:p>
          <a:p>
            <a:pPr>
              <a:spcAft>
                <a:spcPts val="600"/>
              </a:spcAft>
            </a:pPr>
            <a:r>
              <a:rPr sz="1500">
                <a:solidFill>
                  <a:srgbClr val="22282E"/>
                </a:solidFill>
              </a:rPr>
              <a:t>•  Limpieza. Detén y elimina todo lo creado; interioriza que un contenedor es efímero: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Ejercicios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Explica con una analogía la diferencia entre una imagen y un contenedor, y qué significa que un contenedor sea "efímero".</a:t>
            </a:r>
          </a:p>
          <a:p>
            <a:pPr>
              <a:spcAft>
                <a:spcPts val="600"/>
              </a:spcAft>
            </a:pPr>
            <a:r>
              <a:rPr sz="1500">
                <a:solidFill>
                  <a:srgbClr val="22282E"/>
                </a:solidFill>
              </a:rPr>
              <a:t>•  Monta un volumen para que los datos de un contenedor de base de datos persistan tras recrearlo, y demuéstralo.</a:t>
            </a:r>
          </a:p>
          <a:p>
            <a:pPr>
              <a:spcAft>
                <a:spcPts val="600"/>
              </a:spcAft>
            </a:pPr>
            <a:r>
              <a:rPr sz="1500">
                <a:solidFill>
                  <a:srgbClr val="22282E"/>
                </a:solidFill>
              </a:rPr>
              <a:t>•  Escribe un Dockerfile mínimo que empaquete una de tus herramientas Python usando una imagen base slim y un usuario no root.</a:t>
            </a:r>
          </a:p>
          <a:p>
            <a:pPr>
              <a:spcAft>
                <a:spcPts val="600"/>
              </a:spcAft>
            </a:pPr>
            <a:r>
              <a:rPr sz="1500">
                <a:solidFill>
                  <a:srgbClr val="22282E"/>
                </a:solidFill>
              </a:rPr>
              <a:t>•  Crea una red Docker interna y conecta dos contenedores que se comuniquen entre sí por su nombre de servicio.</a:t>
            </a:r>
          </a:p>
          <a:p>
            <a:pPr>
              <a:spcAft>
                <a:spcPts val="600"/>
              </a:spcAft>
            </a:pPr>
            <a:r>
              <a:rPr sz="1500">
                <a:solidFill>
                  <a:srgbClr val="22282E"/>
                </a:solidFill>
              </a:rPr>
              <a:t>•  Compara el aislamiento de un contenedor frente al de una VM: indica qué comparte cada uno con el host y qué implica para la seguridad.</a:t>
            </a:r>
          </a:p>
          <a:p>
            <a:pPr>
              <a:spcAft>
                <a:spcPts val="600"/>
              </a:spcAft>
            </a:pPr>
            <a:r>
              <a:rPr sz="1500">
                <a:solidFill>
                  <a:srgbClr val="22282E"/>
                </a:solidFill>
              </a:rPr>
              <a:t>•  Investiga y describe tres buenas prácticas de seguridad de imágenes (usuario no root, imagen mínima, escaneo de CVEs) y por qué reducen el riesgo.</a:t>
            </a:r>
          </a:p>
          <a:p>
            <a:pPr>
              <a:spcAft>
                <a:spcPts val="600"/>
              </a:spcAft>
            </a:pPr>
            <a:r>
              <a:rPr sz="1500">
                <a:solidFill>
                  <a:srgbClr val="22282E"/>
                </a:solidFill>
              </a:rPr>
              <a:t>•  Ejecuta un escaneo de vulnerabilidades con Trivy o Grype sobre una imagen pública y comenta los hallazgos más graves.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Reto verificable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Crea con Docker Compose un laboratorio web vulnerable reproducible (por ejemplo DVWA con su base de datos) que se levante con un solo comando en tu red aislada, más un contenedor "atacante" con tus…</a:t>
            </a:r>
          </a:p>
          <a:p>
            <a:pPr>
              <a:spcAft>
                <a:spcPts val="600"/>
              </a:spcAft>
            </a:pPr>
            <a:r>
              <a:rPr sz="1500">
                <a:solidFill>
                  <a:srgbClr val="22282E"/>
                </a:solidFill>
              </a:rPr>
              <a:t>•  Criterio de aceptación: docker compose up -d levanta la aplicación vulnerable accesible solo desde la VM (no desde el exterior); el contenedor atacante alcanza a la víctima a través de la red interna…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Errores comunes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permission denied al usar docker — Tu usuario no está en el grupo docker. Añádelo (y reinicia sesión) o usa sudo.</a:t>
            </a:r>
          </a:p>
          <a:p>
            <a:pPr>
              <a:spcAft>
                <a:spcPts val="600"/>
              </a:spcAft>
            </a:pPr>
            <a:r>
              <a:rPr sz="1500">
                <a:solidFill>
                  <a:srgbClr val="22282E"/>
                </a:solidFill>
              </a:rPr>
              <a:t>•  El puerto ya está en uso — Otro proceso ocupa el puerto del host. Cambia el mapeo -p a un puerto libre.</a:t>
            </a:r>
          </a:p>
          <a:p>
            <a:pPr>
              <a:spcAft>
                <a:spcPts val="600"/>
              </a:spcAft>
            </a:pPr>
            <a:r>
              <a:rPr sz="1500">
                <a:solidFill>
                  <a:srgbClr val="22282E"/>
                </a:solidFill>
              </a:rPr>
              <a:t>•  Los datos desaparecen al recrear — No usaste un volumen. Monta uno para persistir los datos que deban sobrevivir.</a:t>
            </a:r>
          </a:p>
          <a:p>
            <a:pPr>
              <a:spcAft>
                <a:spcPts val="600"/>
              </a:spcAft>
            </a:pPr>
            <a:r>
              <a:rPr sz="1500">
                <a:solidFill>
                  <a:srgbClr val="22282E"/>
                </a:solidFill>
              </a:rPr>
              <a:t>•  Lab vulnerable accesible desde fuera — Publicaste a 0.0.0.0 en una red no aislada. Restringe a 127.0.0.1 o a la red interna.</a:t>
            </a:r>
          </a:p>
          <a:p>
            <a:pPr>
              <a:spcAft>
                <a:spcPts val="600"/>
              </a:spcAft>
            </a:pPr>
            <a:r>
              <a:rPr sz="1500">
                <a:solidFill>
                  <a:srgbClr val="22282E"/>
                </a:solidFill>
              </a:rPr>
              <a:t>•  Imagen enorme o build lento — Base pesada y capas mal ordenadas. Usa imágenes slim/alpine y aprovecha la caché de capas.</a:t>
            </a:r>
          </a:p>
          <a:p>
            <a:pPr>
              <a:spcAft>
                <a:spcPts val="600"/>
              </a:spcAft>
            </a:pPr>
            <a:r>
              <a:rPr sz="1500">
                <a:solidFill>
                  <a:srgbClr val="22282E"/>
                </a:solidFill>
              </a:rPr>
              <a:t>•  El contenedor termina al instante — El proceso principal terminó (no había servicio en primer plano). Revisa el ENTRYPOINT/CMD.</a:t>
            </a:r>
          </a:p>
          <a:p>
            <a:pPr>
              <a:spcAft>
                <a:spcPts val="600"/>
              </a:spcAft>
            </a:pPr>
            <a:r>
              <a:rPr sz="1500">
                <a:solidFill>
                  <a:srgbClr val="22282E"/>
                </a:solidFill>
              </a:rPr>
              <a:t>•  Cambios en el Dockerfile no se reflejan — La caché sirvió una capa antigua. Reconstruye con --no-cache o cambia la línea que corresponda.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Preguntas frecuentes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 ¿Un contenedor es tan seguro como una VM? No. Comparte el kernel del host, por lo que su aislamiento es más débil: un exploit de escape que abuse del kernel puede saltar del contenedor al host.…</a:t>
            </a:r>
          </a:p>
          <a:p>
            <a:pPr>
              <a:spcAft>
                <a:spcPts val="600"/>
              </a:spcAft>
            </a:pPr>
            <a:r>
              <a:rPr sz="1500">
                <a:solidFill>
                  <a:srgbClr val="22282E"/>
                </a:solidFill>
              </a:rPr>
              <a:t>•  ❓ ¿Por qué usar Docker para labs si ya tengo VMs? Por rapidez y reproducibilidad. Levantas y destruyes entornos en segundos y compartes un compose.yml que cualquiera reproduce idéntico. Los…</a:t>
            </a:r>
          </a:p>
          <a:p>
            <a:pPr>
              <a:spcAft>
                <a:spcPts val="600"/>
              </a:spcAft>
            </a:pPr>
            <a:r>
              <a:rPr sz="1500">
                <a:solidFill>
                  <a:srgbClr val="22282E"/>
                </a:solidFill>
              </a:rPr>
              <a:t>•  ❓ ¿Debo actualizar y escanear mis imágenes? Sí. Las imágenes empaquetan dependencias que acumulan CVEs con el tiempo. Escanéalas con Trivy o Grype, parte de bases mínimas y actualizadas, y…</a:t>
            </a:r>
          </a:p>
          <a:p>
            <a:pPr>
              <a:spcAft>
                <a:spcPts val="600"/>
              </a:spcAft>
            </a:pPr>
            <a:r>
              <a:rPr sz="1500">
                <a:solidFill>
                  <a:srgbClr val="22282E"/>
                </a:solidFill>
              </a:rPr>
              <a:t>•  ❓ ¿Ejecutar un contenedor como root es peligroso? Sí. Si el contenedor se compromete, el proceso corre como root dentro de él y un eventual escape sería mucho más dañino. Define un usuario no…</a:t>
            </a:r>
          </a:p>
          <a:p>
            <a:pPr>
              <a:spcAft>
                <a:spcPts val="600"/>
              </a:spcAft>
            </a:pPr>
            <a:r>
              <a:rPr sz="1500">
                <a:solidFill>
                  <a:srgbClr val="22282E"/>
                </a:solidFill>
              </a:rPr>
              <a:t>•  ❓ ¿Puedo confiar en cualquier imagen de Docker Hub? No a ciegas. Prefiere imágenes oficiales o de editores verificados, revisa el Dockerfile cuando esté disponible y escanea antes de usar. Una imagen…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Referencias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Docker Documentation — &lt;https://docs.docker.com/&gt;</a:t>
            </a:r>
          </a:p>
          <a:p>
            <a:pPr>
              <a:spcAft>
                <a:spcPts val="600"/>
              </a:spcAft>
            </a:pPr>
            <a:r>
              <a:rPr sz="1500">
                <a:solidFill>
                  <a:srgbClr val="22282E"/>
                </a:solidFill>
              </a:rPr>
              <a:t>•  NIST SP 800-190, Application Container Security Guide — &lt;https://csrc.nist.gov/pubs/sp/800/190/final&gt;</a:t>
            </a:r>
          </a:p>
          <a:p>
            <a:pPr>
              <a:spcAft>
                <a:spcPts val="600"/>
              </a:spcAft>
            </a:pPr>
            <a:r>
              <a:rPr sz="1500">
                <a:solidFill>
                  <a:srgbClr val="22282E"/>
                </a:solidFill>
              </a:rPr>
              <a:t>•  OWASP Juice Shop — &lt;https://owasp.org/www-project-juice-shop/&gt;</a:t>
            </a:r>
          </a:p>
          <a:p>
            <a:pPr>
              <a:spcAft>
                <a:spcPts val="600"/>
              </a:spcAft>
            </a:pPr>
            <a:r>
              <a:rPr sz="1500">
                <a:solidFill>
                  <a:srgbClr val="22282E"/>
                </a:solidFill>
              </a:rPr>
              <a:t>•  OWASP Docker Security Cheat Sheet — &lt;https://cheatsheetseries.owasp.org/cheatsheets/DockerSecurityCheatSheet.html&gt;</a:t>
            </a:r>
          </a:p>
          <a:p>
            <a:pPr>
              <a:spcAft>
                <a:spcPts val="600"/>
              </a:spcAft>
            </a:pPr>
            <a:r>
              <a:rPr sz="1500">
                <a:solidFill>
                  <a:srgbClr val="22282E"/>
                </a:solidFill>
              </a:rPr>
              <a:t>•  CIS Docker Benchmark — &lt;https://www.cisecurity.org/benchmark/docker&gt;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a:spAutoFit/>
          </a:bodyPr>
          <a:lstStyle/>
          <a:p>
            <a:r>
              <a:rPr sz="2200" b="1">
                <a:solidFill>
                  <a:srgbClr val="0B3D2E"/>
                </a:solidFill>
              </a:rPr>
              <a:t>Diagrama 1</a:t>
            </a:r>
          </a:p>
        </p:txBody>
      </p:sp>
      <p:pic>
        <p:nvPicPr>
          <p:cNvPr id="3" name="Picture 2" descr="16701592935eb5c7.png"/>
          <p:cNvPicPr>
            <a:picLocks noChangeAspect="1"/>
          </p:cNvPicPr>
          <p:nvPr/>
        </p:nvPicPr>
        <p:blipFill>
          <a:blip r:embed="rId2"/>
          <a:stretch>
            <a:fillRect/>
          </a:stretch>
        </p:blipFill>
        <p:spPr>
          <a:xfrm>
            <a:off x="2575948" y="1097280"/>
            <a:ext cx="3992104" cy="53035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a:spAutoFit/>
          </a:bodyPr>
          <a:lstStyle/>
          <a:p>
            <a:r>
              <a:rPr sz="2200" b="1">
                <a:solidFill>
                  <a:srgbClr val="0B3D2E"/>
                </a:solidFill>
              </a:rPr>
              <a:t>Diagrama 2</a:t>
            </a:r>
          </a:p>
        </p:txBody>
      </p:sp>
      <p:pic>
        <p:nvPicPr>
          <p:cNvPr id="3" name="Picture 2" descr="7251c66129d596c5.png"/>
          <p:cNvPicPr>
            <a:picLocks noChangeAspect="1"/>
          </p:cNvPicPr>
          <p:nvPr/>
        </p:nvPicPr>
        <p:blipFill>
          <a:blip r:embed="rId2"/>
          <a:stretch>
            <a:fillRect/>
          </a:stretch>
        </p:blipFill>
        <p:spPr>
          <a:xfrm>
            <a:off x="457200" y="3177540"/>
            <a:ext cx="8229600" cy="1143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