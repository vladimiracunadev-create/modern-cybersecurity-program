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007 — Bash scripting para tareas de seguridad</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Pasar de teclear comandos sueltos a construir scripts de Bash robustos que automaticen tareas repetitivas de seguridad: barridos de red, parsing de resultados de herramientas, comprobaciones 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Estructurar un script con shebang, variables, funciones y una organización legible.</a:t>
            </a:r>
          </a:p>
          <a:p>
            <a:pPr>
              <a:spcAft>
                <a:spcPts val="600"/>
              </a:spcAft>
            </a:pPr>
            <a:r>
              <a:rPr sz="1500">
                <a:solidFill>
                  <a:srgbClr val="22282E"/>
                </a:solidFill>
              </a:rPr>
              <a:t>•  Usar condicionales [[ ]], bucles for/while y case para lógica de control.</a:t>
            </a:r>
          </a:p>
          <a:p>
            <a:pPr>
              <a:spcAft>
                <a:spcPts val="600"/>
              </a:spcAft>
            </a:pPr>
            <a:r>
              <a:rPr sz="1500">
                <a:solidFill>
                  <a:srgbClr val="22282E"/>
                </a:solidFill>
              </a:rPr>
              <a:t>•  Manejar argumentos con getopts, entrada del usuario y códigos de salida.</a:t>
            </a:r>
          </a:p>
          <a:p>
            <a:pPr>
              <a:spcAft>
                <a:spcPts val="600"/>
              </a:spcAft>
            </a:pPr>
            <a:r>
              <a:rPr sz="1500">
                <a:solidFill>
                  <a:srgbClr val="22282E"/>
                </a:solidFill>
              </a:rPr>
              <a:t>•  Aplicar buenas prácticas de robustez (set -euo pipefail, comillas, trap).</a:t>
            </a:r>
          </a:p>
          <a:p>
            <a:pPr>
              <a:spcAft>
                <a:spcPts val="600"/>
              </a:spcAft>
            </a:pPr>
            <a:r>
              <a:rPr sz="1500">
                <a:solidFill>
                  <a:srgbClr val="22282E"/>
                </a:solidFill>
              </a:rPr>
              <a:t>•  Automatizar una tarea real de seguridad de principio a fin, con informe reproducible.</a:t>
            </a:r>
          </a:p>
          <a:p>
            <a:pPr>
              <a:spcAft>
                <a:spcPts val="600"/>
              </a:spcAft>
            </a:pPr>
            <a:r>
              <a:rPr sz="1500">
                <a:solidFill>
                  <a:srgbClr val="22282E"/>
                </a:solidFill>
              </a:rPr>
              <a:t>•  Validar el código con ShellCheck y corregir los avisos antes de darlo por terminado.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Shebang y ejecución</a:t>
            </a:r>
          </a:p>
          <a:p>
            <a:pPr>
              <a:spcAft>
                <a:spcPts val="600"/>
              </a:spcAft>
            </a:pPr>
            <a:r>
              <a:rPr sz="1500">
                <a:solidFill>
                  <a:srgbClr val="22282E"/>
                </a:solidFill>
              </a:rPr>
              <a:t>•  2 — Variables y expansión</a:t>
            </a:r>
          </a:p>
          <a:p>
            <a:pPr>
              <a:spcAft>
                <a:spcPts val="600"/>
              </a:spcAft>
            </a:pPr>
            <a:r>
              <a:rPr sz="1500">
                <a:solidFill>
                  <a:srgbClr val="22282E"/>
                </a:solidFill>
              </a:rPr>
              <a:t>•  3 — Condicionales [[ ]]</a:t>
            </a:r>
          </a:p>
          <a:p>
            <a:pPr>
              <a:spcAft>
                <a:spcPts val="600"/>
              </a:spcAft>
            </a:pPr>
            <a:r>
              <a:rPr sz="1500">
                <a:solidFill>
                  <a:srgbClr val="22282E"/>
                </a:solidFill>
              </a:rPr>
              <a:t>•  4 — Bucles for/while</a:t>
            </a:r>
          </a:p>
          <a:p>
            <a:pPr>
              <a:spcAft>
                <a:spcPts val="600"/>
              </a:spcAft>
            </a:pPr>
            <a:r>
              <a:rPr sz="1500">
                <a:solidFill>
                  <a:srgbClr val="22282E"/>
                </a:solidFill>
              </a:rPr>
              <a:t>•  5 — Funciones</a:t>
            </a:r>
          </a:p>
          <a:p>
            <a:pPr>
              <a:spcAft>
                <a:spcPts val="600"/>
              </a:spcAft>
            </a:pPr>
            <a:r>
              <a:rPr sz="1500">
                <a:solidFill>
                  <a:srgbClr val="22282E"/>
                </a:solidFill>
              </a:rPr>
              <a:t>•  6 — Argumentos y getopts</a:t>
            </a:r>
          </a:p>
          <a:p>
            <a:pPr>
              <a:spcAft>
                <a:spcPts val="600"/>
              </a:spcAft>
            </a:pPr>
            <a:r>
              <a:rPr sz="1500">
                <a:solidFill>
                  <a:srgbClr val="22282E"/>
                </a:solidFill>
              </a:rPr>
              <a:t>•  7 — Robustez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script no es más que un archivo de texto con comandos que la shell ejecuta en orden. Lo que convierte ese texto en un programa ejecutable es la primera línea, el shebang: #!/usr/bin/env bash.…</a:t>
            </a:r>
          </a:p>
          <a:p>
            <a:pPr>
              <a:spcAft>
                <a:spcPts val="600"/>
              </a:spcAft>
            </a:pPr>
            <a:r>
              <a:rPr sz="1500">
                <a:solidFill>
                  <a:srgbClr val="22282E"/>
                </a:solidFill>
              </a:rPr>
              <a:t>•  En Bash las variables se asignan sin espacios alrededor del = (red="10.10.10") y se expanden con $red o, de forma más segura, ${red}. La sustitución de comandos $(comando) captura la salida de un…</a:t>
            </a:r>
          </a:p>
          <a:p>
            <a:pPr>
              <a:spcAft>
                <a:spcPts val="600"/>
              </a:spcAft>
            </a:pPr>
            <a:r>
              <a:rPr sz="1500">
                <a:solidFill>
                  <a:srgbClr val="22282E"/>
                </a:solidFill>
              </a:rPr>
              <a:t>•  Aquí está la lección más importante de toda la clase: entrecomilla siempre tus variables. Escribir "$var" en lugar de $var evita el word splitting (que Bash parta el valor por espacios) y el globbing…</a:t>
            </a:r>
          </a:p>
          <a:p>
            <a:pPr>
              <a:spcAft>
                <a:spcPts val="600"/>
              </a:spcAft>
            </a:pPr>
            <a:r>
              <a:rPr sz="1500">
                <a:solidFill>
                  <a:srgbClr val="22282E"/>
                </a:solidFill>
              </a:rPr>
              <a:t>•  Bash toma decisiones con [[ condición ]], la forma moderna y segura de test (más robusta que el antiguo [ ] porque no sufre word splitting dentro de los corchetes y admite operadores como =~ para…</a:t>
            </a:r>
          </a:p>
          <a:p>
            <a:pPr>
              <a:spcAft>
                <a:spcPts val="600"/>
              </a:spcAft>
            </a:pPr>
            <a:r>
              <a:rPr sz="1500">
                <a:solidFill>
                  <a:srgbClr val="22282E"/>
                </a:solidFill>
              </a:rPr>
              <a:t>•  Por defecto, Bash es peligrosamente permisivo: si un comando falla, el script sigue adelante como si nada; si usas una variable inexistente, la trata como cadena vacía; y en una tubería solo importa…</a:t>
            </a:r>
          </a:p>
          <a:p>
            <a:pPr>
              <a:spcAft>
                <a:spcPts val="600"/>
              </a:spcAft>
            </a:pPr>
            <a:r>
              <a:rPr sz="1500">
                <a:solidFill>
                  <a:srgbClr val="22282E"/>
                </a:solidFill>
              </a:rPr>
              <a:t>•  La otra herramienta de robustez es trap, que captura señales y eventos para ejecutar código de limpieza. trap 'rm -f "$tmp"' EXIT garantiza que el archivo temporal se borre al salir del script, tanto…</a:t>
            </a:r>
          </a:p>
          <a:p>
            <a:pPr>
              <a:spcAft>
                <a:spcPts val="600"/>
              </a:spcAft>
            </a:pPr>
            <a:r>
              <a:rPr sz="1500">
                <a:solidFill>
                  <a:srgbClr val="22282E"/>
                </a:solidFill>
              </a:rPr>
              <a:t>•  Todo comando devuelve al terminar un código de salida: un entero de 0 a 255 donde 0 significa éxito y cualquier otro valor indica un tipo de fallo. La variable especial $? contiene el del último…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Shebang (#!/usr/bin/env bash): primera línea que le dice al kernel qué intérprete usar. Con env el script es portable entre distribuciones donde bash esté en rutas distintas. Sin shebang y sin…</a:t>
            </a:r>
          </a:p>
          <a:p>
            <a:pPr>
              <a:spcAft>
                <a:spcPts val="600"/>
              </a:spcAft>
            </a:pPr>
            <a:r>
              <a:rPr sz="1500">
                <a:solidFill>
                  <a:srgbClr val="22282E"/>
                </a:solidFill>
              </a:rPr>
              <a:t>•  Sustitución de comandos ($(...)): captura la salida estándar de un comando en una cadena. Se anida sin problemas y se lee mejor que las backticks, que están desaconsejadas. Es como los scripts…</a:t>
            </a:r>
          </a:p>
          <a:p>
            <a:pPr>
              <a:spcAft>
                <a:spcPts val="600"/>
              </a:spcAft>
            </a:pPr>
            <a:r>
              <a:rPr sz="1500">
                <a:solidFill>
                  <a:srgbClr val="22282E"/>
                </a:solidFill>
              </a:rPr>
              <a:t>•  Expansión de parámetro (${x:-}, ${x:?}): mecanismos para dar valores por defecto o exigir que una variable exista. ${x:?mensaje} aborta con el mensaje si falta, perfecto para validar argumentos…</a:t>
            </a:r>
          </a:p>
          <a:p>
            <a:pPr>
              <a:spcAft>
                <a:spcPts val="600"/>
              </a:spcAft>
            </a:pPr>
            <a:r>
              <a:rPr sz="1500">
                <a:solidFill>
                  <a:srgbClr val="22282E"/>
                </a:solidFill>
              </a:rPr>
              <a:t>•  set -euo pipefail: el "modo estricto". -e aborta ante errores, -u ante variables no definidas y pipefail ante fallos en cualquier etapa de una tubería. Convierte scripts silenciosamente rotos en…</a:t>
            </a:r>
          </a:p>
          <a:p>
            <a:pPr>
              <a:spcAft>
                <a:spcPts val="600"/>
              </a:spcAft>
            </a:pPr>
            <a:r>
              <a:rPr sz="1500">
                <a:solidFill>
                  <a:srgbClr val="22282E"/>
                </a:solidFill>
              </a:rPr>
              <a:t>•  Quoting: entrecomillar variables ("$var", "$@") evita word splitting y globbing. Es la causa número uno de bugs y de inyección en Bash. Regla simple: en la duda, pon comillas dobles.</a:t>
            </a:r>
          </a:p>
          <a:p>
            <a:pPr>
              <a:spcAft>
                <a:spcPts val="600"/>
              </a:spcAft>
            </a:pPr>
            <a:r>
              <a:rPr sz="1500">
                <a:solidFill>
                  <a:srgbClr val="22282E"/>
                </a:solidFill>
              </a:rPr>
              <a:t>•  [[ ]]: la forma moderna de evaluar condiciones, más segura que [ ] porque no sufre word splitting y admite =~ para comparar contra regex. Usarla previene el clásico error unary operator expected.</a:t>
            </a:r>
          </a:p>
          <a:p>
            <a:pPr>
              <a:spcAft>
                <a:spcPts val="600"/>
              </a:spcAft>
            </a:pPr>
            <a:r>
              <a:rPr sz="1500">
                <a:solidFill>
                  <a:srgbClr val="22282E"/>
                </a:solidFill>
              </a:rPr>
              <a:t>•  Función: bloque de código reutilizable con nombre que recibe argumentos posicionales. Declarar variables con local evita efectos colaterales. Refactorizar a funciones reduce la duplicación y 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concisa</a:t>
            </a:r>
          </a:p>
          <a:p>
            <a:pPr>
              <a:spcAft>
                <a:spcPts val="600"/>
              </a:spcAft>
            </a:pPr>
            <a:r>
              <a:rPr sz="1500">
                <a:solidFill>
                  <a:srgbClr val="22282E"/>
                </a:solidFill>
              </a:rPr>
              <a:t>•  Shebang — Línea #! inicial que fija el intérprete del script</a:t>
            </a:r>
          </a:p>
          <a:p>
            <a:pPr>
              <a:spcAft>
                <a:spcPts val="600"/>
              </a:spcAft>
            </a:pPr>
            <a:r>
              <a:rPr sz="1500">
                <a:solidFill>
                  <a:srgbClr val="22282E"/>
                </a:solidFill>
              </a:rPr>
              <a:t>•  PATH — Lista de directorios donde la shell busca ejecutables</a:t>
            </a:r>
          </a:p>
          <a:p>
            <a:pPr>
              <a:spcAft>
                <a:spcPts val="600"/>
              </a:spcAft>
            </a:pPr>
            <a:r>
              <a:rPr sz="1500">
                <a:solidFill>
                  <a:srgbClr val="22282E"/>
                </a:solidFill>
              </a:rPr>
              <a:t>•  Word splitting — Partición de un valor no entrecomillado por espacios</a:t>
            </a:r>
          </a:p>
          <a:p>
            <a:pPr>
              <a:spcAft>
                <a:spcPts val="600"/>
              </a:spcAft>
            </a:pPr>
            <a:r>
              <a:rPr sz="1500">
                <a:solidFill>
                  <a:srgbClr val="22282E"/>
                </a:solidFill>
              </a:rPr>
              <a:t>•  Globbing — Expansión de comodines (, ?) a nombres de archivo</a:t>
            </a:r>
          </a:p>
          <a:p>
            <a:pPr>
              <a:spcAft>
                <a:spcPts val="600"/>
              </a:spcAft>
            </a:pPr>
            <a:r>
              <a:rPr sz="1500">
                <a:solidFill>
                  <a:srgbClr val="22282E"/>
                </a:solidFill>
              </a:rPr>
              <a:t>•  $(...) — Sustitución de comandos (captura su salida)</a:t>
            </a:r>
          </a:p>
          <a:p>
            <a:pPr>
              <a:spcAft>
                <a:spcPts val="600"/>
              </a:spcAft>
            </a:pPr>
            <a:r>
              <a:rPr sz="1500">
                <a:solidFill>
                  <a:srgbClr val="22282E"/>
                </a:solidFill>
              </a:rPr>
              <a:t>•  set -e — Aborta el script si un comando falla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Necesitas Bash (ya presente en Linux y Kali), un editor cómodo (nano, vim o VS Code con la extensión de Bash) y ShellCheck para el análisis estático:</a:t>
            </a:r>
          </a:p>
          <a:p>
            <a:pPr>
              <a:spcAft>
                <a:spcPts val="600"/>
              </a:spcAft>
            </a:pPr>
            <a:r>
              <a:rPr sz="1500">
                <a:solidFill>
                  <a:srgbClr val="22282E"/>
                </a:solidFill>
              </a:rPr>
              <a:t>•  Ten a mano las utilidades que orquestarás en las prácticas: ping, nc (netcat) y nmap si está instalado. Considera también integrar ShellCheck en tu editor para ver los avisos mientras escribes.…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Esqueleto robusto. Crea barrido.sh con modo estricto y validación de argumento:</a:t>
            </a:r>
          </a:p>
          <a:p>
            <a:pPr>
              <a:spcAft>
                <a:spcPts val="600"/>
              </a:spcAft>
            </a:pPr>
            <a:r>
              <a:rPr sz="1500">
                <a:solidFill>
                  <a:srgbClr val="22282E"/>
                </a:solidFill>
              </a:rPr>
              <a:t>•  Bucle de descubrimiento (ping sweep) sobre tu red interna:</a:t>
            </a:r>
          </a:p>
          <a:p>
            <a:pPr>
              <a:spcAft>
                <a:spcPts val="600"/>
              </a:spcAft>
            </a:pPr>
            <a:r>
              <a:rPr sz="1500">
                <a:solidFill>
                  <a:srgbClr val="22282E"/>
                </a:solidFill>
              </a:rPr>
              <a:t>•  Ejecuta contra tu subred de laboratorio:</a:t>
            </a:r>
          </a:p>
          <a:p>
            <a:pPr>
              <a:spcAft>
                <a:spcPts val="600"/>
              </a:spcAft>
            </a:pPr>
            <a:r>
              <a:rPr sz="1500">
                <a:solidFill>
                  <a:srgbClr val="22282E"/>
                </a:solidFill>
              </a:rPr>
              <a:t>•  Refactor a función. Extrae la comprobación a una función estaactivo() que reciba la IP y devuelva su código de salida, y llámala desde el bucle.</a:t>
            </a:r>
          </a:p>
          <a:p>
            <a:pPr>
              <a:spcAft>
                <a:spcPts val="600"/>
              </a:spcAft>
            </a:pPr>
            <a:r>
              <a:rPr sz="1500">
                <a:solidFill>
                  <a:srgbClr val="22282E"/>
                </a:solidFill>
              </a:rPr>
              <a:t>•  Guardar resultados con marca de tiempo:</a:t>
            </a:r>
          </a:p>
          <a:p>
            <a:pPr>
              <a:spcAft>
                <a:spcPts val="600"/>
              </a:spcAft>
            </a:pPr>
            <a:r>
              <a:rPr sz="1500">
                <a:solidFill>
                  <a:srgbClr val="22282E"/>
                </a:solidFill>
              </a:rPr>
              <a:t>•  y anexa los hallazgos con &gt;&gt; "$out".</a:t>
            </a:r>
          </a:p>
          <a:p>
            <a:pPr>
              <a:spcAft>
                <a:spcPts val="600"/>
              </a:spcAft>
            </a:pPr>
            <a:r>
              <a:rPr sz="1500">
                <a:solidFill>
                  <a:srgbClr val="22282E"/>
                </a:solidFill>
              </a:rPr>
              <a:t>•  Chequeo de hardening. Un script que verifique si SSH permite login de root: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Añade a barrido.sh la opción -p PUERTO con getopts para probar un puerto TCP con nc -z.</a:t>
            </a:r>
          </a:p>
          <a:p>
            <a:pPr>
              <a:spcAft>
                <a:spcPts val="600"/>
              </a:spcAft>
            </a:pPr>
            <a:r>
              <a:rPr sz="1500">
                <a:solidFill>
                  <a:srgbClr val="22282E"/>
                </a:solidFill>
              </a:rPr>
              <a:t>•  Escribe un script que reciba una lista de hosts desde un archivo y los recorra con while read.</a:t>
            </a:r>
          </a:p>
          <a:p>
            <a:pPr>
              <a:spcAft>
                <a:spcPts val="600"/>
              </a:spcAft>
            </a:pPr>
            <a:r>
              <a:rPr sz="1500">
                <a:solidFill>
                  <a:srgbClr val="22282E"/>
                </a:solidFill>
              </a:rPr>
              <a:t>•  Implementa manejo de errores: si falta nmap, avisa por stderr y termina con un código distinto de 0.</a:t>
            </a:r>
          </a:p>
          <a:p>
            <a:pPr>
              <a:spcAft>
                <a:spcPts val="600"/>
              </a:spcAft>
            </a:pPr>
            <a:r>
              <a:rPr sz="1500">
                <a:solidFill>
                  <a:srgbClr val="22282E"/>
                </a:solidFill>
              </a:rPr>
              <a:t>•  Crea una función esipvalida() que valide que el argumento es una IPv4 bien formada.</a:t>
            </a:r>
          </a:p>
          <a:p>
            <a:pPr>
              <a:spcAft>
                <a:spcPts val="600"/>
              </a:spcAft>
            </a:pPr>
            <a:r>
              <a:rPr sz="1500">
                <a:solidFill>
                  <a:srgbClr val="22282E"/>
                </a:solidFill>
              </a:rPr>
              <a:t>•  Usa trap para borrar un archivo temporal al salir, comprobando que también funciona con Ctrl+C.</a:t>
            </a:r>
          </a:p>
          <a:p>
            <a:pPr>
              <a:spcAft>
                <a:spcPts val="600"/>
              </a:spcAft>
            </a:pPr>
            <a:r>
              <a:rPr sz="1500">
                <a:solidFill>
                  <a:srgbClr val="22282E"/>
                </a:solidFill>
              </a:rPr>
              <a:t>•  Escribe un mini auditor que revise 3 controles de hardening y devuelva un resumen con conteo de OK/FALLO.</a:t>
            </a:r>
          </a:p>
          <a:p>
            <a:pPr>
              <a:spcAft>
                <a:spcPts val="600"/>
              </a:spcAft>
            </a:pPr>
            <a:r>
              <a:rPr sz="1500">
                <a:solidFill>
                  <a:srgbClr val="22282E"/>
                </a:solidFill>
              </a:rPr>
              <a:t>•  Modifica un script para que devuelva códigos de salida distintos según el tipo de fallo, y documéntalos.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script auditor.sh parametrizable que reciba una subred, descubra hosts activos, para cada uno compruebe si tiene el puerto 22 o 80 abierto, y genere un informe con marca de tiempo. Debe…</a:t>
            </a:r>
          </a:p>
          <a:p>
            <a:pPr>
              <a:spcAft>
                <a:spcPts val="600"/>
              </a:spcAft>
            </a:pPr>
            <a:r>
              <a:rPr sz="1500">
                <a:solidFill>
                  <a:srgbClr val="22282E"/>
                </a:solidFill>
              </a:rPr>
              <a:t>•  Criterio de aceptación: shellcheck auditor.sh no reporta problemas; ejecutado contra tu laboratorio produce un archivo de informe legible con hosts y puertos; y ante un argumento inválido termina con…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unbound variable — Variable usada sin definir con set -u activo. Dale valor por defecto (${x:-}) o defínela antes.</a:t>
            </a:r>
          </a:p>
          <a:p>
            <a:pPr>
              <a:spcAft>
                <a:spcPts val="600"/>
              </a:spcAft>
            </a:pPr>
            <a:r>
              <a:rPr sz="1500">
                <a:solidFill>
                  <a:srgbClr val="22282E"/>
                </a:solidFill>
              </a:rPr>
              <a:t>•  El script "come" archivos con espacios — Falta de comillas. Entrecomilla siempre "$var" y usa "$@" para los argumentos.</a:t>
            </a:r>
          </a:p>
          <a:p>
            <a:pPr>
              <a:spcAft>
                <a:spcPts val="600"/>
              </a:spcAft>
            </a:pPr>
            <a:r>
              <a:rPr sz="1500">
                <a:solidFill>
                  <a:srgbClr val="22282E"/>
                </a:solidFill>
              </a:rPr>
              <a:t>•  El pipe falla pero el script sigue — Sin pipefail, solo cuenta el último comando de la tubería. Añade set -o pipefail.</a:t>
            </a:r>
          </a:p>
          <a:p>
            <a:pPr>
              <a:spcAft>
                <a:spcPts val="600"/>
              </a:spcAft>
            </a:pPr>
            <a:r>
              <a:rPr sz="1500">
                <a:solidFill>
                  <a:srgbClr val="22282E"/>
                </a:solidFill>
              </a:rPr>
              <a:t>•  [: ==: unary operator expected — Comparación con variable vacía sin comillas. Usa [[ ]] y entrecomilla los operandos.</a:t>
            </a:r>
          </a:p>
          <a:p>
            <a:pPr>
              <a:spcAft>
                <a:spcPts val="600"/>
              </a:spcAft>
            </a:pPr>
            <a:r>
              <a:rPr sz="1500">
                <a:solidFill>
                  <a:srgbClr val="22282E"/>
                </a:solidFill>
              </a:rPr>
              <a:t>•  Permission denied al ejecutar — Falta chmod +x o el shebang es incorrecto. Revisa ambos.</a:t>
            </a:r>
          </a:p>
          <a:p>
            <a:pPr>
              <a:spcAft>
                <a:spcPts val="600"/>
              </a:spcAft>
            </a:pPr>
            <a:r>
              <a:rPr sz="1500">
                <a:solidFill>
                  <a:srgbClr val="22282E"/>
                </a:solidFill>
              </a:rPr>
              <a:t>•  set -e no aborta donde esperas — Está dentro de un if o de una cadena con &amp;&amp; u or lógico, contextos donde -e se desactiva. Comprueba el estado explícitamente.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¿Bash o Python para automatizar seguridad? Bash brilla pegando herramientas de línea de comandos y en tareas rápidas del sistema. Para lógica compleja, estructuras de datos, parsing robusto o red…</a:t>
            </a:r>
          </a:p>
          <a:p>
            <a:pPr>
              <a:spcAft>
                <a:spcPts val="600"/>
              </a:spcAft>
            </a:pPr>
            <a:r>
              <a:rPr sz="1500">
                <a:solidFill>
                  <a:srgbClr val="22282E"/>
                </a:solidFill>
              </a:rPr>
              <a:t>•  ❓ ¿Por qué #!/usr/bin/env bash y no #!/bin/bash? Porque env busca bash en el PATH, lo que hace el script portable entre distribuciones donde bash puede vivir en rutas distintas. La ruta fija…</a:t>
            </a:r>
          </a:p>
          <a:p>
            <a:pPr>
              <a:spcAft>
                <a:spcPts val="600"/>
              </a:spcAft>
            </a:pPr>
            <a:r>
              <a:rPr sz="1500">
                <a:solidFill>
                  <a:srgbClr val="22282E"/>
                </a:solidFill>
              </a:rPr>
              <a:t>•  ❓ ¿ShellCheck es imprescindible? Muy recomendable. Detecta quoting olvidado, variables no usadas y bugs sutiles antes de que exploten en producción, y cada aviso viene con explicación. Intégralo en…</a:t>
            </a:r>
          </a:p>
          <a:p>
            <a:pPr>
              <a:spcAft>
                <a:spcPts val="600"/>
              </a:spcAft>
            </a:pPr>
            <a:r>
              <a:rPr sz="1500">
                <a:solidFill>
                  <a:srgbClr val="22282E"/>
                </a:solidFill>
              </a:rPr>
              <a:t>•  ❓ ¿Cómo depuro un script? Ejecútalo con bash -x script.sh para ver cada comando ya expandido, o inserta set -x justo antes de la sección que quieres inspeccionar y set +x después para acotar la traza.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GNU Bash Reference Manual — &lt;https://www.gnu.org/software/bash/manual/&gt;</a:t>
            </a:r>
          </a:p>
          <a:p>
            <a:pPr>
              <a:spcAft>
                <a:spcPts val="600"/>
              </a:spcAft>
            </a:pPr>
            <a:r>
              <a:rPr sz="1500">
                <a:solidFill>
                  <a:srgbClr val="22282E"/>
                </a:solidFill>
              </a:rPr>
              <a:t>•  ShellCheck — &lt;https://www.shellcheck.net/&gt;</a:t>
            </a:r>
          </a:p>
          <a:p>
            <a:pPr>
              <a:spcAft>
                <a:spcPts val="600"/>
              </a:spcAft>
            </a:pPr>
            <a:r>
              <a:rPr sz="1500">
                <a:solidFill>
                  <a:srgbClr val="22282E"/>
                </a:solidFill>
              </a:rPr>
              <a:t>•  Google Shell Style Guide — &lt;https://google.github.io/styleguide/shellguide.html&gt;</a:t>
            </a:r>
          </a:p>
          <a:p>
            <a:pPr>
              <a:spcAft>
                <a:spcPts val="600"/>
              </a:spcAft>
            </a:pPr>
            <a:r>
              <a:rPr sz="1500">
                <a:solidFill>
                  <a:srgbClr val="22282E"/>
                </a:solidFill>
              </a:rPr>
              <a:t>•  man 1 bash — sección de expansiones y palabras reservadas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b1aef5fc24c76b22.png"/>
          <p:cNvPicPr>
            <a:picLocks noChangeAspect="1"/>
          </p:cNvPicPr>
          <p:nvPr/>
        </p:nvPicPr>
        <p:blipFill>
          <a:blip r:embed="rId2"/>
          <a:stretch>
            <a:fillRect/>
          </a:stretch>
        </p:blipFill>
        <p:spPr>
          <a:xfrm>
            <a:off x="2551274" y="1097280"/>
            <a:ext cx="4041452"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