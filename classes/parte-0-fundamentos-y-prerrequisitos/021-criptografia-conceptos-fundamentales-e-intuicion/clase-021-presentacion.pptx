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021 — Criptografía: conceptos fundamentales e intuición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la intuición criptográfica que sostiene silenciosamente casi todo lo que hacemos en seguridad: TLS que protege el tráfico web, firmas que garantizan la procedencia de un binario…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el cifrado simétrico del asimétrico, sus costes y por qué se combinan en la práctica.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es una función hash criptográfica, sus tres propiedades de seguridad y qué significa que MD5 o SHA-1 estén "rotos".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el hashing de contraseñas (bcrypt, scrypt, argon2) de un hash genérico y justificar por qué SHA-256 "pelado" no sirve.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cómo HMAC, las firmas digitales y el intercambio de claves aportan integridad, autenticidad y no repudio.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las primitivas adecuadas mediante una librería confiable, sin reimplementar algoritmos.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los errores clásicos (nonce reutilizado, cifrar sin autenticar, algoritmos obsoletos) antes de cometerlos.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Terminología (CIA)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Cifrado simétrico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Cifrado asimétrico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Funciones 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Hash de contraseñas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HMAC y MAC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Firmas digitales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Antes de hablar de algoritmos conviene fijar qué queremos proteger, porque cada primitiva resuelve un problema distinto y confundirlos es la raíz de casi todos los diseños inseguros.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el cifrado simétrico la misma clave secreta cifra y descifra. El estándar de facto es AES (Advanced Encryption Standard), un cifrado por bloques de 128 bits con claves de 128, 192 o 256 bits. AES…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cifrado asimétrico usa un par de claves matemáticamente relacionadas: una pública, que se puede publicar libremente, y una privada, que se guarda en secreto. Lo cifrado con la pública solo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función hash criptográfica toma una entrada de cualquier tamaño y produce una salida corta de longitud fija (por ejemplo, 256 bits en SHA-256) que actúa como huella digital. Debe cumplir tres…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Almacenar contraseñas es un caso especial que confunde a mucha gente. Nunca se guarda la contraseña en claro ni se "cifra" (cifrar es reversible con la clave). Se guarda un hash, pero no un hash…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HMAC combina una función hash con una clave secreta para producir un código de autenticación de mensaje (MAC). Garantiza a la vez integridad y autenticidad: solo quien conoce la clave puede generar o…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simétrico: esquema donde la misma clave cifra y descifra (AES). Es rápido y apto para grandes volúmenes de datos, pero exige distribuir la clave secreta de forma segura entre las partes, lo…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asimétrico: esquema con un par de claves pública/privada (RSA, ECC). Resuelve la distribución de claves porque la pública se publica sin riesgo, a cambio de un coste computacional mucho…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Función hash criptográfica: mapeo unidireccional de datos arbitrarios a una huella de longitud fija (SHA-256). Verifica integridad y es la base de firmas y estructuras como blockchains; MD5 y SHA-1…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 (salt): valor aleatorio único que se añade a cada contraseña antes de aplicar el KDF. Neutraliza las rainbow tables y garantiza que contraseñas idénticas produzcan hashes distintos, cerrando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KDF de contraseñas: función de derivación deliberadamente lenta y costosa (bcrypt, scrypt, argon2) pensada para resistir fuerza bruta. Su factor de coste ajustable permite endurecer el sistema…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HMAC: código de autenticación de mensaje construido sobre una función hash y una clave secreta. Aporta integridad y autenticidad simultáneamente, algo que un hash simple no puede lograr frente a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digital: hash del mensaje transformado con la clave privada del firmante. Prueba autoría (autenticidad), que el contenido no cambió (integridad) y que el firmante no puede desdecirse (no…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AES — Cifrado por bloques simétrico estándar, claves de 128/192/256 bits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RSA — Cifrado/firma asimétrico basado en la factorización de enteros grandes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ECC — Criptografía de curva elíptica; misma seguridad con claves más pequeñas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— Huella de longitud fija de una entrada arbitraria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Colisión — Dos entradas distintas que producen el mismo 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Efecto avalancha — Un cambio mínimo en la entrada altera medio hash de salida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Trabajaremos con Python y la librería cryptography de PyCA, que expone primitivas auditadas y seguras por defecto, además del módulo estándar hashlib. Para contraseñas usaremos bcrypt y argon2-cffi.…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También conviene tener openssl en línea de comandos para experimentar con claves y firmas RSA. La regla de oro que gobierna toda esta clase: usa librerías establecidas y mantenidas, nunca…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e integridad. Calcula el hash de un mensaje y observa el efecto avalancha: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 un solo carácter y compara: verás que la salida cambia por completo, sin parecido con la anterior.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qué MD5/SHA-1 no valen. Investiga las colisiones documentadas de MD5 y el ataque SHAttered contra SHA-1. Razona por qué una colisión práctica invalida su uso para integridad y firmas, aunque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simétrico autenticado con AES-GCM vía cryptography: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nonce debe ser único por mensaje. Prueba a alterar un byte de ct antes de descifrar y observa que la operación lanza una excepción en vez de devolver datos corruptos.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de contraseñas con sal: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con hashear la misma contraseña con SHA-256 "pelado" y razona por qué esto último es inseguro.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concreto cuándo usarías cifrado simétrico y cuándo asimétrico, y por qué TLS combina ambos en cada conexión.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las tres propiedades de seguridad de una función hash criptográfica y explica qué protege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SHA-256 no es adecuado para almacenar contraseñas y qué debe usarse en su lugar, mencionando el papel de la sal y del factor de coste.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cómo una firma digital aporta a la vez integridad, autenticidad y no repudio, y en qué se diferencia de un HMAC.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papel del IV/nonce en un cifrado y qué puede ocurrir si se reutiliza en un modo como AES-GCM.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Diffie-Hellman permite que dos partes acuerden una clave compartida sin transmitirla, y qué es el "secreto hacia adelante" (forward secrecy).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RSA y ECC en tamaño de clave y rendimiento, y explica por qué ECC se prefiere en dispositivos modernos.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securebox.py, una herramienta de línea de comandos que cifre y descifre un archivo con AES-GCM, derivando la clave de una contraseña mediante un KDF adecuado (scrypt o argon2) con sal…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 archivo cifrado y luego descifrado con la contraseña correcta se recupera idéntico (mismo SHA-256 que el original); alterar un solo byte del cifrado o usar una contraseña…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Almacenar contraseñas con SHA-256 sin sal — Vulnerable a rainbow tables y cracking por GPU. Usa bcrypt/scrypt/argon2 con sal.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Reutilizar el nonce en AES-GCM — Rompe la confidencialidad y puede filtrar la clave de autenticación. Genera un nonce único por mensaje.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AES o RSA "a mano" — Errores sutiles (timing, padding) que pasan inadvertidos = inseguro. Usa librerías auditadas.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MD5/SHA-1 para firmas o integridad — Rotos por colisiones prácticas. Migra a SHA-256/SHA-3.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 sin autenticar (solo AES-CBC) — Permite manipulación indetectable del cifrado. Usa AEAD (GCM) o encrypt-then-MAC.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cifrar con hashear una contraseña — Cifrar es reversible; una contraseña se guarda con un KDF de un solo sentido.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IV o nonce predecible o fijo — Deja patrones explotables. Genera valores aleatorios con un CSPRNG (os.urandom).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"no inventes tu propia cripto"? Porque las primitivas son fáciles de implementar mal de formas invisibles pero catastróficas: fugas por tiempo de ejecución, padding mal validado, nonces…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¿Cifrado o hashing para contraseñas? Ninguno de los dos a secas. Se usa un hash de contraseñas lento y con sal (bcrypt/scrypt/argon2), diseñado específicamente para resistir la fuerza bruta. Cifrar…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¿RSA está obsoleto? No, sigue siendo seguro con tamaños de clave adecuados, pero la criptografía de curva elíptica (ECC) ofrece la misma seguridad con claves mucho más pequeñas y mejor rendimiento…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la criptografía post-cuántica? Son algoritmos diseñados para resistir a un computador cuántico capaz de romper RSA y ECC mediante el algoritmo de Shor. El NIST ya ha estandarizado los…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hash sirve para verificar que un archivo no fue manipulado por un atacante? Solo si el hash de referencia llega por un canal confiable e independiente. Frente a un adversario que controla el…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Ferguson, Schneier &amp; Kohno, Cryptography Engineering.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PyCA cryptography — &lt;https://cryptography.io/&gt;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Cryptographic Standards and Guidelines — &lt;https://csrc.nist.gov/projects/cryptographic-standards-and-guidelines&gt;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FIPS 197 (AES) — &lt;https://csrc.nist.gov/pubs/fips/197/final&gt;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Password Storage Cheat Sheet — &lt;https://cheatsheetseries.owasp.org/cheatsheets/PasswordStorageCheatSheet.html&gt;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2104 (HMAC) — &lt;https://www.rfc-editor.org/rfc/rfc2104&gt;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1</a:t>
            </a:r>
          </a:p>
        </p:txBody>
      </p:sp>
      <p:pic>
        <p:nvPicPr>
          <p:cNvPr id="3" name="Picture 2" descr="ebcd9cedcc5abb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88436"/>
            <a:ext cx="8229600" cy="5212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2</a:t>
            </a:r>
          </a:p>
        </p:txBody>
      </p:sp>
      <p:pic>
        <p:nvPicPr>
          <p:cNvPr id="3" name="Picture 2" descr="ca7b1c4895feec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175" y="1097280"/>
            <a:ext cx="206165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