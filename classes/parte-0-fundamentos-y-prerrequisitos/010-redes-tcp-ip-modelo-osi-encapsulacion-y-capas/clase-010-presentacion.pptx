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010 — Redes TCP/IP: modelo OSI, encapsulación y capas</a:t>
            </a:r>
          </a:p>
          <a:p>
            <a:r>
              <a:rPr sz="1600">
                <a:solidFill>
                  <a:srgbClr val="2E8B57"/>
                </a:solidFill>
              </a:rPr>
              <a:t>parte 0 fundamentos y prerrequisitos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Entender cómo se comunican los sistemas en red mediante modelos de capas, la abstracción más importante de toda la disciplina de redes. Al terminar podrás explicar qué hace cada capa, cómo 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Enumerar las capas de los modelos OSI y TCP/IP y describir la función de cada una.</a:t>
            </a:r>
          </a:p>
          <a:p>
            <a:pPr>
              <a:spcAft>
                <a:spcPts val="600"/>
              </a:spcAft>
            </a:pPr>
            <a:r>
              <a:rPr sz="1500">
                <a:solidFill>
                  <a:srgbClr val="22282E"/>
                </a:solidFill>
              </a:rPr>
              <a:t>•  Explicar la encapsulación y nombrar la PDU de cada capa.</a:t>
            </a:r>
          </a:p>
          <a:p>
            <a:pPr>
              <a:spcAft>
                <a:spcPts val="600"/>
              </a:spcAft>
            </a:pPr>
            <a:r>
              <a:rPr sz="1500">
                <a:solidFill>
                  <a:srgbClr val="22282E"/>
                </a:solidFill>
              </a:rPr>
              <a:t>•  Mapear protocolos reales (Ethernet, IP, TCP, HTTP) a su capa correspondiente.</a:t>
            </a:r>
          </a:p>
          <a:p>
            <a:pPr>
              <a:spcAft>
                <a:spcPts val="600"/>
              </a:spcAft>
            </a:pPr>
            <a:r>
              <a:rPr sz="1500">
                <a:solidFill>
                  <a:srgbClr val="22282E"/>
                </a:solidFill>
              </a:rPr>
              <a:t>•  Relacionar ataques concretos con la capa que afectan.</a:t>
            </a:r>
          </a:p>
          <a:p>
            <a:pPr>
              <a:spcAft>
                <a:spcPts val="600"/>
              </a:spcAft>
            </a:pPr>
            <a:r>
              <a:rPr sz="1500">
                <a:solidFill>
                  <a:srgbClr val="22282E"/>
                </a:solidFill>
              </a:rPr>
              <a:t>•  Observar la encapsulación real en una captura de red con Wireshark.</a:t>
            </a:r>
          </a:p>
          <a:p>
            <a:pPr>
              <a:spcAft>
                <a:spcPts val="600"/>
              </a:spcAft>
            </a:pPr>
            <a:r>
              <a:rPr sz="1500">
                <a:solidFill>
                  <a:srgbClr val="22282E"/>
                </a:solidFill>
              </a:rPr>
              <a:t>•  Calcular la sobrecarga de cabeceras que añade cada capa a un payload.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Modelo OSI (7 capas)</a:t>
            </a:r>
          </a:p>
          <a:p>
            <a:pPr>
              <a:spcAft>
                <a:spcPts val="600"/>
              </a:spcAft>
            </a:pPr>
            <a:r>
              <a:rPr sz="1500">
                <a:solidFill>
                  <a:srgbClr val="22282E"/>
                </a:solidFill>
              </a:rPr>
              <a:t>•  2 — Modelo TCP/IP (4 capas)</a:t>
            </a:r>
          </a:p>
          <a:p>
            <a:pPr>
              <a:spcAft>
                <a:spcPts val="600"/>
              </a:spcAft>
            </a:pPr>
            <a:r>
              <a:rPr sz="1500">
                <a:solidFill>
                  <a:srgbClr val="22282E"/>
                </a:solidFill>
              </a:rPr>
              <a:t>•  3 — Encapsulación</a:t>
            </a:r>
          </a:p>
          <a:p>
            <a:pPr>
              <a:spcAft>
                <a:spcPts val="600"/>
              </a:spcAft>
            </a:pPr>
            <a:r>
              <a:rPr sz="1500">
                <a:solidFill>
                  <a:srgbClr val="22282E"/>
                </a:solidFill>
              </a:rPr>
              <a:t>•  4 — PDU por capa</a:t>
            </a:r>
          </a:p>
          <a:p>
            <a:pPr>
              <a:spcAft>
                <a:spcPts val="600"/>
              </a:spcAft>
            </a:pPr>
            <a:r>
              <a:rPr sz="1500">
                <a:solidFill>
                  <a:srgbClr val="22282E"/>
                </a:solidFill>
              </a:rPr>
              <a:t>•  5 — Direccionamiento por capa</a:t>
            </a:r>
          </a:p>
          <a:p>
            <a:pPr>
              <a:spcAft>
                <a:spcPts val="600"/>
              </a:spcAft>
            </a:pPr>
            <a:r>
              <a:rPr sz="1500">
                <a:solidFill>
                  <a:srgbClr val="22282E"/>
                </a:solidFill>
              </a:rPr>
              <a:t>•  6 — Protocolos por capa</a:t>
            </a:r>
          </a:p>
          <a:p>
            <a:pPr>
              <a:spcAft>
                <a:spcPts val="600"/>
              </a:spcAft>
            </a:pPr>
            <a:r>
              <a:rPr sz="1500">
                <a:solidFill>
                  <a:srgbClr val="22282E"/>
                </a:solidFill>
              </a:rPr>
              <a:t>•  7 — Ataques por capa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Explicación en profundidad</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Comunicar dos ordenadores es un problema enorme: hay que convertir bits en señales físicas, entregar datos al equipo correcto de la red local, encaminarlos por Internet, garantizar que lleguen…</a:t>
            </a:r>
          </a:p>
          <a:p>
            <a:pPr>
              <a:spcAft>
                <a:spcPts val="600"/>
              </a:spcAft>
            </a:pPr>
            <a:r>
              <a:rPr sz="1500">
                <a:solidFill>
                  <a:srgbClr val="22282E"/>
                </a:solidFill>
              </a:rPr>
              <a:t>•  Existen dos modelos y hay que conocer ambos. El modelo OSI es conceptual, de 7 capas (de arriba abajo: aplicación, presentación, sesión, transporte, red, enlace de datos y física), y su valor es el…</a:t>
            </a:r>
          </a:p>
          <a:p>
            <a:pPr>
              <a:spcAft>
                <a:spcPts val="600"/>
              </a:spcAft>
            </a:pPr>
            <a:r>
              <a:rPr sz="1500">
                <a:solidFill>
                  <a:srgbClr val="22282E"/>
                </a:solidFill>
              </a:rPr>
              <a:t>•  La encapsulación es el mecanismo central. Cuando una aplicación envía datos, estos descienden por la pila y cada capa añade su propia cabecera (y a veces un cierre) delante de lo que recibe de la…</a:t>
            </a:r>
          </a:p>
          <a:p>
            <a:pPr>
              <a:spcAft>
                <a:spcPts val="600"/>
              </a:spcAft>
            </a:pPr>
            <a:r>
              <a:rPr sz="1500">
                <a:solidFill>
                  <a:srgbClr val="22282E"/>
                </a:solidFill>
              </a:rPr>
              <a:t>•  Cada capa envuelve a la de arriba añadiendo su propia cabecera (y, en Ethernet,</a:t>
            </a:r>
          </a:p>
          <a:p>
            <a:pPr>
              <a:spcAft>
                <a:spcPts val="600"/>
              </a:spcAft>
            </a:pPr>
            <a:r>
              <a:rPr sz="1500">
                <a:solidFill>
                  <a:srgbClr val="22282E"/>
                </a:solidFill>
              </a:rPr>
              <a:t>•  también una cola: el FCS). En el receptor ocurre lo contrario: cada capa retira su</a:t>
            </a:r>
          </a:p>
          <a:p>
            <a:pPr>
              <a:spcAft>
                <a:spcPts val="600"/>
              </a:spcAft>
            </a:pPr>
            <a:r>
              <a:rPr sz="1500">
                <a:solidFill>
                  <a:srgbClr val="22282E"/>
                </a:solidFill>
              </a:rPr>
              <a:t>•  cabecera y entrega el resto a la de arriba. Por eso una captura de Wireshark se lee</a:t>
            </a:r>
          </a:p>
          <a:p>
            <a:pPr>
              <a:spcAft>
                <a:spcPts val="600"/>
              </a:spcAft>
            </a:pPr>
            <a:r>
              <a:rPr sz="1500">
                <a:solidFill>
                  <a:srgbClr val="22282E"/>
                </a:solidFill>
              </a:rPr>
              <a:t>•  de fuera hacia dentro, y por eso un firewall de capa 3 puede decidir sobre la IP sin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Modelo OSI: modelo conceptual de 7 capas (física, enlace, red, transporte, sesión, presentación, aplicación). Es la referencia para razonar y el vocabulario común de la industria ("capa 7"), no una…</a:t>
            </a:r>
          </a:p>
          <a:p>
            <a:pPr>
              <a:spcAft>
                <a:spcPts val="600"/>
              </a:spcAft>
            </a:pPr>
            <a:r>
              <a:rPr sz="1500">
                <a:solidFill>
                  <a:srgbClr val="22282E"/>
                </a:solidFill>
              </a:rPr>
              <a:t>•  Modelo TCP/IP: modelo práctico de 4 capas (acceso a red, Internet, transporte, aplicación) que gobierna Internet de verdad. Colapsa las capas de sesión y presentación de OSI dentro de la de…</a:t>
            </a:r>
          </a:p>
          <a:p>
            <a:pPr>
              <a:spcAft>
                <a:spcPts val="600"/>
              </a:spcAft>
            </a:pPr>
            <a:r>
              <a:rPr sz="1500">
                <a:solidFill>
                  <a:srgbClr val="22282E"/>
                </a:solidFill>
              </a:rPr>
              <a:t>•  Encapsulación: proceso por el que cada capa añade su cabecera a los datos al bajar por la pila. Los datos de aplicación viajan envueltos como segmento → paquete → trama. El payload original se…</a:t>
            </a:r>
          </a:p>
          <a:p>
            <a:pPr>
              <a:spcAft>
                <a:spcPts val="600"/>
              </a:spcAft>
            </a:pPr>
            <a:r>
              <a:rPr sz="1500">
                <a:solidFill>
                  <a:srgbClr val="22282E"/>
                </a:solidFill>
              </a:rPr>
              <a:t>•  Desencapsulación: proceso inverso en el receptor, donde cada capa lee y retira su cabecera y entrega el contenido a la capa superior. Es lo que permite que cada capa "converse" con su homóloga del…</a:t>
            </a:r>
          </a:p>
          <a:p>
            <a:pPr>
              <a:spcAft>
                <a:spcPts val="600"/>
              </a:spcAft>
            </a:pPr>
            <a:r>
              <a:rPr sz="1500">
                <a:solidFill>
                  <a:srgbClr val="22282E"/>
                </a:solidFill>
              </a:rPr>
              <a:t>•  PDU (Protocol Data Unit): nombre del dato en cada capa: datos en aplicación, segmento en transporte, paquete en red, trama en enlace y bits en física. Precisa la terminología y evita confundir capas.</a:t>
            </a:r>
          </a:p>
          <a:p>
            <a:pPr>
              <a:spcAft>
                <a:spcPts val="600"/>
              </a:spcAft>
            </a:pPr>
            <a:r>
              <a:rPr sz="1500">
                <a:solidFill>
                  <a:srgbClr val="22282E"/>
                </a:solidFill>
              </a:rPr>
              <a:t>•  Dirección MAC: identificador físico de una tarjeta de red, de alcance local (capa de enlace). Cambia en cada salto de la ruta. Es la base del envenenamiento ARP.</a:t>
            </a:r>
          </a:p>
          <a:p>
            <a:pPr>
              <a:spcAft>
                <a:spcPts val="600"/>
              </a:spcAft>
            </a:pPr>
            <a:r>
              <a:rPr sz="1500">
                <a:solidFill>
                  <a:srgbClr val="22282E"/>
                </a:solidFill>
              </a:rPr>
              <a:t>•  Dirección IP: identificador lógico de un host de extremo a extremo (capa de red). No cambia a lo largo del trayecto salvo NAT. Determina el encaminamiento entre redes.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Glosario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Término — Definición concisa</a:t>
            </a:r>
          </a:p>
          <a:p>
            <a:pPr>
              <a:spcAft>
                <a:spcPts val="600"/>
              </a:spcAft>
            </a:pPr>
            <a:r>
              <a:rPr sz="1500">
                <a:solidFill>
                  <a:srgbClr val="22282E"/>
                </a:solidFill>
              </a:rPr>
              <a:t>•  OSI — Modelo conceptual de referencia de 7 capas</a:t>
            </a:r>
          </a:p>
          <a:p>
            <a:pPr>
              <a:spcAft>
                <a:spcPts val="600"/>
              </a:spcAft>
            </a:pPr>
            <a:r>
              <a:rPr sz="1500">
                <a:solidFill>
                  <a:srgbClr val="22282E"/>
                </a:solidFill>
              </a:rPr>
              <a:t>•  TCP/IP — Modelo práctico de 4 capas que implementa Internet</a:t>
            </a:r>
          </a:p>
          <a:p>
            <a:pPr>
              <a:spcAft>
                <a:spcPts val="600"/>
              </a:spcAft>
            </a:pPr>
            <a:r>
              <a:rPr sz="1500">
                <a:solidFill>
                  <a:srgbClr val="22282E"/>
                </a:solidFill>
              </a:rPr>
              <a:t>•  PDU — Unidad de datos de protocolo (nombre por capa)</a:t>
            </a:r>
          </a:p>
          <a:p>
            <a:pPr>
              <a:spcAft>
                <a:spcPts val="600"/>
              </a:spcAft>
            </a:pPr>
            <a:r>
              <a:rPr sz="1500">
                <a:solidFill>
                  <a:srgbClr val="22282E"/>
                </a:solidFill>
              </a:rPr>
              <a:t>•  Trama — PDU de la capa de enlace (lleva MAC y FCS)</a:t>
            </a:r>
          </a:p>
          <a:p>
            <a:pPr>
              <a:spcAft>
                <a:spcPts val="600"/>
              </a:spcAft>
            </a:pPr>
            <a:r>
              <a:rPr sz="1500">
                <a:solidFill>
                  <a:srgbClr val="22282E"/>
                </a:solidFill>
              </a:rPr>
              <a:t>•  Paquete — PDU de la capa de red (lleva la cabecera IP)</a:t>
            </a:r>
          </a:p>
          <a:p>
            <a:pPr>
              <a:spcAft>
                <a:spcPts val="600"/>
              </a:spcAft>
            </a:pPr>
            <a:r>
              <a:rPr sz="1500">
                <a:solidFill>
                  <a:srgbClr val="22282E"/>
                </a:solidFill>
              </a:rPr>
              <a:t>•  Segmento — PDU de transporte con TCP (datagrama con UDP)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Instala Wireshark en tu equipo o VM desde &lt;https://www.wireshark.org&gt; y ten tcpdump disponible en Kali. Wireshark analiza en profundidad con su árbol de capas y sus filtros; tcpdump captura rápido 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Dibuja el mapeo. En una tabla, alinea las 7 capas OSI con las 4 de TCP/IP y coloca al menos un protocolo por capa.</a:t>
            </a:r>
          </a:p>
          <a:p>
            <a:pPr>
              <a:spcAft>
                <a:spcPts val="600"/>
              </a:spcAft>
            </a:pPr>
            <a:r>
              <a:rPr sz="1500">
                <a:solidFill>
                  <a:srgbClr val="22282E"/>
                </a:solidFill>
              </a:rPr>
              <a:t>•  Captura tráfico de una petición web sencilla. En Kali (ajusta la interfaz con ip a):</a:t>
            </a:r>
          </a:p>
          <a:p>
            <a:pPr>
              <a:spcAft>
                <a:spcPts val="600"/>
              </a:spcAft>
            </a:pPr>
            <a:r>
              <a:rPr sz="1500">
                <a:solidFill>
                  <a:srgbClr val="22282E"/>
                </a:solidFill>
              </a:rPr>
              <a:t>•  Genera tráfico con curl http://&lt;ip-destino&gt;/.</a:t>
            </a:r>
          </a:p>
          <a:p>
            <a:pPr>
              <a:spcAft>
                <a:spcPts val="600"/>
              </a:spcAft>
            </a:pPr>
            <a:r>
              <a:rPr sz="1500">
                <a:solidFill>
                  <a:srgbClr val="22282E"/>
                </a:solidFill>
              </a:rPr>
              <a:t>•  Abre la captura en Wireshark y selecciona un paquete HTTP.</a:t>
            </a:r>
          </a:p>
          <a:p>
            <a:pPr>
              <a:spcAft>
                <a:spcPts val="600"/>
              </a:spcAft>
            </a:pPr>
            <a:r>
              <a:rPr sz="1500">
                <a:solidFill>
                  <a:srgbClr val="22282E"/>
                </a:solidFill>
              </a:rPr>
              <a:t>•  Observa la encapsulación. En el panel de detalle verás las capas anidadas: Ethernet (enlace) → IP (red) → TCP (transporte) → HTTP (aplicación). Expande cada una y localiza su cabecera.</a:t>
            </a:r>
          </a:p>
          <a:p>
            <a:pPr>
              <a:spcAft>
                <a:spcPts val="600"/>
              </a:spcAft>
            </a:pPr>
            <a:r>
              <a:rPr sz="1500">
                <a:solidFill>
                  <a:srgbClr val="22282E"/>
                </a:solidFill>
              </a:rPr>
              <a:t>•  Identifica las tres direcciones: la MAC en Ethernet, la IP en la capa de red y el puerto en TCP. Anota las tres para el mismo paquete y asócialas a su capa.</a:t>
            </a:r>
          </a:p>
          <a:p>
            <a:pPr>
              <a:spcAft>
                <a:spcPts val="600"/>
              </a:spcAft>
            </a:pPr>
            <a:r>
              <a:rPr sz="1500">
                <a:solidFill>
                  <a:srgbClr val="22282E"/>
                </a:solidFill>
              </a:rPr>
              <a:t>•  Relaciona las PDU: confirma que lo que Wireshark llama frame contiene el packet IP, que a su vez contiene el segment TCP.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Ordena de menor a mayor nivel de capa: TCP, Ethernet, HTTP, IP.</a:t>
            </a:r>
          </a:p>
          <a:p>
            <a:pPr>
              <a:spcAft>
                <a:spcPts val="600"/>
              </a:spcAft>
            </a:pPr>
            <a:r>
              <a:rPr sz="1500">
                <a:solidFill>
                  <a:srgbClr val="22282E"/>
                </a:solidFill>
              </a:rPr>
              <a:t>•  Explica qué cabecera añade cada capa a un mensaje "hola" que envía una aplicación.</a:t>
            </a:r>
          </a:p>
          <a:p>
            <a:pPr>
              <a:spcAft>
                <a:spcPts val="600"/>
              </a:spcAft>
            </a:pPr>
            <a:r>
              <a:rPr sz="1500">
                <a:solidFill>
                  <a:srgbClr val="22282E"/>
                </a:solidFill>
              </a:rPr>
              <a:t>•  ¿En qué PDU y capa actúa un switch? ¿Y un router? Justifícalo.</a:t>
            </a:r>
          </a:p>
          <a:p>
            <a:pPr>
              <a:spcAft>
                <a:spcPts val="600"/>
              </a:spcAft>
            </a:pPr>
            <a:r>
              <a:rPr sz="1500">
                <a:solidFill>
                  <a:srgbClr val="22282E"/>
                </a:solidFill>
              </a:rPr>
              <a:t>•  Da un ejemplo de ataque para cada una de las 4 capas del modelo TCP/IP.</a:t>
            </a:r>
          </a:p>
          <a:p>
            <a:pPr>
              <a:spcAft>
                <a:spcPts val="600"/>
              </a:spcAft>
            </a:pPr>
            <a:r>
              <a:rPr sz="1500">
                <a:solidFill>
                  <a:srgbClr val="22282E"/>
                </a:solidFill>
              </a:rPr>
              <a:t>•  Calcula cuánta sobrecarga en bytes añaden las cabeceras Ethernet + IP + TCP a un payload (usa los tamaños mínimos de cada cabecera).</a:t>
            </a:r>
          </a:p>
          <a:p>
            <a:pPr>
              <a:spcAft>
                <a:spcPts val="600"/>
              </a:spcAft>
            </a:pPr>
            <a:r>
              <a:rPr sz="1500">
                <a:solidFill>
                  <a:srgbClr val="22282E"/>
                </a:solidFill>
              </a:rPr>
              <a:t>•  Explica por qué el modelo OSI tiene capas (sesión, presentación) que TCP/IP no separa, y dónde acaban esas funciones.</a:t>
            </a:r>
          </a:p>
          <a:p>
            <a:pPr>
              <a:spcAft>
                <a:spcPts val="600"/>
              </a:spcAft>
            </a:pPr>
            <a:r>
              <a:rPr sz="1500">
                <a:solidFill>
                  <a:srgbClr val="22282E"/>
                </a:solidFill>
              </a:rPr>
              <a:t>•  Describe qué ocurre con la dirección MAC y con la dirección IP de un paquete al pasar por un router.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 partir de una captura propia, entrega un documento que "diseccione" un único paquete HTTP mostrando, capa por capa, la cabecera añadida y sus campos clave (MAC origen/destino, IP origen/destino…</a:t>
            </a:r>
          </a:p>
          <a:p>
            <a:pPr>
              <a:spcAft>
                <a:spcPts val="600"/>
              </a:spcAft>
            </a:pPr>
            <a:r>
              <a:rPr sz="1500">
                <a:solidFill>
                  <a:srgbClr val="22282E"/>
                </a:solidFill>
              </a:rPr>
              <a:t>•  Criterio de aceptación: el documento identifica correctamente las cuatro capas del paquete con al menos un campo relevante de cada una, y las direcciones (MAC, IP, puerto) coinciden con las de la…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Confundir OSI con TCP/IP — Son modelos distintos; TCP/IP colapsa varias capas OSI en una. Aprende el mapeo entre ambos.</a:t>
            </a:r>
          </a:p>
          <a:p>
            <a:pPr>
              <a:spcAft>
                <a:spcPts val="600"/>
              </a:spcAft>
            </a:pPr>
            <a:r>
              <a:rPr sz="1500">
                <a:solidFill>
                  <a:srgbClr val="22282E"/>
                </a:solidFill>
              </a:rPr>
              <a:t>•  tcpdump no captura nada — Interfaz equivocada o sin permisos. Usa sudo y verifica la interfaz con ip a.</a:t>
            </a:r>
          </a:p>
          <a:p>
            <a:pPr>
              <a:spcAft>
                <a:spcPts val="600"/>
              </a:spcAft>
            </a:pPr>
            <a:r>
              <a:rPr sz="1500">
                <a:solidFill>
                  <a:srgbClr val="22282E"/>
                </a:solidFill>
              </a:rPr>
              <a:t>•  El tráfico se ve cifrado e ilegible — HTTPS oculta la capa de aplicación con TLS. Usa HTTP en el laboratorio o descifra con claves propias.</a:t>
            </a:r>
          </a:p>
          <a:p>
            <a:pPr>
              <a:spcAft>
                <a:spcPts val="600"/>
              </a:spcAft>
            </a:pPr>
            <a:r>
              <a:rPr sz="1500">
                <a:solidFill>
                  <a:srgbClr val="22282E"/>
                </a:solidFill>
              </a:rPr>
              <a:t>•  Creer que un switch enruta por IP — Un switch opera en capa 2 (MAC); el router en capa 3 (IP). No confundas sus responsabilidades.</a:t>
            </a:r>
          </a:p>
          <a:p>
            <a:pPr>
              <a:spcAft>
                <a:spcPts val="600"/>
              </a:spcAft>
            </a:pPr>
            <a:r>
              <a:rPr sz="1500">
                <a:solidFill>
                  <a:srgbClr val="22282E"/>
                </a:solidFill>
              </a:rPr>
              <a:t>•  Pensar que la encapsulación cambia los datos — Solo los envuelve con cabeceras; el payload original se preserva intacto.</a:t>
            </a:r>
          </a:p>
          <a:p>
            <a:pPr>
              <a:spcAft>
                <a:spcPts val="600"/>
              </a:spcAft>
            </a:pPr>
            <a:r>
              <a:rPr sz="1500">
                <a:solidFill>
                  <a:srgbClr val="22282E"/>
                </a:solidFill>
              </a:rPr>
              <a:t>•  Buscar un ataque de "capa 5" en TCP/IP — TCP/IP no separa sesión ni presentación; esas funciones viven en la capa de aplicación o en TLS.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¿Aprendo OSI o TCP/IP? Ambos. TCP/IP es el modelo real que implementa Internet, pero OSI aporta el vocabulario que usa toda la industria: "un ataque de capa 7", "un balanceador L4", "spoofing de…</a:t>
            </a:r>
          </a:p>
          <a:p>
            <a:pPr>
              <a:spcAft>
                <a:spcPts val="600"/>
              </a:spcAft>
            </a:pPr>
            <a:r>
              <a:rPr sz="1500">
                <a:solidFill>
                  <a:srgbClr val="22282E"/>
                </a:solidFill>
              </a:rPr>
              <a:t>•  ❓ ¿Por qué importa la encapsulación en seguridad? Porque cada capa se puede inspeccionar, filtrar o falsificar de forma independiente. Firewalls, IDS/IPS y los propios ataques operan en capas…</a:t>
            </a:r>
          </a:p>
          <a:p>
            <a:pPr>
              <a:spcAft>
                <a:spcPts val="600"/>
              </a:spcAft>
            </a:pPr>
            <a:r>
              <a:rPr sz="1500">
                <a:solidFill>
                  <a:srgbClr val="22282E"/>
                </a:solidFill>
              </a:rPr>
              <a:t>•  ❓ ¿Las capas de sesión y presentación existen en la práctica? Sus funciones (gestión de sesión, cifrado y codificación) sí existen, pero en el modelo TCP/IP se realizan dentro de la capa de…</a:t>
            </a:r>
          </a:p>
          <a:p>
            <a:pPr>
              <a:spcAft>
                <a:spcPts val="600"/>
              </a:spcAft>
            </a:pPr>
            <a:r>
              <a:rPr sz="1500">
                <a:solidFill>
                  <a:srgbClr val="22282E"/>
                </a:solidFill>
              </a:rPr>
              <a:t>•  ❓ ¿Wireshark o tcpdump? tcpdump para capturar rápido en servidores sin interfaz gráfica y en scripts; Wireshark para analizar en profundidad con su árbol de capas y sus potentes filtros 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W. Richard Stevens, TCP/IP Illustrated, Vol. 1.</a:t>
            </a:r>
          </a:p>
          <a:p>
            <a:pPr>
              <a:spcAft>
                <a:spcPts val="600"/>
              </a:spcAft>
            </a:pPr>
            <a:r>
              <a:rPr sz="1500">
                <a:solidFill>
                  <a:srgbClr val="22282E"/>
                </a:solidFill>
              </a:rPr>
              <a:t>•  Wireshark User's Guide — &lt;https://www.wireshark.org/docs/&gt;</a:t>
            </a:r>
          </a:p>
          <a:p>
            <a:pPr>
              <a:spcAft>
                <a:spcPts val="600"/>
              </a:spcAft>
            </a:pPr>
            <a:r>
              <a:rPr sz="1500">
                <a:solidFill>
                  <a:srgbClr val="22282E"/>
                </a:solidFill>
              </a:rPr>
              <a:t>•  RFC 1122, Requirements for Internet Hosts — Communication Layers — &lt;https://www.rfc-editor.org/rfc/rfc1122&gt;</a:t>
            </a:r>
          </a:p>
          <a:p>
            <a:pPr>
              <a:spcAft>
                <a:spcPts val="600"/>
              </a:spcAft>
            </a:pPr>
            <a:r>
              <a:rPr sz="1500">
                <a:solidFill>
                  <a:srgbClr val="22282E"/>
                </a:solidFill>
              </a:rPr>
              <a:t>•  RFC 791, Internet Protocol — &lt;https://www.rfc-editor.org/rfc/rfc791&gt;</a:t>
            </a:r>
          </a:p>
          <a:p>
            <a:pPr>
              <a:spcAft>
                <a:spcPts val="600"/>
              </a:spcAft>
            </a:pPr>
            <a:r>
              <a:rPr sz="1500">
                <a:solidFill>
                  <a:srgbClr val="22282E"/>
                </a:solidFill>
              </a:rPr>
              <a:t>•  Cloudflare Learning: OSI model — &lt;https://www.cloudflare.com/learning/ddos/glossary/open-systems-interconnection-model-osi/&gt;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1</a:t>
            </a:r>
          </a:p>
        </p:txBody>
      </p:sp>
      <p:pic>
        <p:nvPicPr>
          <p:cNvPr id="3" name="Picture 2" descr="934c155e160ee28e.png"/>
          <p:cNvPicPr>
            <a:picLocks noChangeAspect="1"/>
          </p:cNvPicPr>
          <p:nvPr/>
        </p:nvPicPr>
        <p:blipFill>
          <a:blip r:embed="rId2"/>
          <a:stretch>
            <a:fillRect/>
          </a:stretch>
        </p:blipFill>
        <p:spPr>
          <a:xfrm>
            <a:off x="2899031" y="1097280"/>
            <a:ext cx="3345938" cy="53035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2</a:t>
            </a:r>
          </a:p>
        </p:txBody>
      </p:sp>
      <p:pic>
        <p:nvPicPr>
          <p:cNvPr id="3" name="Picture 2" descr="f3f18ec46b04e17d.png"/>
          <p:cNvPicPr>
            <a:picLocks noChangeAspect="1"/>
          </p:cNvPicPr>
          <p:nvPr/>
        </p:nvPicPr>
        <p:blipFill>
          <a:blip r:embed="rId2"/>
          <a:stretch>
            <a:fillRect/>
          </a:stretch>
        </p:blipFill>
        <p:spPr>
          <a:xfrm>
            <a:off x="1259941" y="1097280"/>
            <a:ext cx="6624117" cy="5303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