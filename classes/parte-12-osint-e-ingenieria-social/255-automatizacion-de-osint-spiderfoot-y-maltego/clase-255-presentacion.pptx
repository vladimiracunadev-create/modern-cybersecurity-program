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255 — Automatización de OSINT: SpiderFoot y Maltego</a:t>
            </a:r>
          </a:p>
          <a:p>
            <a:r>
              <a:rPr sz="1600">
                <a:solidFill>
                  <a:srgbClr val="2E8B57"/>
                </a:solidFill>
              </a:rPr>
              <a:t>parte 12 osint e ingenieria social</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Escalar el OSINT manual mediante herramientas de automatización y correlación gráfica: SpiderFoot</a:t>
            </a:r>
          </a:p>
          <a:p>
            <a:pPr>
              <a:spcAft>
                <a:spcPts val="600"/>
              </a:spcAft>
            </a:pPr>
            <a:r>
              <a:rPr sz="1500">
                <a:solidFill>
                  <a:srgbClr val="22282E"/>
                </a:solidFill>
              </a:rPr>
              <a:t>•  para recolección masiva por módulos y Maltego para análisis de enlaces (link analysis). El alumno</a:t>
            </a:r>
          </a:p>
          <a:p>
            <a:pPr>
              <a:spcAft>
                <a:spcPts val="600"/>
              </a:spcAft>
            </a:pPr>
            <a:r>
              <a:rPr sz="1500">
                <a:solidFill>
                  <a:srgbClr val="22282E"/>
                </a:solidFill>
              </a:rPr>
              <a:t>•  terminará capaz de orquestar escaneos, gestionar claves de API y transformar datos dispersos en</a:t>
            </a:r>
          </a:p>
          <a:p>
            <a:pPr>
              <a:spcAft>
                <a:spcPts val="600"/>
              </a:spcAft>
            </a:pPr>
            <a:r>
              <a:rPr sz="1500">
                <a:solidFill>
                  <a:srgbClr val="22282E"/>
                </a:solidFill>
              </a:rPr>
              <a:t>•  grafos de relaciones interpretables, sin perder el control ético del alcance.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Nota ética</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Ejecuta estas herramientas sobre objetivos autorizados o propios. La automatización puede pasar</a:t>
            </a:r>
          </a:p>
          <a:p>
            <a:pPr>
              <a:spcAft>
                <a:spcPts val="600"/>
              </a:spcAft>
            </a:pPr>
            <a:r>
              <a:rPr sz="1500">
                <a:solidFill>
                  <a:srgbClr val="22282E"/>
                </a:solidFill>
              </a:rPr>
              <a:t>•  fácilmente de pasiva a activa (resolución DNS, peticiones a la web del objetivo): revisa los módulos y</a:t>
            </a:r>
          </a:p>
          <a:p>
            <a:pPr>
              <a:spcAft>
                <a:spcPts val="600"/>
              </a:spcAft>
            </a:pPr>
            <a:r>
              <a:rPr sz="1500">
                <a:solidFill>
                  <a:srgbClr val="22282E"/>
                </a:solidFill>
              </a:rPr>
              <a:t>•  respeta el alcance. Un escaneo masivo no autorizado puede ser detectado y ser ilegal.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Configurar SpiderFoot, sus módulos y claves de API.</a:t>
            </a:r>
          </a:p>
          <a:p>
            <a:pPr>
              <a:spcAft>
                <a:spcPts val="600"/>
              </a:spcAft>
            </a:pPr>
            <a:r>
              <a:rPr sz="1500">
                <a:solidFill>
                  <a:srgbClr val="22282E"/>
                </a:solidFill>
              </a:rPr>
              <a:t>•  Distinguir módulos pasivos de activos y limitar el alcance del escaneo.</a:t>
            </a:r>
          </a:p>
          <a:p>
            <a:pPr>
              <a:spcAft>
                <a:spcPts val="600"/>
              </a:spcAft>
            </a:pPr>
            <a:r>
              <a:rPr sz="1500">
                <a:solidFill>
                  <a:srgbClr val="22282E"/>
                </a:solidFill>
              </a:rPr>
              <a:t>•  Interpretar correlaciones y grafos de resultados.</a:t>
            </a:r>
          </a:p>
          <a:p>
            <a:pPr>
              <a:spcAft>
                <a:spcPts val="600"/>
              </a:spcAft>
            </a:pPr>
            <a:r>
              <a:rPr sz="1500">
                <a:solidFill>
                  <a:srgbClr val="22282E"/>
                </a:solidFill>
              </a:rPr>
              <a:t>•  Modelar entidades y ejecutar transforms en Maltego.</a:t>
            </a:r>
          </a:p>
          <a:p>
            <a:pPr>
              <a:spcAft>
                <a:spcPts val="600"/>
              </a:spcAft>
            </a:pPr>
            <a:r>
              <a:rPr sz="1500">
                <a:solidFill>
                  <a:srgbClr val="22282E"/>
                </a:solidFill>
              </a:rPr>
              <a:t>•  Consolidar la salida automatizada en inteligencia depurada y verificada.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Automatización vs. OSINT manual</a:t>
            </a:r>
          </a:p>
          <a:p>
            <a:pPr>
              <a:spcAft>
                <a:spcPts val="600"/>
              </a:spcAft>
            </a:pPr>
            <a:r>
              <a:rPr sz="1500">
                <a:solidFill>
                  <a:srgbClr val="22282E"/>
                </a:solidFill>
              </a:rPr>
              <a:t>•  2 — SpiderFoot: módulos y scans</a:t>
            </a:r>
          </a:p>
          <a:p>
            <a:pPr>
              <a:spcAft>
                <a:spcPts val="600"/>
              </a:spcAft>
            </a:pPr>
            <a:r>
              <a:rPr sz="1500">
                <a:solidFill>
                  <a:srgbClr val="22282E"/>
                </a:solidFill>
              </a:rPr>
              <a:t>•  3 — Gestión de API keys</a:t>
            </a:r>
          </a:p>
          <a:p>
            <a:pPr>
              <a:spcAft>
                <a:spcPts val="600"/>
              </a:spcAft>
            </a:pPr>
            <a:r>
              <a:rPr sz="1500">
                <a:solidFill>
                  <a:srgbClr val="22282E"/>
                </a:solidFill>
              </a:rPr>
              <a:t>•  4 — Pasivo vs. activo en módulos</a:t>
            </a:r>
          </a:p>
          <a:p>
            <a:pPr>
              <a:spcAft>
                <a:spcPts val="600"/>
              </a:spcAft>
            </a:pPr>
            <a:r>
              <a:rPr sz="1500">
                <a:solidFill>
                  <a:srgbClr val="22282E"/>
                </a:solidFill>
              </a:rPr>
              <a:t>•  5 — Maltego: entidades y transforms</a:t>
            </a:r>
          </a:p>
          <a:p>
            <a:pPr>
              <a:spcAft>
                <a:spcPts val="600"/>
              </a:spcAft>
            </a:pPr>
            <a:r>
              <a:rPr sz="1500">
                <a:solidFill>
                  <a:srgbClr val="22282E"/>
                </a:solidFill>
              </a:rPr>
              <a:t>•  6 — Grafos y correlación</a:t>
            </a:r>
          </a:p>
          <a:p>
            <a:pPr>
              <a:spcAft>
                <a:spcPts val="600"/>
              </a:spcAft>
            </a:pPr>
            <a:r>
              <a:rPr sz="1500">
                <a:solidFill>
                  <a:srgbClr val="22282E"/>
                </a:solidFill>
              </a:rPr>
              <a:t>•  7 — Depuración de resultados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SpiderFoot y Maltego convierten semillas en consultas y relaciones. Son útiles para repetir tareas, conservar caminos y encontrar candidatos, pero no validan automáticamente identidad, propiedad ni…</a:t>
            </a:r>
          </a:p>
          <a:p>
            <a:pPr>
              <a:spcAft>
                <a:spcPts val="600"/>
              </a:spcAft>
            </a:pPr>
            <a:r>
              <a:rPr sz="1500">
                <a:solidFill>
                  <a:srgbClr val="22282E"/>
                </a:solidFill>
              </a:rPr>
              <a:t>•  El diagrama coloca la revisión después del grafo, no porque solo se revise al final, sino para recordar que una arista generada es una afirmación que necesita procedencia. Cada nodo debería conservar…</a:t>
            </a:r>
          </a:p>
          <a:p>
            <a:pPr>
              <a:spcAft>
                <a:spcPts val="600"/>
              </a:spcAft>
            </a:pPr>
            <a:r>
              <a:rPr sz="1500">
                <a:solidFill>
                  <a:srgbClr val="22282E"/>
                </a:solidFill>
              </a:rPr>
              <a:t>•  Se parte de una pregunta y módulos necesarios, no de «ejecutar todo». Los módulos pueden consultar servicios externos, consumir cuotas, transmitir la semilla o realizar actividad directa; se revisan…</a:t>
            </a:r>
          </a:p>
          <a:p>
            <a:pPr>
              <a:spcAft>
                <a:spcPts val="600"/>
              </a:spcAft>
            </a:pPr>
            <a:r>
              <a:rPr sz="1500">
                <a:solidFill>
                  <a:srgbClr val="22282E"/>
                </a:solidFill>
              </a:rPr>
              <a:t>•  Una ejecución reproducible conserva versión de herramienta, configuración, semillas, fecha y exportación original. Los resultados cambian porque Internet cambia; repetir no significa obtener lo…</a:t>
            </a:r>
          </a:p>
          <a:p>
            <a:pPr>
              <a:spcAft>
                <a:spcPts val="600"/>
              </a:spcAft>
            </a:pPr>
            <a:r>
              <a:rPr sz="1500">
                <a:solidFill>
                  <a:srgbClr val="22282E"/>
                </a:solidFill>
              </a:rPr>
              <a:t>•  El color y el tamaño de un nodo pueden representar confianza, tipo o centralidad, pero la leyenda debe decirlo. Un nodo central en la muestra puede ser un CDN o servicio compartido. Los caminos…</a:t>
            </a:r>
          </a:p>
          <a:p>
            <a:pPr>
              <a:spcAft>
                <a:spcPts val="600"/>
              </a:spcAft>
            </a:pPr>
            <a:r>
              <a:rPr sz="1500">
                <a:solidFill>
                  <a:srgbClr val="22282E"/>
                </a:solidFill>
              </a:rPr>
              <a:t>•  Un transform relaciona dos organizaciones mediante la misma IP. La visualización sugiere infraestructura común, pero la IP pertenece a un hosting masivo. El analista cambia la relación a «alojado…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 operativo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útil</a:t>
            </a:r>
          </a:p>
          <a:p>
            <a:pPr>
              <a:spcAft>
                <a:spcPts val="600"/>
              </a:spcAft>
            </a:pPr>
            <a:r>
              <a:rPr sz="1500">
                <a:solidFill>
                  <a:srgbClr val="22282E"/>
                </a:solidFill>
              </a:rPr>
              <a:t>•  Semilla — Entidad inicial autorizada desde la que comienza la expansión.</a:t>
            </a:r>
          </a:p>
          <a:p>
            <a:pPr>
              <a:spcAft>
                <a:spcPts val="600"/>
              </a:spcAft>
            </a:pPr>
            <a:r>
              <a:rPr sz="1500">
                <a:solidFill>
                  <a:srgbClr val="22282E"/>
                </a:solidFill>
              </a:rPr>
              <a:t>•  Transform/módulo — Operación que consulta o deriva relaciones.</a:t>
            </a:r>
          </a:p>
          <a:p>
            <a:pPr>
              <a:spcAft>
                <a:spcPts val="600"/>
              </a:spcAft>
            </a:pPr>
            <a:r>
              <a:rPr sz="1500">
                <a:solidFill>
                  <a:srgbClr val="22282E"/>
                </a:solidFill>
              </a:rPr>
              <a:t>•  Normalización — Conversión a formas comparables sin asumir identidad.</a:t>
            </a:r>
          </a:p>
          <a:p>
            <a:pPr>
              <a:spcAft>
                <a:spcPts val="600"/>
              </a:spcAft>
            </a:pPr>
            <a:r>
              <a:rPr sz="1500">
                <a:solidFill>
                  <a:srgbClr val="22282E"/>
                </a:solidFill>
              </a:rPr>
              <a:t>•  Arista — Relación tipada entre nodos, con fuente y tiempo.</a:t>
            </a:r>
          </a:p>
          <a:p>
            <a:pPr>
              <a:spcAft>
                <a:spcPts val="600"/>
              </a:spcAft>
            </a:pPr>
            <a:r>
              <a:rPr sz="1500">
                <a:solidFill>
                  <a:srgbClr val="22282E"/>
                </a:solidFill>
              </a:rPr>
              <a:t>•  Propagación de error — Ampliación de una asociación incorrecta a resultados posteriores.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domina la automatización cuando selecciona módulos por pregunta y riesgo, conserva configuración y procedencia, revisa relaciones críticas y entrega un grafo cuya leyenda, fuentes y límites…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SpiderFoot: framework de recolección OSINT por módulos. Característica: automatiza cientos de fuentes y correlaciona.</a:t>
            </a:r>
          </a:p>
          <a:p>
            <a:pPr>
              <a:spcAft>
                <a:spcPts val="600"/>
              </a:spcAft>
            </a:pPr>
            <a:r>
              <a:rPr sz="1500">
                <a:solidFill>
                  <a:srgbClr val="22282E"/>
                </a:solidFill>
              </a:rPr>
              <a:t>•  Módulo: plugin que consulta una fuente concreta. Característica: unos son pasivos, otros hacen peticiones activas.</a:t>
            </a:r>
          </a:p>
          <a:p>
            <a:pPr>
              <a:spcAft>
                <a:spcPts val="600"/>
              </a:spcAft>
            </a:pPr>
            <a:r>
              <a:rPr sz="1500">
                <a:solidFill>
                  <a:srgbClr val="22282E"/>
                </a:solidFill>
              </a:rPr>
              <a:t>•  Maltego: herramienta de link analysis basada en entidades y transforms. Característica: convierte datos en grafos navegables.</a:t>
            </a:r>
          </a:p>
          <a:p>
            <a:pPr>
              <a:spcAft>
                <a:spcPts val="600"/>
              </a:spcAft>
            </a:pPr>
            <a:r>
              <a:rPr sz="1500">
                <a:solidFill>
                  <a:srgbClr val="22282E"/>
                </a:solidFill>
              </a:rPr>
              <a:t>•  Transform: operación que, dada una entidad, devuelve entidades relacionadas. Característica: el motor del pivoteo en Maltego.</a:t>
            </a:r>
          </a:p>
          <a:p>
            <a:pPr>
              <a:spcAft>
                <a:spcPts val="600"/>
              </a:spcAft>
            </a:pPr>
            <a:r>
              <a:rPr sz="1500">
                <a:solidFill>
                  <a:srgbClr val="22282E"/>
                </a:solidFill>
              </a:rPr>
              <a:t>•  Entidad: nodo del grafo (dominio, correo, persona, IP). Característica: unidad básica del análisis.</a:t>
            </a:r>
          </a:p>
          <a:p>
            <a:pPr>
              <a:spcAft>
                <a:spcPts val="600"/>
              </a:spcAft>
            </a:pPr>
            <a:r>
              <a:rPr sz="1500">
                <a:solidFill>
                  <a:srgbClr val="22282E"/>
                </a:solidFill>
              </a:rPr>
              <a:t>•  Correlación: regla que agrupa hallazgos relevantes. Característica: reduce ruido y prioriza.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SpiderFoot: pip install spiderfoot o vía Docker; arranca la UI con python3 sf.py -l 127.0.0.1:5001.</a:t>
            </a:r>
          </a:p>
          <a:p>
            <a:pPr>
              <a:spcAft>
                <a:spcPts val="600"/>
              </a:spcAft>
            </a:pPr>
            <a:r>
              <a:rPr sz="1500">
                <a:solidFill>
                  <a:srgbClr val="22282E"/>
                </a:solidFill>
              </a:rPr>
              <a:t>•  API keys: registra claves gratuitas (Shodan, HIBP, VirusTotal, etc.) en Settings para enriquecer.</a:t>
            </a:r>
          </a:p>
          <a:p>
            <a:pPr>
              <a:spcAft>
                <a:spcPts val="600"/>
              </a:spcAft>
            </a:pPr>
            <a:r>
              <a:rPr sz="1500">
                <a:solidFill>
                  <a:srgbClr val="22282E"/>
                </a:solidFill>
              </a:rPr>
              <a:t>•  Maltego: edición Community (CE) gratuita; registra una cuenta y añade transform hubs.</a:t>
            </a:r>
          </a:p>
          <a:p>
            <a:pPr>
              <a:spcAft>
                <a:spcPts val="600"/>
              </a:spcAft>
            </a:pPr>
            <a:r>
              <a:rPr sz="1500">
                <a:solidFill>
                  <a:srgbClr val="22282E"/>
                </a:solidFill>
              </a:rPr>
              <a:t>•  Entorno aislado y sock puppets ya listos; documenta el alcance antes de escanear.</a:t>
            </a:r>
          </a:p>
          <a:p>
            <a:pPr>
              <a:spcAft>
                <a:spcPts val="600"/>
              </a:spcAft>
            </a:pPr>
            <a:r>
              <a:rPr sz="1500">
                <a:solidFill>
                  <a:srgbClr val="22282E"/>
                </a:solidFill>
              </a:rPr>
              <a:t>•  Recordatorio: define el objetivo autorizado y desactiva módulos activos si el alcance es solo pasivo.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Objetivo: un dominio propio o example.com.</a:t>
            </a:r>
          </a:p>
          <a:p>
            <a:pPr>
              <a:spcAft>
                <a:spcPts val="600"/>
              </a:spcAft>
            </a:pPr>
            <a:r>
              <a:rPr sz="1500">
                <a:solidFill>
                  <a:srgbClr val="22282E"/>
                </a:solidFill>
              </a:rPr>
              <a:t>•  Arranca SpiderFoot y crea un scan nuevo con el dominio como objetivo.</a:t>
            </a:r>
          </a:p>
          <a:p>
            <a:pPr>
              <a:spcAft>
                <a:spcPts val="600"/>
              </a:spcAft>
            </a:pPr>
            <a:r>
              <a:rPr sz="1500">
                <a:solidFill>
                  <a:srgbClr val="22282E"/>
                </a:solidFill>
              </a:rPr>
              <a:t>•  Selecciona el modo "Passive" para no tocar al objetivo; revisa qué módulos se activan.</a:t>
            </a:r>
          </a:p>
          <a:p>
            <a:pPr>
              <a:spcAft>
                <a:spcPts val="600"/>
              </a:spcAft>
            </a:pPr>
            <a:r>
              <a:rPr sz="1500">
                <a:solidFill>
                  <a:srgbClr val="22282E"/>
                </a:solidFill>
              </a:rPr>
              <a:t>•  Añade una API key (p. ej. Shodan) en Settings y repite un scan para comparar la cobertura.</a:t>
            </a:r>
          </a:p>
          <a:p>
            <a:pPr>
              <a:spcAft>
                <a:spcPts val="600"/>
              </a:spcAft>
            </a:pPr>
            <a:r>
              <a:rPr sz="1500">
                <a:solidFill>
                  <a:srgbClr val="22282E"/>
                </a:solidFill>
              </a:rPr>
              <a:t>•  Explora los resultados por tipo de dato (correos, subdominios, IPs) y abre la vista de correlaciones.</a:t>
            </a:r>
          </a:p>
          <a:p>
            <a:pPr>
              <a:spcAft>
                <a:spcPts val="600"/>
              </a:spcAft>
            </a:pPr>
            <a:r>
              <a:rPr sz="1500">
                <a:solidFill>
                  <a:srgbClr val="22282E"/>
                </a:solidFill>
              </a:rPr>
              <a:t>•  Exporta los hallazgos a CSV/GEXF para análisis externo.</a:t>
            </a:r>
          </a:p>
          <a:p>
            <a:pPr>
              <a:spcAft>
                <a:spcPts val="600"/>
              </a:spcAft>
            </a:pPr>
            <a:r>
              <a:rPr sz="1500">
                <a:solidFill>
                  <a:srgbClr val="22282E"/>
                </a:solidFill>
              </a:rPr>
              <a:t>•  En Maltego CE, crea un grafo, arrastra una entidad Domain con tu dominio.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Compara un scan pasivo vs. uno con módulos activos y explica las diferencias de huella.</a:t>
            </a:r>
          </a:p>
          <a:p>
            <a:pPr>
              <a:spcAft>
                <a:spcPts val="600"/>
              </a:spcAft>
            </a:pPr>
            <a:r>
              <a:rPr sz="1500">
                <a:solidFill>
                  <a:srgbClr val="22282E"/>
                </a:solidFill>
              </a:rPr>
              <a:t>•  Documenta cómo una API key cambia el volumen y calidad de resultados.</a:t>
            </a:r>
          </a:p>
          <a:p>
            <a:pPr>
              <a:spcAft>
                <a:spcPts val="600"/>
              </a:spcAft>
            </a:pPr>
            <a:r>
              <a:rPr sz="1500">
                <a:solidFill>
                  <a:srgbClr val="22282E"/>
                </a:solidFill>
              </a:rPr>
              <a:t>•  Construye un grafo Maltego de al menos 15 entidades a partir de un dominio.</a:t>
            </a:r>
          </a:p>
          <a:p>
            <a:pPr>
              <a:spcAft>
                <a:spcPts val="600"/>
              </a:spcAft>
            </a:pPr>
            <a:r>
              <a:rPr sz="1500">
                <a:solidFill>
                  <a:srgbClr val="22282E"/>
                </a:solidFill>
              </a:rPr>
              <a:t>•  Identifica 3 correlaciones útiles de SpiderFoot y verifícalas a mano.</a:t>
            </a:r>
          </a:p>
          <a:p>
            <a:pPr>
              <a:spcAft>
                <a:spcPts val="600"/>
              </a:spcAft>
            </a:pPr>
            <a:r>
              <a:rPr sz="1500">
                <a:solidFill>
                  <a:srgbClr val="22282E"/>
                </a:solidFill>
              </a:rPr>
              <a:t>•  Explica un caso en que la automatización generó un falso positivo y cómo lo detectaste.</a:t>
            </a:r>
          </a:p>
          <a:p>
            <a:pPr>
              <a:spcAft>
                <a:spcPts val="600"/>
              </a:spcAft>
            </a:pPr>
            <a:r>
              <a:rPr sz="1500">
                <a:solidFill>
                  <a:srgbClr val="22282E"/>
                </a:solidFill>
              </a:rPr>
              <a:t>•  Diseña un flujo que combine SpiderFoot (recolección) y Maltego (visualización).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informe OSINT automatizado de un objetivo autorizado que incluya: configuración del</a:t>
            </a:r>
          </a:p>
          <a:p>
            <a:pPr>
              <a:spcAft>
                <a:spcPts val="600"/>
              </a:spcAft>
            </a:pPr>
            <a:r>
              <a:rPr sz="1500">
                <a:solidFill>
                  <a:srgbClr val="22282E"/>
                </a:solidFill>
              </a:rPr>
              <a:t>•  scan (modo y módulos), grafo de relaciones exportado y una tabla de hallazgos verificados</a:t>
            </a:r>
          </a:p>
          <a:p>
            <a:pPr>
              <a:spcAft>
                <a:spcPts val="600"/>
              </a:spcAft>
            </a:pPr>
            <a:r>
              <a:rPr sz="1500">
                <a:solidFill>
                  <a:srgbClr val="22282E"/>
                </a:solidFill>
              </a:rPr>
              <a:t>•  manualmente con nivel de confianza.</a:t>
            </a:r>
          </a:p>
          <a:p>
            <a:pPr>
              <a:spcAft>
                <a:spcPts val="600"/>
              </a:spcAft>
            </a:pPr>
            <a:r>
              <a:rPr sz="1500">
                <a:solidFill>
                  <a:srgbClr val="22282E"/>
                </a:solidFill>
              </a:rPr>
              <a:t>•  Criterio de aceptación: el informe demuestra que el escaneo respetó el alcance (pasivo si así se</a:t>
            </a:r>
          </a:p>
          <a:p>
            <a:pPr>
              <a:spcAft>
                <a:spcPts val="600"/>
              </a:spcAft>
            </a:pPr>
            <a:r>
              <a:rPr sz="1500">
                <a:solidFill>
                  <a:srgbClr val="22282E"/>
                </a:solidFill>
              </a:rPr>
              <a:t>•  definió) y cada hallazgo relevante fue verificado fuera de la herramienta.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Escaneo genera mucho tráfico al objetivo — Se activaron módulos activos. Cambia a modo pasivo o limita módulos.</a:t>
            </a:r>
          </a:p>
          <a:p>
            <a:pPr>
              <a:spcAft>
                <a:spcPts val="600"/>
              </a:spcAft>
            </a:pPr>
            <a:r>
              <a:rPr sz="1500">
                <a:solidFill>
                  <a:srgbClr val="22282E"/>
                </a:solidFill>
              </a:rPr>
              <a:t>•  Pocos resultados — Faltan API keys. Configúralas en Settings.</a:t>
            </a:r>
          </a:p>
          <a:p>
            <a:pPr>
              <a:spcAft>
                <a:spcPts val="600"/>
              </a:spcAft>
            </a:pPr>
            <a:r>
              <a:rPr sz="1500">
                <a:solidFill>
                  <a:srgbClr val="22282E"/>
                </a:solidFill>
              </a:rPr>
              <a:t>•  Grafo Maltego saturado e ilegible — Demasiadas entidades. Filtra, agrupa y usa layouts.</a:t>
            </a:r>
          </a:p>
          <a:p>
            <a:pPr>
              <a:spcAft>
                <a:spcPts val="600"/>
              </a:spcAft>
            </a:pPr>
            <a:r>
              <a:rPr sz="1500">
                <a:solidFill>
                  <a:srgbClr val="22282E"/>
                </a:solidFill>
              </a:rPr>
              <a:t>•  Transforms fallan — Cuota agotada o transform hub no instalado. Revisa límites y reintenta.</a:t>
            </a:r>
          </a:p>
          <a:p>
            <a:pPr>
              <a:spcAft>
                <a:spcPts val="600"/>
              </a:spcAft>
            </a:pPr>
            <a:r>
              <a:rPr sz="1500">
                <a:solidFill>
                  <a:srgbClr val="22282E"/>
                </a:solidFill>
              </a:rPr>
              <a:t>•  Resultados contradictorios — Fuentes desactualizadas. Verifica manualmente antes de concluir.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¿SpiderFoot es siempre pasivo?</a:t>
            </a:r>
          </a:p>
          <a:p>
            <a:pPr>
              <a:spcAft>
                <a:spcPts val="600"/>
              </a:spcAft>
            </a:pPr>
            <a:r>
              <a:rPr sz="1500">
                <a:solidFill>
                  <a:srgbClr val="22282E"/>
                </a:solidFill>
              </a:rPr>
              <a:t>•  No. Tiene módulos activos que consultan al objetivo (DNS, HTTP). Usa el modo pasivo si tu alcance lo</a:t>
            </a:r>
          </a:p>
          <a:p>
            <a:pPr>
              <a:spcAft>
                <a:spcPts val="600"/>
              </a:spcAft>
            </a:pPr>
            <a:r>
              <a:rPr sz="1500">
                <a:solidFill>
                  <a:srgbClr val="22282E"/>
                </a:solidFill>
              </a:rPr>
              <a:t>•  exige.</a:t>
            </a:r>
          </a:p>
          <a:p>
            <a:pPr>
              <a:spcAft>
                <a:spcPts val="600"/>
              </a:spcAft>
            </a:pPr>
            <a:r>
              <a:rPr sz="1500">
                <a:solidFill>
                  <a:srgbClr val="22282E"/>
                </a:solidFill>
              </a:rPr>
              <a:t>•  ❓ ¿Maltego CE sirve profesionalmente?</a:t>
            </a:r>
          </a:p>
          <a:p>
            <a:pPr>
              <a:spcAft>
                <a:spcPts val="600"/>
              </a:spcAft>
            </a:pPr>
            <a:r>
              <a:rPr sz="1500">
                <a:solidFill>
                  <a:srgbClr val="22282E"/>
                </a:solidFill>
              </a:rPr>
              <a:t>•  Para aprender y grafos pequeños sí. Tiene límites de entidades por transform; la edición comercial</a:t>
            </a:r>
          </a:p>
          <a:p>
            <a:pPr>
              <a:spcAft>
                <a:spcPts val="600"/>
              </a:spcAft>
            </a:pPr>
            <a:r>
              <a:rPr sz="1500">
                <a:solidFill>
                  <a:srgbClr val="22282E"/>
                </a:solidFill>
              </a:rPr>
              <a:t>•  levanta esos límites.</a:t>
            </a:r>
          </a:p>
          <a:p>
            <a:pPr>
              <a:spcAft>
                <a:spcPts val="600"/>
              </a:spcAft>
            </a:pPr>
            <a:r>
              <a:rPr sz="1500">
                <a:solidFill>
                  <a:srgbClr val="22282E"/>
                </a:solidFill>
              </a:rPr>
              <a:t>•  ❓ ¿La automatización reemplaza al analista?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SpiderFoot — Docs. &lt;https://github.com/smicallef/spiderfoot&gt;</a:t>
            </a:r>
          </a:p>
          <a:p>
            <a:pPr>
              <a:spcAft>
                <a:spcPts val="600"/>
              </a:spcAft>
            </a:pPr>
            <a:r>
              <a:rPr sz="1500">
                <a:solidFill>
                  <a:srgbClr val="22282E"/>
                </a:solidFill>
              </a:rPr>
              <a:t>•  Maltego — Learn. &lt;https://www.maltego.com/&gt;</a:t>
            </a:r>
          </a:p>
          <a:p>
            <a:pPr>
              <a:spcAft>
                <a:spcPts val="600"/>
              </a:spcAft>
            </a:pPr>
            <a:r>
              <a:rPr sz="1500">
                <a:solidFill>
                  <a:srgbClr val="22282E"/>
                </a:solidFill>
              </a:rPr>
              <a:t>•  Bazzell, M. Open Source Intelligence Techniques. &lt;https://inteltechniques.com/book1.html&gt;</a:t>
            </a:r>
          </a:p>
          <a:p>
            <a:pPr>
              <a:spcAft>
                <a:spcPts val="600"/>
              </a:spcAft>
            </a:pPr>
            <a:r>
              <a:rPr sz="1500">
                <a:solidFill>
                  <a:srgbClr val="22282E"/>
                </a:solidFill>
              </a:rPr>
              <a:t>•  OSINT Framework. &lt;https://osintframework.com/&gt;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013feebff3a730c5.png"/>
          <p:cNvPicPr>
            <a:picLocks noChangeAspect="1"/>
          </p:cNvPicPr>
          <p:nvPr/>
        </p:nvPicPr>
        <p:blipFill>
          <a:blip r:embed="rId2"/>
          <a:stretch>
            <a:fillRect/>
          </a:stretch>
        </p:blipFill>
        <p:spPr>
          <a:xfrm>
            <a:off x="457200" y="3351276"/>
            <a:ext cx="8229600" cy="7955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