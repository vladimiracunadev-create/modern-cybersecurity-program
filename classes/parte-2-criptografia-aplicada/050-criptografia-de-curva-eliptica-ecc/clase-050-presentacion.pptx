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050 — Criptografía de curva elíptica (ECC)</a:t>
            </a:r>
          </a:p>
          <a:p>
            <a:r>
              <a:rPr sz="1600">
                <a:solidFill>
                  <a:srgbClr val="2E8B57"/>
                </a:solidFill>
              </a:rPr>
              <a:t>parte 2 criptografia aplicada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Entender por qué la criptografía de curva elíptica logra la misma seguridad que RSA con claves mucho más pequeñas, en qué consiste el problema del logaritmo discreto sobre curvas elípticas (ECDLP), 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intuitivamente la suma de puntos y la multiplicación escalar en una curva.</a:t>
            </a:r>
          </a:p>
          <a:p>
            <a:pPr>
              <a:spcAft>
                <a:spcPts val="600"/>
              </a:spcAft>
            </a:pPr>
            <a:r>
              <a:rPr sz="1500">
                <a:solidFill>
                  <a:srgbClr val="22282E"/>
                </a:solidFill>
              </a:rPr>
              <a:t>•  Justificar por qué ECC ofrece 128 bits de seguridad con claves de 256 bits.</a:t>
            </a:r>
          </a:p>
          <a:p>
            <a:pPr>
              <a:spcAft>
                <a:spcPts val="600"/>
              </a:spcAft>
            </a:pPr>
            <a:r>
              <a:rPr sz="1500">
                <a:solidFill>
                  <a:srgbClr val="22282E"/>
                </a:solidFill>
              </a:rPr>
              <a:t>•  Identificar las curvas recomendadas (P-256, Curve25519, Ed25519) y sus usos.</a:t>
            </a:r>
          </a:p>
          <a:p>
            <a:pPr>
              <a:spcAft>
                <a:spcPts val="600"/>
              </a:spcAft>
            </a:pPr>
            <a:r>
              <a:rPr sz="1500">
                <a:solidFill>
                  <a:srgbClr val="22282E"/>
                </a:solidFill>
              </a:rPr>
              <a:t>•  Generar claves EC y realizar un ECDH con OpenSSL/Python.</a:t>
            </a:r>
          </a:p>
          <a:p>
            <a:pPr>
              <a:spcAft>
                <a:spcPts val="600"/>
              </a:spcAft>
            </a:pPr>
            <a:r>
              <a:rPr sz="1500">
                <a:solidFill>
                  <a:srgbClr val="22282E"/>
                </a:solidFill>
              </a:rPr>
              <a:t>•  Comparar ECC frente a RSA en tamaño, velocidad y adopción.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Curvas elípticas sobre campos finitos</a:t>
            </a:r>
          </a:p>
          <a:p>
            <a:pPr>
              <a:spcAft>
                <a:spcPts val="600"/>
              </a:spcAft>
            </a:pPr>
            <a:r>
              <a:rPr sz="1500">
                <a:solidFill>
                  <a:srgbClr val="22282E"/>
                </a:solidFill>
              </a:rPr>
              <a:t>•  2 — Suma de puntos y multiplicación escalar</a:t>
            </a:r>
          </a:p>
          <a:p>
            <a:pPr>
              <a:spcAft>
                <a:spcPts val="600"/>
              </a:spcAft>
            </a:pPr>
            <a:r>
              <a:rPr sz="1500">
                <a:solidFill>
                  <a:srgbClr val="22282E"/>
                </a:solidFill>
              </a:rPr>
              <a:t>•  3 — ECDLP</a:t>
            </a:r>
          </a:p>
          <a:p>
            <a:pPr>
              <a:spcAft>
                <a:spcPts val="600"/>
              </a:spcAft>
            </a:pPr>
            <a:r>
              <a:rPr sz="1500">
                <a:solidFill>
                  <a:srgbClr val="22282E"/>
                </a:solidFill>
              </a:rPr>
              <a:t>•  4 — Curvas NIST vs Curve25519</a:t>
            </a:r>
          </a:p>
          <a:p>
            <a:pPr>
              <a:spcAft>
                <a:spcPts val="600"/>
              </a:spcAft>
            </a:pPr>
            <a:r>
              <a:rPr sz="1500">
                <a:solidFill>
                  <a:srgbClr val="22282E"/>
                </a:solidFill>
              </a:rPr>
              <a:t>•  5 — ECDH / X25519</a:t>
            </a:r>
          </a:p>
          <a:p>
            <a:pPr>
              <a:spcAft>
                <a:spcPts val="600"/>
              </a:spcAft>
            </a:pPr>
            <a:r>
              <a:rPr sz="1500">
                <a:solidFill>
                  <a:srgbClr val="22282E"/>
                </a:solidFill>
              </a:rPr>
              <a:t>•  6 — ECDSA / Ed25519</a:t>
            </a:r>
          </a:p>
          <a:p>
            <a:pPr>
              <a:spcAft>
                <a:spcPts val="600"/>
              </a:spcAft>
            </a:pPr>
            <a:r>
              <a:rPr sz="1500">
                <a:solidFill>
                  <a:srgbClr val="22282E"/>
                </a:solidFill>
              </a:rPr>
              <a:t>•  7 — ECC vs RSA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criptografía de curva elíptica resuelve el mismo problema que RSA con otra estructura</a:t>
            </a:r>
          </a:p>
          <a:p>
            <a:pPr>
              <a:spcAft>
                <a:spcPts val="600"/>
              </a:spcAft>
            </a:pPr>
            <a:r>
              <a:rPr sz="1500">
                <a:solidFill>
                  <a:srgbClr val="22282E"/>
                </a:solidFill>
              </a:rPr>
              <a:t>•  matemática, y su ventaja es puramente cuantitativa pero decisiva: una clave ECC de 256</a:t>
            </a:r>
          </a:p>
          <a:p>
            <a:pPr>
              <a:spcAft>
                <a:spcPts val="600"/>
              </a:spcAft>
            </a:pPr>
            <a:r>
              <a:rPr sz="1500">
                <a:solidFill>
                  <a:srgbClr val="22282E"/>
                </a:solidFill>
              </a:rPr>
              <a:t>•  bits ofrece aproximadamente la seguridad de una RSA de 3072 bits. Claves más cortas</a:t>
            </a:r>
          </a:p>
          <a:p>
            <a:pPr>
              <a:spcAft>
                <a:spcPts val="600"/>
              </a:spcAft>
            </a:pPr>
            <a:r>
              <a:rPr sz="1500">
                <a:solidFill>
                  <a:srgbClr val="22282E"/>
                </a:solidFill>
              </a:rPr>
              <a:t>•  significan firmas más pequeñas, handshakes más rápidos, menos ancho de banda y menos</a:t>
            </a:r>
          </a:p>
          <a:p>
            <a:pPr>
              <a:spcAft>
                <a:spcPts val="600"/>
              </a:spcAft>
            </a:pPr>
            <a:r>
              <a:rPr sz="1500">
                <a:solidFill>
                  <a:srgbClr val="22282E"/>
                </a:solidFill>
              </a:rPr>
              <a:t>•  consumo, lo que importa mucho en móviles, IoT y en cada conexión TLS del planeta. Por eso</a:t>
            </a:r>
          </a:p>
          <a:p>
            <a:pPr>
              <a:spcAft>
                <a:spcPts val="600"/>
              </a:spcAft>
            </a:pPr>
            <a:r>
              <a:rPr sz="1500">
                <a:solidFill>
                  <a:srgbClr val="22282E"/>
                </a:solidFill>
              </a:rPr>
              <a:t>•  ECC es hoy el valor por defecto y RSA el legado que se mantiene por compatibilidad.</a:t>
            </a:r>
          </a:p>
          <a:p>
            <a:pPr>
              <a:spcAft>
                <a:spcPts val="600"/>
              </a:spcAft>
            </a:pPr>
            <a:r>
              <a:rPr sz="1500">
                <a:solidFill>
                  <a:srgbClr val="22282E"/>
                </a:solidFill>
              </a:rPr>
              <a:t>•  La estructura es una curva elíptica sobre un campo finito: el conjunto de puntos que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Curva elíptica: conjunto de puntos que satisfacen y² = x³ + ax + b sobre un campo finito, con una operación de grupo. Característica: permite cripto con claves pequeñas.</a:t>
            </a:r>
          </a:p>
          <a:p>
            <a:pPr>
              <a:spcAft>
                <a:spcPts val="600"/>
              </a:spcAft>
            </a:pPr>
            <a:r>
              <a:rPr sz="1500">
                <a:solidFill>
                  <a:srgbClr val="22282E"/>
                </a:solidFill>
              </a:rPr>
              <a:t>•  Multiplicación escalar: Q = k·P (sumar P consigo mismo k veces). Fácil hacia adelante, difícil de invertir (ECDLP).</a:t>
            </a:r>
          </a:p>
          <a:p>
            <a:pPr>
              <a:spcAft>
                <a:spcPts val="600"/>
              </a:spcAft>
            </a:pPr>
            <a:r>
              <a:rPr sz="1500">
                <a:solidFill>
                  <a:srgbClr val="22282E"/>
                </a:solidFill>
              </a:rPr>
              <a:t>•  ECDLP: dado P y Q = k·P, hallar k es computacionalmente inviable. Base de ECC.</a:t>
            </a:r>
          </a:p>
          <a:p>
            <a:pPr>
              <a:spcAft>
                <a:spcPts val="600"/>
              </a:spcAft>
            </a:pPr>
            <a:r>
              <a:rPr sz="1500">
                <a:solidFill>
                  <a:srgbClr val="22282E"/>
                </a:solidFill>
              </a:rPr>
              <a:t>•  Curve25519 / X25519: curva de Bernstein optimizada para ECDH; rápida, segura y resistente a errores de implementación.</a:t>
            </a:r>
          </a:p>
          <a:p>
            <a:pPr>
              <a:spcAft>
                <a:spcPts val="600"/>
              </a:spcAft>
            </a:pPr>
            <a:r>
              <a:rPr sz="1500">
                <a:solidFill>
                  <a:srgbClr val="22282E"/>
                </a:solidFill>
              </a:rPr>
              <a:t>•  Ed25519: esquema de firma sobre la curva Edwards25519; determinista y de alto rendimiento.</a:t>
            </a:r>
          </a:p>
          <a:p>
            <a:pPr>
              <a:spcAft>
                <a:spcPts val="600"/>
              </a:spcAft>
            </a:pPr>
            <a:r>
              <a:rPr sz="1500">
                <a:solidFill>
                  <a:srgbClr val="22282E"/>
                </a:solidFill>
              </a:rPr>
              <a:t>•  P-256 (secp256r1): curva NIST muy usada en TLS y certificados.</a:t>
            </a:r>
          </a:p>
          <a:p>
            <a:pPr>
              <a:spcAft>
                <a:spcPts val="600"/>
              </a:spcAft>
            </a:pPr>
            <a:r>
              <a:rPr sz="1500">
                <a:solidFill>
                  <a:srgbClr val="22282E"/>
                </a:solidFill>
              </a:rPr>
              <a:t>•  Cofactor y validación de puntos: verificar que un punto pertenece a la curva evita ataques de curva inválida.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Curva elíptica — Conjunto de puntos que cumplen y² = x³ + ax + b sobre un campo finito</a:t>
            </a:r>
          </a:p>
          <a:p>
            <a:pPr>
              <a:spcAft>
                <a:spcPts val="600"/>
              </a:spcAft>
            </a:pPr>
            <a:r>
              <a:rPr sz="1500">
                <a:solidFill>
                  <a:srgbClr val="22282E"/>
                </a:solidFill>
              </a:rPr>
              <a:t>•  Campo finito — Aritmética modular sobre un primo, donde vive la curva</a:t>
            </a:r>
          </a:p>
          <a:p>
            <a:pPr>
              <a:spcAft>
                <a:spcPts val="600"/>
              </a:spcAft>
            </a:pPr>
            <a:r>
              <a:rPr sz="1500">
                <a:solidFill>
                  <a:srgbClr val="22282E"/>
                </a:solidFill>
              </a:rPr>
              <a:t>•  Punto generador G — Punto base público fijado por los parámetros de la curva</a:t>
            </a:r>
          </a:p>
          <a:p>
            <a:pPr>
              <a:spcAft>
                <a:spcPts val="600"/>
              </a:spcAft>
            </a:pPr>
            <a:r>
              <a:rPr sz="1500">
                <a:solidFill>
                  <a:srgbClr val="22282E"/>
                </a:solidFill>
              </a:rPr>
              <a:t>•  Multiplicación escalar — Sumar G consigo mismo k veces; operación fundamental</a:t>
            </a:r>
          </a:p>
          <a:p>
            <a:pPr>
              <a:spcAft>
                <a:spcPts val="600"/>
              </a:spcAft>
            </a:pPr>
            <a:r>
              <a:rPr sz="1500">
                <a:solidFill>
                  <a:srgbClr val="22282E"/>
                </a:solidFill>
              </a:rPr>
              <a:t>•  ECDLP — Hallar k conocidos G y k·G; base de la seguridad</a:t>
            </a:r>
          </a:p>
          <a:p>
            <a:pPr>
              <a:spcAft>
                <a:spcPts val="600"/>
              </a:spcAft>
            </a:pPr>
            <a:r>
              <a:rPr sz="1500">
                <a:solidFill>
                  <a:srgbClr val="22282E"/>
                </a:solidFill>
              </a:rPr>
              <a:t>•  Curvas NIST (P-256…) — Estándares extendidos; parámetros de origen discutido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Entorno de laboratorio propio. La generación de claves es local.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Genera una clave EC P-256:</a:t>
            </a:r>
          </a:p>
          <a:p>
            <a:pPr>
              <a:spcAft>
                <a:spcPts val="600"/>
              </a:spcAft>
            </a:pPr>
            <a:r>
              <a:rPr sz="1500">
                <a:solidFill>
                  <a:srgbClr val="22282E"/>
                </a:solidFill>
              </a:rPr>
              <a:t>•  Compara tamaños: observa que una clave EC de 256 bits equivale en seguridad a una RSA de 3072 bits; la clave EC es mucho más compacta.</a:t>
            </a:r>
          </a:p>
          <a:p>
            <a:pPr>
              <a:spcAft>
                <a:spcPts val="600"/>
              </a:spcAft>
            </a:pPr>
            <a:r>
              <a:rPr sz="1500">
                <a:solidFill>
                  <a:srgbClr val="22282E"/>
                </a:solidFill>
              </a:rPr>
              <a:t>•  ECDH con X25519 en Python (dos partes derivan el mismo secreto):</a:t>
            </a:r>
          </a:p>
          <a:p>
            <a:pPr>
              <a:spcAft>
                <a:spcPts val="600"/>
              </a:spcAft>
            </a:pPr>
            <a:r>
              <a:rPr sz="1500">
                <a:solidFill>
                  <a:srgbClr val="22282E"/>
                </a:solidFill>
              </a:rPr>
              <a:t>•  Firma con Ed25519:</a:t>
            </a:r>
          </a:p>
          <a:p>
            <a:pPr>
              <a:spcAft>
                <a:spcPts val="600"/>
              </a:spcAft>
            </a:pPr>
            <a:r>
              <a:rPr sz="1500">
                <a:solidFill>
                  <a:srgbClr val="22282E"/>
                </a:solidFill>
              </a:rPr>
              <a:t>•  Benchmark. Mide operaciones/segundo de ECDSA P-256 vs firma RSA-3072 con openssl speed.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un dibujo la suma de dos puntos en una curva sobre los reales.</a:t>
            </a:r>
          </a:p>
          <a:p>
            <a:pPr>
              <a:spcAft>
                <a:spcPts val="600"/>
              </a:spcAft>
            </a:pPr>
            <a:r>
              <a:rPr sz="1500">
                <a:solidFill>
                  <a:srgbClr val="22282E"/>
                </a:solidFill>
              </a:rPr>
              <a:t>•  ¿Por qué claves EC más pequeñas dan la misma seguridad que RSA grandes?</a:t>
            </a:r>
          </a:p>
          <a:p>
            <a:pPr>
              <a:spcAft>
                <a:spcPts val="600"/>
              </a:spcAft>
            </a:pPr>
            <a:r>
              <a:rPr sz="1500">
                <a:solidFill>
                  <a:srgbClr val="22282E"/>
                </a:solidFill>
              </a:rPr>
              <a:t>•  Genera un secreto compartido con X25519 entre dos pares y verifica que coinciden.</a:t>
            </a:r>
          </a:p>
          <a:p>
            <a:pPr>
              <a:spcAft>
                <a:spcPts val="600"/>
              </a:spcAft>
            </a:pPr>
            <a:r>
              <a:rPr sz="1500">
                <a:solidFill>
                  <a:srgbClr val="22282E"/>
                </a:solidFill>
              </a:rPr>
              <a:t>•  Investiga la polémica de la curva DualECDRBG y la confianza en parámetros.</a:t>
            </a:r>
          </a:p>
          <a:p>
            <a:pPr>
              <a:spcAft>
                <a:spcPts val="600"/>
              </a:spcAft>
            </a:pPr>
            <a:r>
              <a:rPr sz="1500">
                <a:solidFill>
                  <a:srgbClr val="22282E"/>
                </a:solidFill>
              </a:rPr>
              <a:t>•  Compara Ed25519 con ECDSA en cuanto a determinismo y riesgo de nonce.</a:t>
            </a:r>
          </a:p>
          <a:p>
            <a:pPr>
              <a:spcAft>
                <a:spcPts val="600"/>
              </a:spcAft>
            </a:pPr>
            <a:r>
              <a:rPr sz="1500">
                <a:solidFill>
                  <a:srgbClr val="22282E"/>
                </a:solidFill>
              </a:rPr>
              <a:t>•  ¿Por qué validar puntos recibidos evita ataques de curva inválida?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Implementa un mini protocolo de establecimiento de canal: dos partes hacen ECDH (X25519), derivan una clave con HKDF y la usan para cifrar un mensaje con AES-GCM. Criterio de aceptación: ambas partes…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Secretos ECDH distintos — Curvas o codificaciones distintas; usa la misma curva</a:t>
            </a:r>
          </a:p>
          <a:p>
            <a:pPr>
              <a:spcAft>
                <a:spcPts val="600"/>
              </a:spcAft>
            </a:pPr>
            <a:r>
              <a:rPr sz="1500">
                <a:solidFill>
                  <a:srgbClr val="22282E"/>
                </a:solidFill>
              </a:rPr>
              <a:t>•  ECDSA roto por nonce reutilizado — Nonce k repetido revela la clave; usa RFC 6979 o Ed25519</a:t>
            </a:r>
          </a:p>
          <a:p>
            <a:pPr>
              <a:spcAft>
                <a:spcPts val="600"/>
              </a:spcAft>
            </a:pPr>
            <a:r>
              <a:rPr sz="1500">
                <a:solidFill>
                  <a:srgbClr val="22282E"/>
                </a:solidFill>
              </a:rPr>
              <a:t>•  Punto público no validado — Riesgo de curva inválida; valida pertenencia a la curva</a:t>
            </a:r>
          </a:p>
          <a:p>
            <a:pPr>
              <a:spcAft>
                <a:spcPts val="600"/>
              </a:spcAft>
            </a:pPr>
            <a:r>
              <a:rPr sz="1500">
                <a:solidFill>
                  <a:srgbClr val="22282E"/>
                </a:solidFill>
              </a:rPr>
              <a:t>•  Uso de curvas débiles/obsoletas — Elige P-256, P-384 o Curve25519</a:t>
            </a:r>
          </a:p>
          <a:p>
            <a:pPr>
              <a:spcAft>
                <a:spcPts val="600"/>
              </a:spcAft>
            </a:pPr>
            <a:r>
              <a:rPr sz="1500">
                <a:solidFill>
                  <a:srgbClr val="22282E"/>
                </a:solidFill>
              </a:rPr>
              <a:t>•  Confundir clave de firma con clave de ECDH — Separa propósitos; no reutilices el par de claves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¿ECC o RSA?</a:t>
            </a:r>
          </a:p>
          <a:p>
            <a:pPr>
              <a:spcAft>
                <a:spcPts val="600"/>
              </a:spcAft>
            </a:pPr>
            <a:r>
              <a:rPr sz="1500">
                <a:solidFill>
                  <a:srgbClr val="22282E"/>
                </a:solidFill>
              </a:rPr>
              <a:t>•  ECC para nuevos diseños: claves pequeñas, rápido, adoptado por TLS 1.3. RSA persiste por compatibilidad.</a:t>
            </a:r>
          </a:p>
          <a:p>
            <a:pPr>
              <a:spcAft>
                <a:spcPts val="600"/>
              </a:spcAft>
            </a:pPr>
            <a:r>
              <a:rPr sz="1500">
                <a:solidFill>
                  <a:srgbClr val="22282E"/>
                </a:solidFill>
              </a:rPr>
              <a:t>•  ❓ ¿Curvas NIST o Curve25519?</a:t>
            </a:r>
          </a:p>
          <a:p>
            <a:pPr>
              <a:spcAft>
                <a:spcPts val="600"/>
              </a:spcAft>
            </a:pPr>
            <a:r>
              <a:rPr sz="1500">
                <a:solidFill>
                  <a:srgbClr val="22282E"/>
                </a:solidFill>
              </a:rPr>
              <a:t>•  Curve25519/Ed25519 minimizan errores de implementación y no dependen de constantes de origen dudoso; muy recomendadas.</a:t>
            </a:r>
          </a:p>
          <a:p>
            <a:pPr>
              <a:spcAft>
                <a:spcPts val="600"/>
              </a:spcAft>
            </a:pPr>
            <a:r>
              <a:rPr sz="1500">
                <a:solidFill>
                  <a:srgbClr val="22282E"/>
                </a:solidFill>
              </a:rPr>
              <a:t>•  ❓ ¿ECC resiste computación cuántica?</a:t>
            </a:r>
          </a:p>
          <a:p>
            <a:pPr>
              <a:spcAft>
                <a:spcPts val="600"/>
              </a:spcAft>
            </a:pPr>
            <a:r>
              <a:rPr sz="1500">
                <a:solidFill>
                  <a:srgbClr val="22282E"/>
                </a:solidFill>
              </a:rPr>
              <a:t>•  No; como RSA, cae ante Shor. Por eso existe la criptografía post-cuántica (clase 062).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Aumasson, Serious Cryptography, cap. 12.</a:t>
            </a:r>
          </a:p>
          <a:p>
            <a:pPr>
              <a:spcAft>
                <a:spcPts val="600"/>
              </a:spcAft>
            </a:pPr>
            <a:r>
              <a:rPr sz="1500">
                <a:solidFill>
                  <a:srgbClr val="22282E"/>
                </a:solidFill>
              </a:rPr>
              <a:t>•  Wong, Real-World Cryptography, cap. 5–7.</a:t>
            </a:r>
          </a:p>
          <a:p>
            <a:pPr>
              <a:spcAft>
                <a:spcPts val="600"/>
              </a:spcAft>
            </a:pPr>
            <a:r>
              <a:rPr sz="1500">
                <a:solidFill>
                  <a:srgbClr val="22282E"/>
                </a:solidFill>
              </a:rPr>
              <a:t>•  RFC 7748 (Curve25519/X25519) — &lt;https://www.rfc-editor.org/rfc/rfc7748&gt;</a:t>
            </a:r>
          </a:p>
          <a:p>
            <a:pPr>
              <a:spcAft>
                <a:spcPts val="600"/>
              </a:spcAft>
            </a:pPr>
            <a:r>
              <a:rPr sz="1500">
                <a:solidFill>
                  <a:srgbClr val="22282E"/>
                </a:solidFill>
              </a:rPr>
              <a:t>•  RFC 8032 (Ed25519) — &lt;https://www.rfc-editor.org/rfc/rfc8032&gt;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baa93290480408fd.png"/>
          <p:cNvPicPr>
            <a:picLocks noChangeAspect="1"/>
          </p:cNvPicPr>
          <p:nvPr/>
        </p:nvPicPr>
        <p:blipFill>
          <a:blip r:embed="rId2"/>
          <a:stretch>
            <a:fillRect/>
          </a:stretch>
        </p:blipFill>
        <p:spPr>
          <a:xfrm>
            <a:off x="457200" y="2816352"/>
            <a:ext cx="8229600" cy="18653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