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056 — TLS/SSL en profundidad</a:t>
            </a:r>
          </a:p>
          <a:p>
            <a:r>
              <a:rPr sz="1600">
                <a:solidFill>
                  <a:srgbClr val="2E8B57"/>
                </a:solidFill>
              </a:rPr>
              <a:t>parte 2 criptografia aplicada</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Entender cómo TLS combina todo lo aprendido (intercambio de claves, firmas, certificados, AEAD) en el protocolo que asegura la web. El alumno analizará el handshake de TLS 1.3, comparará con TLS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Describir el handshake de TLS 1.3 y cómo deriva las claves de sesión.</a:t>
            </a:r>
          </a:p>
          <a:p>
            <a:pPr>
              <a:spcAft>
                <a:spcPts val="600"/>
              </a:spcAft>
            </a:pPr>
            <a:r>
              <a:rPr sz="1500">
                <a:solidFill>
                  <a:srgbClr val="22282E"/>
                </a:solidFill>
              </a:rPr>
              <a:t>•  Comparar TLS 1.2 y 1.3 (rondas, cipher suites, forward secrecy).</a:t>
            </a:r>
          </a:p>
          <a:p>
            <a:pPr>
              <a:spcAft>
                <a:spcPts val="600"/>
              </a:spcAft>
            </a:pPr>
            <a:r>
              <a:rPr sz="1500">
                <a:solidFill>
                  <a:srgbClr val="22282E"/>
                </a:solidFill>
              </a:rPr>
              <a:t>•  Interpretar una cipher suite y sus componentes.</a:t>
            </a:r>
          </a:p>
          <a:p>
            <a:pPr>
              <a:spcAft>
                <a:spcPts val="600"/>
              </a:spcAft>
            </a:pPr>
            <a:r>
              <a:rPr sz="1500">
                <a:solidFill>
                  <a:srgbClr val="22282E"/>
                </a:solidFill>
              </a:rPr>
              <a:t>•  Auditar un servidor TLS con openssl sclient, testssl.sh y Wireshark.</a:t>
            </a:r>
          </a:p>
          <a:p>
            <a:pPr>
              <a:spcAft>
                <a:spcPts val="600"/>
              </a:spcAft>
            </a:pPr>
            <a:r>
              <a:rPr sz="1500">
                <a:solidFill>
                  <a:srgbClr val="22282E"/>
                </a:solidFill>
              </a:rPr>
              <a:t>•  Detectar configuraciones débiles (protocolos viejos, cifrados inseguros).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Pila TLS (record, handshake)</a:t>
            </a:r>
          </a:p>
          <a:p>
            <a:pPr>
              <a:spcAft>
                <a:spcPts val="600"/>
              </a:spcAft>
            </a:pPr>
            <a:r>
              <a:rPr sz="1500">
                <a:solidFill>
                  <a:srgbClr val="22282E"/>
                </a:solidFill>
              </a:rPr>
              <a:t>•  2 — Handshake TLS 1.3</a:t>
            </a:r>
          </a:p>
          <a:p>
            <a:pPr>
              <a:spcAft>
                <a:spcPts val="600"/>
              </a:spcAft>
            </a:pPr>
            <a:r>
              <a:rPr sz="1500">
                <a:solidFill>
                  <a:srgbClr val="22282E"/>
                </a:solidFill>
              </a:rPr>
              <a:t>•  3 — Cipher suites</a:t>
            </a:r>
          </a:p>
          <a:p>
            <a:pPr>
              <a:spcAft>
                <a:spcPts val="600"/>
              </a:spcAft>
            </a:pPr>
            <a:r>
              <a:rPr sz="1500">
                <a:solidFill>
                  <a:srgbClr val="22282E"/>
                </a:solidFill>
              </a:rPr>
              <a:t>•  4 — Forward secrecy y 0-RTT</a:t>
            </a:r>
          </a:p>
          <a:p>
            <a:pPr>
              <a:spcAft>
                <a:spcPts val="600"/>
              </a:spcAft>
            </a:pPr>
            <a:r>
              <a:rPr sz="1500">
                <a:solidFill>
                  <a:srgbClr val="22282E"/>
                </a:solidFill>
              </a:rPr>
              <a:t>•  5 — Diferencias con TLS 1.2</a:t>
            </a:r>
          </a:p>
          <a:p>
            <a:pPr>
              <a:spcAft>
                <a:spcPts val="600"/>
              </a:spcAft>
            </a:pPr>
            <a:r>
              <a:rPr sz="1500">
                <a:solidFill>
                  <a:srgbClr val="22282E"/>
                </a:solidFill>
              </a:rPr>
              <a:t>•  6 — Auditoría de servidor</a:t>
            </a:r>
          </a:p>
          <a:p>
            <a:pPr>
              <a:spcAft>
                <a:spcPts val="600"/>
              </a:spcAft>
            </a:pPr>
            <a:r>
              <a:rPr sz="1500">
                <a:solidFill>
                  <a:srgbClr val="22282E"/>
                </a:solidFill>
              </a:rPr>
              <a:t>•  7 — Ataques históricos (BEAST, POODLE)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Explicación en profundidad</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TLS no aporta primitivas nuevas: compone las de las clases previas para conseguir un</a:t>
            </a:r>
          </a:p>
          <a:p>
            <a:pPr>
              <a:spcAft>
                <a:spcPts val="600"/>
              </a:spcAft>
            </a:pPr>
            <a:r>
              <a:rPr sz="1500">
                <a:solidFill>
                  <a:srgbClr val="22282E"/>
                </a:solidFill>
              </a:rPr>
              <a:t>•  canal con confidencialidad, integridad y autenticación del servidor. Usa ECDHE para</a:t>
            </a:r>
          </a:p>
          <a:p>
            <a:pPr>
              <a:spcAft>
                <a:spcPts val="600"/>
              </a:spcAft>
            </a:pPr>
            <a:r>
              <a:rPr sz="1500">
                <a:solidFill>
                  <a:srgbClr val="22282E"/>
                </a:solidFill>
              </a:rPr>
              <a:t>•  acordar la clave con forward secrecy (clase 053), una firma y un certificado X.509</a:t>
            </a:r>
          </a:p>
          <a:p>
            <a:pPr>
              <a:spcAft>
                <a:spcPts val="600"/>
              </a:spcAft>
            </a:pPr>
            <a:r>
              <a:rPr sz="1500">
                <a:solidFill>
                  <a:srgbClr val="22282E"/>
                </a:solidFill>
              </a:rPr>
              <a:t>•  para autenticar al servidor (clases 054 y 055), HKDF para derivar las claves de</a:t>
            </a:r>
          </a:p>
          <a:p>
            <a:pPr>
              <a:spcAft>
                <a:spcPts val="600"/>
              </a:spcAft>
            </a:pPr>
            <a:r>
              <a:rPr sz="1500">
                <a:solidFill>
                  <a:srgbClr val="22282E"/>
                </a:solidFill>
              </a:rPr>
              <a:t>•  sesión, y un AEAD —AES-GCM o ChaCha20-Poly1305— para proteger los datos (clase 059).</a:t>
            </a:r>
          </a:p>
          <a:p>
            <a:pPr>
              <a:spcAft>
                <a:spcPts val="600"/>
              </a:spcAft>
            </a:pPr>
            <a:r>
              <a:rPr sz="1500">
                <a:solidFill>
                  <a:srgbClr val="22282E"/>
                </a:solidFill>
              </a:rPr>
              <a:t>•  Estudiar TLS es, en la práctica, comprobar que se entendió todo lo demás.</a:t>
            </a:r>
          </a:p>
          <a:p>
            <a:pPr>
              <a:spcAft>
                <a:spcPts val="600"/>
              </a:spcAft>
            </a:pPr>
            <a:r>
              <a:rPr sz="1500">
                <a:solidFill>
                  <a:srgbClr val="22282E"/>
                </a:solidFill>
              </a:rPr>
              <a:t>•  Estructuralmente son dos capas. El protocolo de handshake negocia parámetros,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TLS (Transport Layer Security): protocolo que da confidencialidad, integridad y autenticación sobre TCP. Característica: negocia parámetros en el handshake.</a:t>
            </a:r>
          </a:p>
          <a:p>
            <a:pPr>
              <a:spcAft>
                <a:spcPts val="600"/>
              </a:spcAft>
            </a:pPr>
            <a:r>
              <a:rPr sz="1500">
                <a:solidFill>
                  <a:srgbClr val="22282E"/>
                </a:solidFill>
              </a:rPr>
              <a:t>•  Handshake: fase inicial donde cliente y servidor autentican (certificado), acuerdan claves (ECDHE) y establecen cifrado.</a:t>
            </a:r>
          </a:p>
          <a:p>
            <a:pPr>
              <a:spcAft>
                <a:spcPts val="600"/>
              </a:spcAft>
            </a:pPr>
            <a:r>
              <a:rPr sz="1500">
                <a:solidFill>
                  <a:srgbClr val="22282E"/>
                </a:solidFill>
              </a:rPr>
              <a:t>•  Cipher suite: combinación de algoritmos. En TLS 1.3 se simplifica (p. ej. TLSAES128GCMSHA256): AEAD + hash.</a:t>
            </a:r>
          </a:p>
          <a:p>
            <a:pPr>
              <a:spcAft>
                <a:spcPts val="600"/>
              </a:spcAft>
            </a:pPr>
            <a:r>
              <a:rPr sz="1500">
                <a:solidFill>
                  <a:srgbClr val="22282E"/>
                </a:solidFill>
              </a:rPr>
              <a:t>•  Forward secrecy: obligatoria en TLS 1.3 vía ECDHE efímero; protege sesiones pasadas.</a:t>
            </a:r>
          </a:p>
          <a:p>
            <a:pPr>
              <a:spcAft>
                <a:spcPts val="600"/>
              </a:spcAft>
            </a:pPr>
            <a:r>
              <a:rPr sz="1500">
                <a:solidFill>
                  <a:srgbClr val="22282E"/>
                </a:solidFill>
              </a:rPr>
              <a:t>•  0-RTT: reanudación con datos tempranos; reduce latencia pero es vulnerable a replay si se usa mal.</a:t>
            </a:r>
          </a:p>
          <a:p>
            <a:pPr>
              <a:spcAft>
                <a:spcPts val="600"/>
              </a:spcAft>
            </a:pPr>
            <a:r>
              <a:rPr sz="1500">
                <a:solidFill>
                  <a:srgbClr val="22282E"/>
                </a:solidFill>
              </a:rPr>
              <a:t>•  Record layer: fragmenta y protege los datos de aplicación tras el handshake con AEAD.</a:t>
            </a:r>
          </a:p>
          <a:p>
            <a:pPr>
              <a:spcAft>
                <a:spcPts val="600"/>
              </a:spcAft>
            </a:pPr>
            <a:r>
              <a:rPr sz="1500">
                <a:solidFill>
                  <a:srgbClr val="22282E"/>
                </a:solidFill>
              </a:rPr>
              <a:t>•  SNI / ESNI-ECH: indica el host destino; ECH lo cifra para privacidad.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Glosario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Término — Definición concisa</a:t>
            </a:r>
          </a:p>
          <a:p>
            <a:pPr>
              <a:spcAft>
                <a:spcPts val="600"/>
              </a:spcAft>
            </a:pPr>
            <a:r>
              <a:rPr sz="1500">
                <a:solidFill>
                  <a:srgbClr val="22282E"/>
                </a:solidFill>
              </a:rPr>
              <a:t>•  TLS — Protocolo que da confidencialidad, integridad y autenticación al canal</a:t>
            </a:r>
          </a:p>
          <a:p>
            <a:pPr>
              <a:spcAft>
                <a:spcPts val="600"/>
              </a:spcAft>
            </a:pPr>
            <a:r>
              <a:rPr sz="1500">
                <a:solidFill>
                  <a:srgbClr val="22282E"/>
                </a:solidFill>
              </a:rPr>
              <a:t>•  Protocolo de handshake — Negocia parámetros, autentica y establece claves</a:t>
            </a:r>
          </a:p>
          <a:p>
            <a:pPr>
              <a:spcAft>
                <a:spcPts val="600"/>
              </a:spcAft>
            </a:pPr>
            <a:r>
              <a:rPr sz="1500">
                <a:solidFill>
                  <a:srgbClr val="22282E"/>
                </a:solidFill>
              </a:rPr>
              <a:t>•  Protocolo de registro — Trocea y protege los datos ya con las claves de sesión</a:t>
            </a:r>
          </a:p>
          <a:p>
            <a:pPr>
              <a:spcAft>
                <a:spcPts val="600"/>
              </a:spcAft>
            </a:pPr>
            <a:r>
              <a:rPr sz="1500">
                <a:solidFill>
                  <a:srgbClr val="22282E"/>
                </a:solidFill>
              </a:rPr>
              <a:t>•  ClientHello / ServerHello — Primeros mensajes del handshake</a:t>
            </a:r>
          </a:p>
          <a:p>
            <a:pPr>
              <a:spcAft>
                <a:spcPts val="600"/>
              </a:spcAft>
            </a:pPr>
            <a:r>
              <a:rPr sz="1500">
                <a:solidFill>
                  <a:srgbClr val="22282E"/>
                </a:solidFill>
              </a:rPr>
              <a:t>•  keyshare — Parte del ECDHE adelantada en TLS 1.3</a:t>
            </a:r>
          </a:p>
          <a:p>
            <a:pPr>
              <a:spcAft>
                <a:spcPts val="600"/>
              </a:spcAft>
            </a:pPr>
            <a:r>
              <a:rPr sz="1500">
                <a:solidFill>
                  <a:srgbClr val="22282E"/>
                </a:solidFill>
              </a:rPr>
              <a:t>•  1-RTT — Handshake completo en una sola vuelta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Audita solo servidores propios o con autorización explícita. Escanear sistemas ajenos puede ser ilegal.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Inspecciona un handshake contra tu servidor de laboratorio:</a:t>
            </a:r>
          </a:p>
          <a:p>
            <a:pPr>
              <a:spcAft>
                <a:spcPts val="600"/>
              </a:spcAft>
            </a:pPr>
            <a:r>
              <a:rPr sz="1500">
                <a:solidFill>
                  <a:srgbClr val="22282E"/>
                </a:solidFill>
              </a:rPr>
              <a:t>•  Observa la versión negociada, la cipher suite y la cadena de certificados.</a:t>
            </a:r>
          </a:p>
          <a:p>
            <a:pPr>
              <a:spcAft>
                <a:spcPts val="600"/>
              </a:spcAft>
            </a:pPr>
            <a:r>
              <a:rPr sz="1500">
                <a:solidFill>
                  <a:srgbClr val="22282E"/>
                </a:solidFill>
              </a:rPr>
              <a:t>•  Captura con Wireshark. Filtra tls.handshake y localiza ClientHello, ServerHello y los mensajes cifrados. En TLS 1.3 gran parte del handshake ya va cifrado.</a:t>
            </a:r>
          </a:p>
          <a:p>
            <a:pPr>
              <a:spcAft>
                <a:spcPts val="600"/>
              </a:spcAft>
            </a:pPr>
            <a:r>
              <a:rPr sz="1500">
                <a:solidFill>
                  <a:srgbClr val="22282E"/>
                </a:solidFill>
              </a:rPr>
              <a:t>•  Audita la configuración:</a:t>
            </a:r>
          </a:p>
          <a:p>
            <a:pPr>
              <a:spcAft>
                <a:spcPts val="600"/>
              </a:spcAft>
            </a:pPr>
            <a:r>
              <a:rPr sz="1500">
                <a:solidFill>
                  <a:srgbClr val="22282E"/>
                </a:solidFill>
              </a:rPr>
              <a:t>•  Identifica si hay SSLv3/TLS1.0 habilitados o cifrados débiles (RC4, 3DES).</a:t>
            </a:r>
          </a:p>
          <a:p>
            <a:pPr>
              <a:spcAft>
                <a:spcPts val="600"/>
              </a:spcAft>
            </a:pPr>
            <a:r>
              <a:rPr sz="1500">
                <a:solidFill>
                  <a:srgbClr val="22282E"/>
                </a:solidFill>
              </a:rPr>
              <a:t>•  Levanta un servidor TLS 1.3 de laboratorio con los certificados de la clase 055:</a:t>
            </a:r>
          </a:p>
          <a:p>
            <a:pPr>
              <a:spcAft>
                <a:spcPts val="600"/>
              </a:spcAft>
            </a:pPr>
            <a:r>
              <a:rPr sz="1500">
                <a:solidFill>
                  <a:srgbClr val="22282E"/>
                </a:solidFill>
              </a:rPr>
              <a:t>•  Compara 1.2 vs 1.3. Fuerza -tls12 y observa la diferencia en número de rondas y mensajes visibles.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Descompón la cipher suite TLSAES256GCMSHA384 en sus partes.</a:t>
            </a:r>
          </a:p>
          <a:p>
            <a:pPr>
              <a:spcAft>
                <a:spcPts val="600"/>
              </a:spcAft>
            </a:pPr>
            <a:r>
              <a:rPr sz="1500">
                <a:solidFill>
                  <a:srgbClr val="22282E"/>
                </a:solidFill>
              </a:rPr>
              <a:t>•  Explica por qué TLS 1.3 hace el handshake en 1-RTT frente a 2-RTT de 1.2.</a:t>
            </a:r>
          </a:p>
          <a:p>
            <a:pPr>
              <a:spcAft>
                <a:spcPts val="600"/>
              </a:spcAft>
            </a:pPr>
            <a:r>
              <a:rPr sz="1500">
                <a:solidFill>
                  <a:srgbClr val="22282E"/>
                </a:solidFill>
              </a:rPr>
              <a:t>•  Audita un servidor propio con testssl.sh y lista los hallazgos.</a:t>
            </a:r>
          </a:p>
          <a:p>
            <a:pPr>
              <a:spcAft>
                <a:spcPts val="600"/>
              </a:spcAft>
            </a:pPr>
            <a:r>
              <a:rPr sz="1500">
                <a:solidFill>
                  <a:srgbClr val="22282E"/>
                </a:solidFill>
              </a:rPr>
              <a:t>•  Investiga los ataques POODLE y BEAST y qué versiones afectaban.</a:t>
            </a:r>
          </a:p>
          <a:p>
            <a:pPr>
              <a:spcAft>
                <a:spcPts val="600"/>
              </a:spcAft>
            </a:pPr>
            <a:r>
              <a:rPr sz="1500">
                <a:solidFill>
                  <a:srgbClr val="22282E"/>
                </a:solidFill>
              </a:rPr>
              <a:t>•  Explica el riesgo de replay del 0-RTT y cómo mitigarlo.</a:t>
            </a:r>
          </a:p>
          <a:p>
            <a:pPr>
              <a:spcAft>
                <a:spcPts val="600"/>
              </a:spcAft>
            </a:pPr>
            <a:r>
              <a:rPr sz="1500">
                <a:solidFill>
                  <a:srgbClr val="22282E"/>
                </a:solidFill>
              </a:rPr>
              <a:t>•  Captura un handshake y anota qué mensajes viajan en claro y cuáles cifrados.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Configura un servidor TLS de laboratorio que solo acepte TLS 1.3 con cipher suites AEAD y forward secrecy, presentando la cadena de la clase 055. Criterio de aceptación: testssl.sh no reporta…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sslv3 alert handshake failure — Cliente/servidor sin cipher suites comunes; alinea configuración</a:t>
            </a:r>
          </a:p>
          <a:p>
            <a:pPr>
              <a:spcAft>
                <a:spcPts val="600"/>
              </a:spcAft>
            </a:pPr>
            <a:r>
              <a:rPr sz="1500">
                <a:solidFill>
                  <a:srgbClr val="22282E"/>
                </a:solidFill>
              </a:rPr>
              <a:t>•  Protocolos viejos habilitados — Deshabilita SSLv3/TLS1.0/1.1</a:t>
            </a:r>
          </a:p>
          <a:p>
            <a:pPr>
              <a:spcAft>
                <a:spcPts val="600"/>
              </a:spcAft>
            </a:pPr>
            <a:r>
              <a:rPr sz="1500">
                <a:solidFill>
                  <a:srgbClr val="22282E"/>
                </a:solidFill>
              </a:rPr>
              <a:t>•  unable to verify the first certificate — Falta la intermedia en la cadena servida</a:t>
            </a:r>
          </a:p>
          <a:p>
            <a:pPr>
              <a:spcAft>
                <a:spcPts val="600"/>
              </a:spcAft>
            </a:pPr>
            <a:r>
              <a:rPr sz="1500">
                <a:solidFill>
                  <a:srgbClr val="22282E"/>
                </a:solidFill>
              </a:rPr>
              <a:t>•  0-RTT causa duplicados — Datos tempranos no idempotentes; restríngelos</a:t>
            </a:r>
          </a:p>
          <a:p>
            <a:pPr>
              <a:spcAft>
                <a:spcPts val="600"/>
              </a:spcAft>
            </a:pPr>
            <a:r>
              <a:rPr sz="1500">
                <a:solidFill>
                  <a:srgbClr val="22282E"/>
                </a:solidFill>
              </a:rPr>
              <a:t>•  Certificado sin SAN o expirado — Reemite con SAN y validez correcta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¿SSL y TLS son lo mismo?</a:t>
            </a:r>
          </a:p>
          <a:p>
            <a:pPr>
              <a:spcAft>
                <a:spcPts val="600"/>
              </a:spcAft>
            </a:pPr>
            <a:r>
              <a:rPr sz="1500">
                <a:solidFill>
                  <a:srgbClr val="22282E"/>
                </a:solidFill>
              </a:rPr>
              <a:t>•  SSL es el predecesor (inseguro y retirado). Hoy se usa TLS; "SSL" persiste coloquialmente.</a:t>
            </a:r>
          </a:p>
          <a:p>
            <a:pPr>
              <a:spcAft>
                <a:spcPts val="600"/>
              </a:spcAft>
            </a:pPr>
            <a:r>
              <a:rPr sz="1500">
                <a:solidFill>
                  <a:srgbClr val="22282E"/>
                </a:solidFill>
              </a:rPr>
              <a:t>•  ❓ ¿Debo desactivar TLS 1.2?</a:t>
            </a:r>
          </a:p>
          <a:p>
            <a:pPr>
              <a:spcAft>
                <a:spcPts val="600"/>
              </a:spcAft>
            </a:pPr>
            <a:r>
              <a:rPr sz="1500">
                <a:solidFill>
                  <a:srgbClr val="22282E"/>
                </a:solidFill>
              </a:rPr>
              <a:t>•  No necesariamente; 1.2 bien configurado es seguro. Prioriza 1.3 y elimina 1.0/1.1 y cifrados débiles.</a:t>
            </a:r>
          </a:p>
          <a:p>
            <a:pPr>
              <a:spcAft>
                <a:spcPts val="600"/>
              </a:spcAft>
            </a:pPr>
            <a:r>
              <a:rPr sz="1500">
                <a:solidFill>
                  <a:srgbClr val="22282E"/>
                </a:solidFill>
              </a:rPr>
              <a:t>•  ❓ ¿Qué hace especial a TLS 1.3?</a:t>
            </a:r>
          </a:p>
          <a:p>
            <a:pPr>
              <a:spcAft>
                <a:spcPts val="600"/>
              </a:spcAft>
            </a:pPr>
            <a:r>
              <a:rPr sz="1500">
                <a:solidFill>
                  <a:srgbClr val="22282E"/>
                </a:solidFill>
              </a:rPr>
              <a:t>•  Handshake más rápido y cifrado, forward secrecy obligatoria, cipher suites reducidas y sin algoritmos heredados inseguros.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IETF RFC 8446 (TLS 1.3) — &lt;https://www.rfc-editor.org/rfc/rfc8446&gt;</a:t>
            </a:r>
          </a:p>
          <a:p>
            <a:pPr>
              <a:spcAft>
                <a:spcPts val="600"/>
              </a:spcAft>
            </a:pPr>
            <a:r>
              <a:rPr sz="1500">
                <a:solidFill>
                  <a:srgbClr val="22282E"/>
                </a:solidFill>
              </a:rPr>
              <a:t>•  Wong, Real-World Cryptography, cap. 9.</a:t>
            </a:r>
          </a:p>
          <a:p>
            <a:pPr>
              <a:spcAft>
                <a:spcPts val="600"/>
              </a:spcAft>
            </a:pPr>
            <a:r>
              <a:rPr sz="1500">
                <a:solidFill>
                  <a:srgbClr val="22282E"/>
                </a:solidFill>
              </a:rPr>
              <a:t>•  testssl.sh — &lt;https://testssl.sh/&gt;</a:t>
            </a:r>
          </a:p>
          <a:p>
            <a:pPr>
              <a:spcAft>
                <a:spcPts val="600"/>
              </a:spcAft>
            </a:pPr>
            <a:r>
              <a:rPr sz="1500">
                <a:solidFill>
                  <a:srgbClr val="22282E"/>
                </a:solidFill>
              </a:rPr>
              <a:t>•  Mozilla SSL Configuration Generator — &lt;https://ssl-config.mozilla.org/&gt;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a:spAutoFit/>
          </a:bodyPr>
          <a:lstStyle/>
          <a:p>
            <a:r>
              <a:rPr sz="2200" b="1">
                <a:solidFill>
                  <a:srgbClr val="0B3D2E"/>
                </a:solidFill>
              </a:rPr>
              <a:t>Diagrama de la clase</a:t>
            </a:r>
          </a:p>
        </p:txBody>
      </p:sp>
      <p:pic>
        <p:nvPicPr>
          <p:cNvPr id="3" name="Picture 2" descr="6143804ea47b25e9.png"/>
          <p:cNvPicPr>
            <a:picLocks noChangeAspect="1"/>
          </p:cNvPicPr>
          <p:nvPr/>
        </p:nvPicPr>
        <p:blipFill>
          <a:blip r:embed="rId2"/>
          <a:stretch>
            <a:fillRect/>
          </a:stretch>
        </p:blipFill>
        <p:spPr>
          <a:xfrm>
            <a:off x="1218172" y="1097280"/>
            <a:ext cx="6707655" cy="53035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