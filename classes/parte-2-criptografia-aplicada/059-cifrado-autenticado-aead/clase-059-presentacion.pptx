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194560"/>
            <a:ext cx="804672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 b="1">
                <a:solidFill>
                  <a:srgbClr val="0B3D2E"/>
                </a:solidFill>
              </a:rPr>
              <a:t>Clase 059 — Cifrado autenticado (AEAD)</a:t>
            </a:r>
          </a:p>
          <a:p>
            <a:r>
              <a:rPr sz="1600">
                <a:solidFill>
                  <a:srgbClr val="2E8B57"/>
                </a:solidFill>
              </a:rPr>
              <a:t>parte 2 criptografia aplicada</a:t>
            </a:r>
          </a:p>
          <a:p>
            <a:r>
              <a:rPr sz="1200">
                <a:solidFill>
                  <a:srgbClr val="22282E"/>
                </a:solidFill>
              </a:rPr>
              <a:t>Programa de Ciberseguridad Moderna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🎯 Objetivo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Consolidar la lección central de la criptografía aplicada moderna: nunca cifres sin autenticar. El alumno aprenderá qué es el cifrado autenticado con datos asociados (AEAD), cómo AES-GCM y…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📚 Resultados de aprendizaje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Al finalizar, el alumno podrá: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Explicar qué garantiza AEAD y por qué reemplaza a "cifrar + MAC manual".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Cifrar y descifrar con AES-GCM y ChaCha20-Poly1305 usando nonces correctos.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Usar datos asociados (AAD) para autenticar metadatos no cifrados.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Detectar manipulación mediante el fallo de verificación del tag.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Elegir entre AES-GCM y ChaCha20-Poly1305 según el entorno.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🗺️ Temas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1 — Motivación: cifrar + autenticar juntos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2 — AES-GCM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3 — ChaCha20-Poly1305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4 — Nonce y su unicidad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5 — Datos asociados (AAD)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6 — Tag de autenticación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7 — AEAD vs padding oracle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🧠 Explicación en profundidad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Los modos de la clase 047 dan confidencialidad: impiden leer. Ninguno impide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modificar. Con CTR o con un cifrado de flujo, un atacante que sepa dónde está un campo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puede voltear bits del texto cifrado y provocar cambios exactos y predecibles en el texto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claro, sin conocer la clave: cambiar transferir: 100 por transferir: 900 es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literalmente un XOR bien colocado. Con CBC puede alterar un bloque a costa de corromper el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anterior. La conclusión es dura y merece enunciarse así: cifrado sin autenticación no es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seguro en ningún escenario realista.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📖 Definiciones y características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AEAD: cifrado que produce texto cifrado + tag de autenticación en una sola operación. Característica: confidencialidad e integridad garantizadas juntas.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AES-GCM: AES en modo Galois/Counter; muy rápido con AES-NI. Sensible a la reutilización de nonce (rompe la autenticación).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ChaCha20-Poly1305: AEAD que combina el cifrado de flujo ChaCha20 con el MAC Poly1305; ideal sin aceleración hardware.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Nonce: único por clave. En GCM/ChaCha20-Poly1305 mide 96 bits; repetirlo es catastrófico.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Datos asociados (AAD): datos que se autentican pero no se cifran (cabeceras, IDs); su alteración invalida el tag.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Tag de autenticación: valor (128 bits) que el receptor verifica; si no coincide, el descifrado se rechaza sin entregar datos.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Fallo cerrado: ante tag inválido, la primitiva no devuelve texto plano, evitando fugas.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📔 Glosario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Término — Definición concisa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AEAD — Cifrado autenticado con datos asociados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Maleabilidad — Poder alterar el texto claro manipulando el cifrado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Bit-flipping — Voltear bits del cifrado para cambiar el claro de forma predecible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Tag de autenticación — Etiqueta que detecta cualquier manipulación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AAD — Datos asociados: se autentican pero no se cifran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Sustitución de contexto — Reutilizar un cifrado válido en otro lugar; el AAD lo impide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🧰 Herramientas y preparación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Laboratorio local. Los mensajes son de prueba propios.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🧪 Laboratorio guiado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AES-GCM con AAD en Python: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Detecta manipulación. Cambia un byte de ct o del aad y llama a decrypt: se lanza InvalidTag. Concluye que AEAD falla cerrado.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ChaCha20-Poly1305: repite el ejercicio con ChaCha20Poly1305 y compara la API idéntica.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Nonce reutilizado en GCM (concepto y demo controlada). Cifra dos mensajes con el mismo nonce y clave; explica por qué esto permite recuperar el keystream (XOR de textos) y, peor aún, forjar tags…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Migra de CBC+HMAC a AEAD. Toma el ejercicio de la clase 052 y sustitúyelo por AES-GCM; observa la simplificación y menor superficie de error.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✍️ Ejercicios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Explica qué aporta AEAD frente a "cifrar y luego HMAC" hecho a mano.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Cifra con AAD y demuestra que alterar el AAD invalida el descifrado.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Investiga por qué la reutilización de nonce rompe GCM más que CTR.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Compara el rendimiento de AES-GCM y ChaCha20-Poly1305 en tu CPU.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Diseña un formato de mensaje nonce || ciphertext || tag autoexplicativo.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Explica cómo AEAD previene el padding oracle de la clase 060.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📝 Reto verificable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Implementa un contenedor cifrado de archivos con AES-GCM que incluya en el AAD metadatos (nombre y versión) y verifique integridad al abrir. Criterio de aceptación: el archivo se descifra solo con el…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⚠️ Errores comunes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InvalidTag inesperado — Nonce/AAD/clave distintos entre cifrado y descifrado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Nonce reutilizado en GCM — Rompe confidencialidad e integridad; usa nonce único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Ignorar el resultado de decrypt — Nunca uses datos sin verificar el tag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Cifrar con CBC sin MAC "porque es más simple" — Inseguro; usa AEAD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Nonce derivado predeciblemente — Usa CSPRNG o contador estrictamente único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❓ Preguntas frecuentes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❓ ¿AES-GCM o ChaCha20-Poly1305?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AES-GCM con AES-NI (servidores modernos); ChaCha20-Poly1305 en móviles/embebidos o sin aceleración. Ambos son AEAD estándar.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❓ ¿Qué pongo en el AAD?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Metadatos que deban ser auténticos pero no secretos: cabeceras, versiones, identificadores de contexto.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❓ ¿Cuántos mensajes puedo cifrar con una clave GCM?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Limitado por el riesgo de colisión de nonces (con nonces aleatorios de 96 bits, rota la clave antes de ~2³² mensajes). Considera nonces por contador.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🔗 Referencias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IETF RFC 5116 (AEAD) — &lt;https://www.rfc-editor.org/rfc/rfc5116&gt;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IETF RFC 8439 (ChaCha20-Poly1305) — &lt;https://www.rfc-editor.org/rfc/rfc8439&gt;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NIST SP 800-38D (GCM) — &lt;https://csrc.nist.gov/publications/detail/sp/800-38d/final&gt;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Wong, Real-World Cryptography, cap. 4.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200" b="1">
                <a:solidFill>
                  <a:srgbClr val="0B3D2E"/>
                </a:solidFill>
              </a:rPr>
              <a:t>Diagrama de la clase</a:t>
            </a:r>
          </a:p>
        </p:txBody>
      </p:sp>
      <p:pic>
        <p:nvPicPr>
          <p:cNvPr id="3" name="Picture 2" descr="3275a789d888bc6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2468880"/>
            <a:ext cx="8229600" cy="256032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