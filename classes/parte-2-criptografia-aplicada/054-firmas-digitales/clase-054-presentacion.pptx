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054 — Firmas digitales</a:t>
            </a:r>
          </a:p>
          <a:p>
            <a:r>
              <a:rPr sz="1600">
                <a:solidFill>
                  <a:srgbClr val="2E8B57"/>
                </a:solidFill>
              </a:rPr>
              <a:t>parte 2 criptografia aplicada</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Comprender cómo las firmas digitales proporcionan autenticidad, integridad y no repudio usando criptografía de clave pública: se firma con la clave privada y se verifica con la pública. El alumno…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Explicar el modelo firmar-con-privada / verificar-con-pública y qué garantiza.</a:t>
            </a:r>
          </a:p>
          <a:p>
            <a:pPr>
              <a:spcAft>
                <a:spcPts val="600"/>
              </a:spcAft>
            </a:pPr>
            <a:r>
              <a:rPr sz="1500">
                <a:solidFill>
                  <a:srgbClr val="22282E"/>
                </a:solidFill>
              </a:rPr>
              <a:t>•  Diferenciar firma digital de MAC (no repudio vs clave compartida).</a:t>
            </a:r>
          </a:p>
          <a:p>
            <a:pPr>
              <a:spcAft>
                <a:spcPts val="600"/>
              </a:spcAft>
            </a:pPr>
            <a:r>
              <a:rPr sz="1500">
                <a:solidFill>
                  <a:srgbClr val="22282E"/>
                </a:solidFill>
              </a:rPr>
              <a:t>•  Firmar y verificar con RSA-PSS, ECDSA y Ed25519 usando OpenSSL/Python.</a:t>
            </a:r>
          </a:p>
          <a:p>
            <a:pPr>
              <a:spcAft>
                <a:spcPts val="600"/>
              </a:spcAft>
            </a:pPr>
            <a:r>
              <a:rPr sz="1500">
                <a:solidFill>
                  <a:srgbClr val="22282E"/>
                </a:solidFill>
              </a:rPr>
              <a:t>•  Explicar por qué se firma el hash y los riesgos del nonce en ECDSA.</a:t>
            </a:r>
          </a:p>
          <a:p>
            <a:pPr>
              <a:spcAft>
                <a:spcPts val="600"/>
              </a:spcAft>
            </a:pPr>
            <a:r>
              <a:rPr sz="1500">
                <a:solidFill>
                  <a:srgbClr val="22282E"/>
                </a:solidFill>
              </a:rPr>
              <a:t>•  Aplicar firmas para verificar integridad de software.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Firma vs MAC</a:t>
            </a:r>
          </a:p>
          <a:p>
            <a:pPr>
              <a:spcAft>
                <a:spcPts val="600"/>
              </a:spcAft>
            </a:pPr>
            <a:r>
              <a:rPr sz="1500">
                <a:solidFill>
                  <a:srgbClr val="22282E"/>
                </a:solidFill>
              </a:rPr>
              <a:t>•  2 — Hash-then-sign</a:t>
            </a:r>
          </a:p>
          <a:p>
            <a:pPr>
              <a:spcAft>
                <a:spcPts val="600"/>
              </a:spcAft>
            </a:pPr>
            <a:r>
              <a:rPr sz="1500">
                <a:solidFill>
                  <a:srgbClr val="22282E"/>
                </a:solidFill>
              </a:rPr>
              <a:t>•  3 — RSA-PSS</a:t>
            </a:r>
          </a:p>
          <a:p>
            <a:pPr>
              <a:spcAft>
                <a:spcPts val="600"/>
              </a:spcAft>
            </a:pPr>
            <a:r>
              <a:rPr sz="1500">
                <a:solidFill>
                  <a:srgbClr val="22282E"/>
                </a:solidFill>
              </a:rPr>
              <a:t>•  4 — ECDSA y el riesgo del nonce</a:t>
            </a:r>
          </a:p>
          <a:p>
            <a:pPr>
              <a:spcAft>
                <a:spcPts val="600"/>
              </a:spcAft>
            </a:pPr>
            <a:r>
              <a:rPr sz="1500">
                <a:solidFill>
                  <a:srgbClr val="22282E"/>
                </a:solidFill>
              </a:rPr>
              <a:t>•  5 — Ed25519 (determinista)</a:t>
            </a:r>
          </a:p>
          <a:p>
            <a:pPr>
              <a:spcAft>
                <a:spcPts val="600"/>
              </a:spcAft>
            </a:pPr>
            <a:r>
              <a:rPr sz="1500">
                <a:solidFill>
                  <a:srgbClr val="22282E"/>
                </a:solidFill>
              </a:rPr>
              <a:t>•  6 — Verificación de software</a:t>
            </a:r>
          </a:p>
          <a:p>
            <a:pPr>
              <a:spcAft>
                <a:spcPts val="600"/>
              </a:spcAft>
            </a:pPr>
            <a:r>
              <a:rPr sz="1500">
                <a:solidFill>
                  <a:srgbClr val="22282E"/>
                </a:solidFill>
              </a:rPr>
              <a:t>•  7 — No repudio y sus límites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Explicación en profundidad</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Una firma digital se genera con la clave privada y se verifica con la pública, y</a:t>
            </a:r>
          </a:p>
          <a:p>
            <a:pPr>
              <a:spcAft>
                <a:spcPts val="600"/>
              </a:spcAft>
            </a:pPr>
            <a:r>
              <a:rPr sz="1500">
                <a:solidFill>
                  <a:srgbClr val="22282E"/>
                </a:solidFill>
              </a:rPr>
              <a:t>•  esa asimetría cambia cualitativamente lo que se puede afirmar. Como solo el firmante posee</a:t>
            </a:r>
          </a:p>
          <a:p>
            <a:pPr>
              <a:spcAft>
                <a:spcPts val="600"/>
              </a:spcAft>
            </a:pPr>
            <a:r>
              <a:rPr sz="1500">
                <a:solidFill>
                  <a:srgbClr val="22282E"/>
                </a:solidFill>
              </a:rPr>
              <a:t>•  la clave privada, una firma válida prueba tres cosas a la vez: integridad (el mensaje</a:t>
            </a:r>
          </a:p>
          <a:p>
            <a:pPr>
              <a:spcAft>
                <a:spcPts val="600"/>
              </a:spcAft>
            </a:pPr>
            <a:r>
              <a:rPr sz="1500">
                <a:solidFill>
                  <a:srgbClr val="22282E"/>
                </a:solidFill>
              </a:rPr>
              <a:t>•  no cambió), autenticidad (viene de quien tiene esa clave) y no repudio (el</a:t>
            </a:r>
          </a:p>
          <a:p>
            <a:pPr>
              <a:spcAft>
                <a:spcPts val="600"/>
              </a:spcAft>
            </a:pPr>
            <a:r>
              <a:rPr sz="1500">
                <a:solidFill>
                  <a:srgbClr val="22282E"/>
                </a:solidFill>
              </a:rPr>
              <a:t>•  firmante no puede negarlo de forma creíble, porque nadie más pudo producirla). El MAC de</a:t>
            </a:r>
          </a:p>
          <a:p>
            <a:pPr>
              <a:spcAft>
                <a:spcPts val="600"/>
              </a:spcAft>
            </a:pPr>
            <a:r>
              <a:rPr sz="1500">
                <a:solidFill>
                  <a:srgbClr val="22282E"/>
                </a:solidFill>
              </a:rPr>
              <a:t>•  la clase 052 da las dos primeras pero no la tercera, porque el verificador también podría</a:t>
            </a:r>
          </a:p>
          <a:p>
            <a:pPr>
              <a:spcAft>
                <a:spcPts val="600"/>
              </a:spcAft>
            </a:pPr>
            <a:r>
              <a:rPr sz="1500">
                <a:solidFill>
                  <a:srgbClr val="22282E"/>
                </a:solidFill>
              </a:rPr>
              <a:t>•  haber fabricado la etiqueta.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Firma digital: valor generado con la clave privada que cualquiera verifica con la pública. Característica: aporta no repudio, algo que el MAC no da.</a:t>
            </a:r>
          </a:p>
          <a:p>
            <a:pPr>
              <a:spcAft>
                <a:spcPts val="600"/>
              </a:spcAft>
            </a:pPr>
            <a:r>
              <a:rPr sz="1500">
                <a:solidFill>
                  <a:srgbClr val="22282E"/>
                </a:solidFill>
              </a:rPr>
              <a:t>•  No repudio: el firmante no puede negar haber firmado, porque solo él posee la clave privada.</a:t>
            </a:r>
          </a:p>
          <a:p>
            <a:pPr>
              <a:spcAft>
                <a:spcPts val="600"/>
              </a:spcAft>
            </a:pPr>
            <a:r>
              <a:rPr sz="1500">
                <a:solidFill>
                  <a:srgbClr val="22282E"/>
                </a:solidFill>
              </a:rPr>
              <a:t>•  Hash-then-sign: se firma el hash del mensaje; permite firmar mensajes grandes y liga la firma al contenido exacto.</a:t>
            </a:r>
          </a:p>
          <a:p>
            <a:pPr>
              <a:spcAft>
                <a:spcPts val="600"/>
              </a:spcAft>
            </a:pPr>
            <a:r>
              <a:rPr sz="1500">
                <a:solidFill>
                  <a:srgbClr val="22282E"/>
                </a:solidFill>
              </a:rPr>
              <a:t>•  RSA-PSS: esquema de firma RSA probabilístico con prueba de seguridad; preferible a PKCS#1 v1.5.</a:t>
            </a:r>
          </a:p>
          <a:p>
            <a:pPr>
              <a:spcAft>
                <a:spcPts val="600"/>
              </a:spcAft>
            </a:pPr>
            <a:r>
              <a:rPr sz="1500">
                <a:solidFill>
                  <a:srgbClr val="22282E"/>
                </a:solidFill>
              </a:rPr>
              <a:t>•  ECDSA: firma sobre curvas; requiere un nonce k único y aleatorio por firma. Repetirlo o predecirlo revela la clave privada.</a:t>
            </a:r>
          </a:p>
          <a:p>
            <a:pPr>
              <a:spcAft>
                <a:spcPts val="600"/>
              </a:spcAft>
            </a:pPr>
            <a:r>
              <a:rPr sz="1500">
                <a:solidFill>
                  <a:srgbClr val="22282E"/>
                </a:solidFill>
              </a:rPr>
              <a:t>•  Ed25519: firma determinista (deriva k del mensaje y la clave), eliminando el riesgo del nonce; rápida y robusta.</a:t>
            </a:r>
          </a:p>
          <a:p>
            <a:pPr>
              <a:spcAft>
                <a:spcPts val="600"/>
              </a:spcAft>
            </a:pPr>
            <a:r>
              <a:rPr sz="1500">
                <a:solidFill>
                  <a:srgbClr val="22282E"/>
                </a:solidFill>
              </a:rPr>
              <a:t>•  Verificación de integridad de software: firmar releases para que los usuarios comprueben autenticidad.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Glosario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Término — Definición concisa</a:t>
            </a:r>
          </a:p>
          <a:p>
            <a:pPr>
              <a:spcAft>
                <a:spcPts val="600"/>
              </a:spcAft>
            </a:pPr>
            <a:r>
              <a:rPr sz="1500">
                <a:solidFill>
                  <a:srgbClr val="22282E"/>
                </a:solidFill>
              </a:rPr>
              <a:t>•  Firma digital — Se genera con clave privada y se verifica con la pública</a:t>
            </a:r>
          </a:p>
          <a:p>
            <a:pPr>
              <a:spcAft>
                <a:spcPts val="600"/>
              </a:spcAft>
            </a:pPr>
            <a:r>
              <a:rPr sz="1500">
                <a:solidFill>
                  <a:srgbClr val="22282E"/>
                </a:solidFill>
              </a:rPr>
              <a:t>•  No repudio — El firmante no puede negar creíblemente la autoría</a:t>
            </a:r>
          </a:p>
          <a:p>
            <a:pPr>
              <a:spcAft>
                <a:spcPts val="600"/>
              </a:spcAft>
            </a:pPr>
            <a:r>
              <a:rPr sz="1500">
                <a:solidFill>
                  <a:srgbClr val="22282E"/>
                </a:solidFill>
              </a:rPr>
              <a:t>•  Verificación pública — Cualquiera con la clave pública puede comprobar la firma</a:t>
            </a:r>
          </a:p>
          <a:p>
            <a:pPr>
              <a:spcAft>
                <a:spcPts val="600"/>
              </a:spcAft>
            </a:pPr>
            <a:r>
              <a:rPr sz="1500">
                <a:solidFill>
                  <a:srgbClr val="22282E"/>
                </a:solidFill>
              </a:rPr>
              <a:t>•  Hash-then-sign — Firmar el digest en lugar del mensaje completo</a:t>
            </a:r>
          </a:p>
          <a:p>
            <a:pPr>
              <a:spcAft>
                <a:spcPts val="600"/>
              </a:spcAft>
            </a:pPr>
            <a:r>
              <a:rPr sz="1500">
                <a:solidFill>
                  <a:srgbClr val="22282E"/>
                </a:solidFill>
              </a:rPr>
              <a:t>•  Colisión y firmas — Dos mensajes con el mismo digest comparten firma válida</a:t>
            </a:r>
          </a:p>
          <a:p>
            <a:pPr>
              <a:spcAft>
                <a:spcPts val="600"/>
              </a:spcAft>
            </a:pPr>
            <a:r>
              <a:rPr sz="1500">
                <a:solidFill>
                  <a:srgbClr val="22282E"/>
                </a:solidFill>
              </a:rPr>
              <a:t>•  RSA-PSS — Relleno probabilístico moderno para firmar con RSA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Trabaja con tus propias claves. Firmar en nombre de otros sin autorización es fraude.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Firma y verifica con OpenSSL (RSA-PSS):</a:t>
            </a:r>
          </a:p>
          <a:p>
            <a:pPr>
              <a:spcAft>
                <a:spcPts val="600"/>
              </a:spcAft>
            </a:pPr>
            <a:r>
              <a:rPr sz="1500">
                <a:solidFill>
                  <a:srgbClr val="22282E"/>
                </a:solidFill>
              </a:rPr>
              <a:t>•  Ed25519 en Python (ver clase 050): firma un documento y verifica; altera un byte del documento y comprueba que la verificación falla.</a:t>
            </a:r>
          </a:p>
          <a:p>
            <a:pPr>
              <a:spcAft>
                <a:spcPts val="600"/>
              </a:spcAft>
            </a:pPr>
            <a:r>
              <a:rPr sz="1500">
                <a:solidFill>
                  <a:srgbClr val="22282E"/>
                </a:solidFill>
              </a:rPr>
              <a:t>•  Riesgo del nonce en ECDSA (concepto). Explica con la fórmula cómo, si dos firmas usan el mismo k, se despeja la clave privada. Es exactamente el fallo que rompió la firma de código de la PS3.</a:t>
            </a:r>
          </a:p>
          <a:p>
            <a:pPr>
              <a:spcAft>
                <a:spcPts val="600"/>
              </a:spcAft>
            </a:pPr>
            <a:r>
              <a:rPr sz="1500">
                <a:solidFill>
                  <a:srgbClr val="22282E"/>
                </a:solidFill>
              </a:rPr>
              <a:t>•  Detecta manipulación de software: firma un binario, publica la clave pública, y muestra que cualquier modificación invalida la firma.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Explica la diferencia entre firma digital y HMAC en cuanto a no repudio.</a:t>
            </a:r>
          </a:p>
          <a:p>
            <a:pPr>
              <a:spcAft>
                <a:spcPts val="600"/>
              </a:spcAft>
            </a:pPr>
            <a:r>
              <a:rPr sz="1500">
                <a:solidFill>
                  <a:srgbClr val="22282E"/>
                </a:solidFill>
              </a:rPr>
              <a:t>•  Firma un archivo con RSA-PSS y verifica con la clave pública.</a:t>
            </a:r>
          </a:p>
          <a:p>
            <a:pPr>
              <a:spcAft>
                <a:spcPts val="600"/>
              </a:spcAft>
            </a:pPr>
            <a:r>
              <a:rPr sz="1500">
                <a:solidFill>
                  <a:srgbClr val="22282E"/>
                </a:solidFill>
              </a:rPr>
              <a:t>•  Investiga el fallo de nonce de ECDSA en la PlayStation 3.</a:t>
            </a:r>
          </a:p>
          <a:p>
            <a:pPr>
              <a:spcAft>
                <a:spcPts val="600"/>
              </a:spcAft>
            </a:pPr>
            <a:r>
              <a:rPr sz="1500">
                <a:solidFill>
                  <a:srgbClr val="22282E"/>
                </a:solidFill>
              </a:rPr>
              <a:t>•  ¿Por qué Ed25519 es determinista y por qué eso ayuda?</a:t>
            </a:r>
          </a:p>
          <a:p>
            <a:pPr>
              <a:spcAft>
                <a:spcPts val="600"/>
              </a:spcAft>
            </a:pPr>
            <a:r>
              <a:rPr sz="1500">
                <a:solidFill>
                  <a:srgbClr val="22282E"/>
                </a:solidFill>
              </a:rPr>
              <a:t>•  Verifica la firma GPG de un release real de software libre.</a:t>
            </a:r>
          </a:p>
          <a:p>
            <a:pPr>
              <a:spcAft>
                <a:spcPts val="600"/>
              </a:spcAft>
            </a:pPr>
            <a:r>
              <a:rPr sz="1500">
                <a:solidFill>
                  <a:srgbClr val="22282E"/>
                </a:solidFill>
              </a:rPr>
              <a:t>•  Explica por qué firmar el hash (no el mensaje) es seguro y eficiente.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Construye un verificador de releases: firma un conjunto de artefactos con Ed25519, publica la clave pública y entrega un script que valide cada artefacto contra su firma. Criterio de aceptación…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Verificación siempre válida — No estás comparando con el documento correcto o ignoras el resultado</a:t>
            </a:r>
          </a:p>
          <a:p>
            <a:pPr>
              <a:spcAft>
                <a:spcPts val="600"/>
              </a:spcAft>
            </a:pPr>
            <a:r>
              <a:rPr sz="1500">
                <a:solidFill>
                  <a:srgbClr val="22282E"/>
                </a:solidFill>
              </a:rPr>
              <a:t>•  Nonce reutilizado en ECDSA — Revela la clave; usa RFC 6979 o Ed25519</a:t>
            </a:r>
          </a:p>
          <a:p>
            <a:pPr>
              <a:spcAft>
                <a:spcPts val="600"/>
              </a:spcAft>
            </a:pPr>
            <a:r>
              <a:rPr sz="1500">
                <a:solidFill>
                  <a:srgbClr val="22282E"/>
                </a:solidFill>
              </a:rPr>
              <a:t>•  Firmar con PKCS#1 v1.5 nuevo — Prefiere PSS para diseños nuevos</a:t>
            </a:r>
          </a:p>
          <a:p>
            <a:pPr>
              <a:spcAft>
                <a:spcPts val="600"/>
              </a:spcAft>
            </a:pPr>
            <a:r>
              <a:rPr sz="1500">
                <a:solidFill>
                  <a:srgbClr val="22282E"/>
                </a:solidFill>
              </a:rPr>
              <a:t>•  Confundir firmar con cifrar — Son operaciones distintas; firma con privada para autenticar</a:t>
            </a:r>
          </a:p>
          <a:p>
            <a:pPr>
              <a:spcAft>
                <a:spcPts val="600"/>
              </a:spcAft>
            </a:pPr>
            <a:r>
              <a:rPr sz="1500">
                <a:solidFill>
                  <a:srgbClr val="22282E"/>
                </a:solidFill>
              </a:rPr>
              <a:t>•  No verificar la clave pública del firmante — Un atacante puede sustituirla; ánclala vía PKI o huella conocida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¿Firma = cifrar con la clave privada?</a:t>
            </a:r>
          </a:p>
          <a:p>
            <a:pPr>
              <a:spcAft>
                <a:spcPts val="600"/>
              </a:spcAft>
            </a:pPr>
            <a:r>
              <a:rPr sz="1500">
                <a:solidFill>
                  <a:srgbClr val="22282E"/>
                </a:solidFill>
              </a:rPr>
              <a:t>•  Es una simplificación peligrosa. Los esquemas modernos (PSS, EdDSA) no son "RSA al revés"; usa la primitiva de firma, no operaciones crudas.</a:t>
            </a:r>
          </a:p>
          <a:p>
            <a:pPr>
              <a:spcAft>
                <a:spcPts val="600"/>
              </a:spcAft>
            </a:pPr>
            <a:r>
              <a:rPr sz="1500">
                <a:solidFill>
                  <a:srgbClr val="22282E"/>
                </a:solidFill>
              </a:rPr>
              <a:t>•  ❓ ¿Qué firma elijo hoy?</a:t>
            </a:r>
          </a:p>
          <a:p>
            <a:pPr>
              <a:spcAft>
                <a:spcPts val="600"/>
              </a:spcAft>
            </a:pPr>
            <a:r>
              <a:rPr sz="1500">
                <a:solidFill>
                  <a:srgbClr val="22282E"/>
                </a:solidFill>
              </a:rPr>
              <a:t>•  Ed25519 por defecto (rápida, sin riesgo de nonce). RSA-PSS o ECDSA cuando la compatibilidad lo exija.</a:t>
            </a:r>
          </a:p>
          <a:p>
            <a:pPr>
              <a:spcAft>
                <a:spcPts val="600"/>
              </a:spcAft>
            </a:pPr>
            <a:r>
              <a:rPr sz="1500">
                <a:solidFill>
                  <a:srgbClr val="22282E"/>
                </a:solidFill>
              </a:rPr>
              <a:t>•  ❓ ¿La firma garantiza que el contenido es verdad?</a:t>
            </a:r>
          </a:p>
          <a:p>
            <a:pPr>
              <a:spcAft>
                <a:spcPts val="600"/>
              </a:spcAft>
            </a:pPr>
            <a:r>
              <a:rPr sz="1500">
                <a:solidFill>
                  <a:srgbClr val="22282E"/>
                </a:solidFill>
              </a:rPr>
              <a:t>•  No; garantiza quién lo firmó y que no cambió. La veracidad del contenido es otra cosa.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NIST FIPS 186-5 (firmas) — &lt;https://csrc.nist.gov/publications/detail/fips/186/5/final&gt;</a:t>
            </a:r>
          </a:p>
          <a:p>
            <a:pPr>
              <a:spcAft>
                <a:spcPts val="600"/>
              </a:spcAft>
            </a:pPr>
            <a:r>
              <a:rPr sz="1500">
                <a:solidFill>
                  <a:srgbClr val="22282E"/>
                </a:solidFill>
              </a:rPr>
              <a:t>•  RFC 8032 (EdDSA) — &lt;https://www.rfc-editor.org/rfc/rfc8032&gt;</a:t>
            </a:r>
          </a:p>
          <a:p>
            <a:pPr>
              <a:spcAft>
                <a:spcPts val="600"/>
              </a:spcAft>
            </a:pPr>
            <a:r>
              <a:rPr sz="1500">
                <a:solidFill>
                  <a:srgbClr val="22282E"/>
                </a:solidFill>
              </a:rPr>
              <a:t>•  RFC 6979 (nonce determinista para ECDSA) — &lt;https://www.rfc-editor.org/rfc/rfc6979&gt;</a:t>
            </a:r>
          </a:p>
          <a:p>
            <a:pPr>
              <a:spcAft>
                <a:spcPts val="600"/>
              </a:spcAft>
            </a:pPr>
            <a:r>
              <a:rPr sz="1500">
                <a:solidFill>
                  <a:srgbClr val="22282E"/>
                </a:solidFill>
              </a:rPr>
              <a:t>•  Aumasson, Serious Cryptography, cap. 10–12.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a:spAutoFit/>
          </a:bodyPr>
          <a:lstStyle/>
          <a:p>
            <a:r>
              <a:rPr sz="2200" b="1">
                <a:solidFill>
                  <a:srgbClr val="0B3D2E"/>
                </a:solidFill>
              </a:rPr>
              <a:t>Diagrama de la clase</a:t>
            </a:r>
          </a:p>
        </p:txBody>
      </p:sp>
      <p:pic>
        <p:nvPicPr>
          <p:cNvPr id="3" name="Picture 2" descr="e97ac4c1c2d9d11b.png"/>
          <p:cNvPicPr>
            <a:picLocks noChangeAspect="1"/>
          </p:cNvPicPr>
          <p:nvPr/>
        </p:nvPicPr>
        <p:blipFill>
          <a:blip r:embed="rId2"/>
          <a:stretch>
            <a:fillRect/>
          </a:stretch>
        </p:blipFill>
        <p:spPr>
          <a:xfrm>
            <a:off x="457200" y="3337560"/>
            <a:ext cx="8229600" cy="822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