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194560"/>
            <a:ext cx="8046720" cy="2286000"/>
          </a:xfrm>
          <a:prstGeom prst="rect">
            <a:avLst/>
          </a:prstGeom>
          <a:noFill/>
        </p:spPr>
        <p:txBody>
          <a:bodyPr wrap="square">
            <a:spAutoFit/>
          </a:bodyPr>
          <a:lstStyle/>
          <a:p>
            <a:r>
              <a:rPr sz="3200" b="1">
                <a:solidFill>
                  <a:srgbClr val="0B3D2E"/>
                </a:solidFill>
              </a:rPr>
              <a:t>Clase 033 — Enumeración de servicios de red</a:t>
            </a:r>
          </a:p>
          <a:p>
            <a:r>
              <a:rPr sz="1600">
                <a:solidFill>
                  <a:srgbClr val="2E8B57"/>
                </a:solidFill>
              </a:rPr>
              <a:t>parte 1 redes y seguridad de redes</a:t>
            </a:r>
          </a:p>
          <a:p>
            <a:r>
              <a:rPr sz="1200">
                <a:solidFill>
                  <a:srgbClr val="22282E"/>
                </a:solidFill>
              </a:rPr>
              <a:t>Programa de Ciberseguridad Moderna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Objetivo</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Profundizar la fase de enumeración: una vez identificados puertos y versiones, extraer toda la información útil de cada servicio (SMB, HTTP, DNS, SMTP, SNMP, FTP, LDAP) con herramientas especializadas. La enumeración exhaustiva es lo que separa un escaneo superficial de una evaluación real, y suele ser la fase que más hallazgos produce.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Resultados de aprendizaje</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Al finalizar, el alumno podrá:</a:t>
            </a:r>
          </a:p>
          <a:p>
            <a:pPr>
              <a:spcAft>
                <a:spcPts val="600"/>
              </a:spcAft>
            </a:pPr>
            <a:r>
              <a:rPr sz="1500">
                <a:solidFill>
                  <a:srgbClr val="22282E"/>
                </a:solidFill>
              </a:rPr>
              <a:t>•  Enumerar recursos compartidos, usuarios y políticas SMB.</a:t>
            </a:r>
          </a:p>
          <a:p>
            <a:pPr>
              <a:spcAft>
                <a:spcPts val="600"/>
              </a:spcAft>
            </a:pPr>
            <a:r>
              <a:rPr sz="1500">
                <a:solidFill>
                  <a:srgbClr val="22282E"/>
                </a:solidFill>
              </a:rPr>
              <a:t>•  Explorar servidores web: directorios, tecnologías, vhosts y cabeceras.</a:t>
            </a:r>
          </a:p>
          <a:p>
            <a:pPr>
              <a:spcAft>
                <a:spcPts val="600"/>
              </a:spcAft>
            </a:pPr>
            <a:r>
              <a:rPr sz="1500">
                <a:solidFill>
                  <a:srgbClr val="22282E"/>
                </a:solidFill>
              </a:rPr>
              <a:t>•  Extraer información de DNS (registros, transferencias de zona).</a:t>
            </a:r>
          </a:p>
          <a:p>
            <a:pPr>
              <a:spcAft>
                <a:spcPts val="600"/>
              </a:spcAft>
            </a:pPr>
            <a:r>
              <a:rPr sz="1500">
                <a:solidFill>
                  <a:srgbClr val="22282E"/>
                </a:solidFill>
              </a:rPr>
              <a:t>•  Interrogar SNMP, SMTP y FTP para obtener usuarios y configuración.</a:t>
            </a:r>
          </a:p>
          <a:p>
            <a:pPr>
              <a:spcAft>
                <a:spcPts val="600"/>
              </a:spcAft>
            </a:pPr>
            <a:r>
              <a:rPr sz="1500">
                <a:solidFill>
                  <a:srgbClr val="22282E"/>
                </a:solidFill>
              </a:rPr>
              <a:t>•  Organizar los hallazgos en notas estructuradas por servicio.</a:t>
            </a:r>
          </a:p>
          <a:p>
            <a:pPr>
              <a:spcAft>
                <a:spcPts val="600"/>
              </a:spcAft>
            </a:pPr>
            <a:r>
              <a:rPr sz="1500">
                <a:solidFill>
                  <a:srgbClr val="22282E"/>
                </a:solidFill>
              </a:rPr>
              <a:t>•  Priorizar vectores según el valor de la información obtenida.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Temas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1 — Metodología de enumeración</a:t>
            </a:r>
          </a:p>
          <a:p>
            <a:pPr>
              <a:spcAft>
                <a:spcPts val="600"/>
              </a:spcAft>
            </a:pPr>
            <a:r>
              <a:rPr sz="1500">
                <a:solidFill>
                  <a:srgbClr val="22282E"/>
                </a:solidFill>
              </a:rPr>
              <a:t>•  2 — SMB (139/445)</a:t>
            </a:r>
          </a:p>
          <a:p>
            <a:pPr>
              <a:spcAft>
                <a:spcPts val="600"/>
              </a:spcAft>
            </a:pPr>
            <a:r>
              <a:rPr sz="1500">
                <a:solidFill>
                  <a:srgbClr val="22282E"/>
                </a:solidFill>
              </a:rPr>
              <a:t>•  3 — HTTP/HTTPS (80/443)</a:t>
            </a:r>
          </a:p>
          <a:p>
            <a:pPr>
              <a:spcAft>
                <a:spcPts val="600"/>
              </a:spcAft>
            </a:pPr>
            <a:r>
              <a:rPr sz="1500">
                <a:solidFill>
                  <a:srgbClr val="22282E"/>
                </a:solidFill>
              </a:rPr>
              <a:t>•  4 — DNS (53)</a:t>
            </a:r>
          </a:p>
          <a:p>
            <a:pPr>
              <a:spcAft>
                <a:spcPts val="600"/>
              </a:spcAft>
            </a:pPr>
            <a:r>
              <a:rPr sz="1500">
                <a:solidFill>
                  <a:srgbClr val="22282E"/>
                </a:solidFill>
              </a:rPr>
              <a:t>•  5 — SNMP (161/udp)</a:t>
            </a:r>
          </a:p>
          <a:p>
            <a:pPr>
              <a:spcAft>
                <a:spcPts val="600"/>
              </a:spcAft>
            </a:pPr>
            <a:r>
              <a:rPr sz="1500">
                <a:solidFill>
                  <a:srgbClr val="22282E"/>
                </a:solidFill>
              </a:rPr>
              <a:t>•  6 — SMTP (25)</a:t>
            </a:r>
          </a:p>
          <a:p>
            <a:pPr>
              <a:spcAft>
                <a:spcPts val="600"/>
              </a:spcAft>
            </a:pPr>
            <a:r>
              <a:rPr sz="1500">
                <a:solidFill>
                  <a:srgbClr val="22282E"/>
                </a:solidFill>
              </a:rPr>
              <a:t>•  7 — FTP/LDAP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Definiciones y características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Enumeración: proceso de interactuar con un servicio para extraer información detallada (usuarios, recursos, versiones, configuración) más allá de saber que existe.</a:t>
            </a:r>
          </a:p>
          <a:p>
            <a:pPr>
              <a:spcAft>
                <a:spcPts val="600"/>
              </a:spcAft>
            </a:pPr>
            <a:r>
              <a:rPr sz="1500">
                <a:solidFill>
                  <a:srgbClr val="22282E"/>
                </a:solidFill>
              </a:rPr>
              <a:t>•  Null session (SMB): conexión sin credenciales que en sistemas mal configurados revela usuarios y recursos.</a:t>
            </a:r>
          </a:p>
          <a:p>
            <a:pPr>
              <a:spcAft>
                <a:spcPts val="600"/>
              </a:spcAft>
            </a:pPr>
            <a:r>
              <a:rPr sz="1500">
                <a:solidFill>
                  <a:srgbClr val="22282E"/>
                </a:solidFill>
              </a:rPr>
              <a:t>•  Transferencia de zona (AXFR): volcado completo de una zona DNS; si está mal permitida, expone todos los registros.</a:t>
            </a:r>
          </a:p>
          <a:p>
            <a:pPr>
              <a:spcAft>
                <a:spcPts val="600"/>
              </a:spcAft>
            </a:pPr>
            <a:r>
              <a:rPr sz="1500">
                <a:solidFill>
                  <a:srgbClr val="22282E"/>
                </a:solidFill>
              </a:rPr>
              <a:t>•  Community string (SNMP): "contraseña" en claro (a menudo public/private) que da acceso de lectura/escritura a la MIB.</a:t>
            </a:r>
          </a:p>
          <a:p>
            <a:pPr>
              <a:spcAft>
                <a:spcPts val="600"/>
              </a:spcAft>
            </a:pPr>
            <a:r>
              <a:rPr sz="1500">
                <a:solidFill>
                  <a:srgbClr val="22282E"/>
                </a:solidFill>
              </a:rPr>
              <a:t>•  VHost (Virtual Host): varios sitios en una misma IP diferenciados por cabecera Host; enumerarlos revela aplicaciones ocultas.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Herramientas y preparación</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SMB: smbclient, enum4linux-ng, nmap scripts smb-, crackmapexec.</a:t>
            </a:r>
          </a:p>
          <a:p>
            <a:pPr>
              <a:spcAft>
                <a:spcPts val="600"/>
              </a:spcAft>
            </a:pPr>
            <a:r>
              <a:rPr sz="1500">
                <a:solidFill>
                  <a:srgbClr val="22282E"/>
                </a:solidFill>
              </a:rPr>
              <a:t>•  HTTP: whatweb, gobuster/feroxbuster, nikto, curl.</a:t>
            </a:r>
          </a:p>
          <a:p>
            <a:pPr>
              <a:spcAft>
                <a:spcPts val="600"/>
              </a:spcAft>
            </a:pPr>
            <a:r>
              <a:rPr sz="1500">
                <a:solidFill>
                  <a:srgbClr val="22282E"/>
                </a:solidFill>
              </a:rPr>
              <a:t>•  DNS: dig, dnsenum, dnsrecon.</a:t>
            </a:r>
          </a:p>
          <a:p>
            <a:pPr>
              <a:spcAft>
                <a:spcPts val="600"/>
              </a:spcAft>
            </a:pPr>
            <a:r>
              <a:rPr sz="1500">
                <a:solidFill>
                  <a:srgbClr val="22282E"/>
                </a:solidFill>
              </a:rPr>
              <a:t>•  SNMP: snmpwalk, onesixtyone.</a:t>
            </a:r>
          </a:p>
          <a:p>
            <a:pPr>
              <a:spcAft>
                <a:spcPts val="600"/>
              </a:spcAft>
            </a:pPr>
            <a:r>
              <a:rPr sz="1500">
                <a:solidFill>
                  <a:srgbClr val="22282E"/>
                </a:solidFill>
              </a:rPr>
              <a:t>•  SMTP/FTP/LDAP: smtp-user-enum, ftp, ldapsearch.</a:t>
            </a:r>
          </a:p>
          <a:p>
            <a:pPr>
              <a:spcAft>
                <a:spcPts val="600"/>
              </a:spcAft>
            </a:pPr>
            <a:r>
              <a:rPr sz="1500">
                <a:solidFill>
                  <a:srgbClr val="22282E"/>
                </a:solidFill>
              </a:rPr>
              <a:t>•  Instalación típica en Kali: la mayoría vienen preinstaladas; si no, sudo apt install smbclient snmp dnsutils gobuster nikto.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Laboratorio guiado</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SMB — recursos y sistema:</a:t>
            </a:r>
          </a:p>
          <a:p>
            <a:pPr>
              <a:spcAft>
                <a:spcPts val="600"/>
              </a:spcAft>
            </a:pPr>
            <a:r>
              <a:rPr sz="1500">
                <a:solidFill>
                  <a:srgbClr val="22282E"/>
                </a:solidFill>
              </a:rPr>
              <a:t>•  smbclient -L //192.168.56.101/ -N</a:t>
            </a:r>
          </a:p>
          <a:p>
            <a:pPr>
              <a:spcAft>
                <a:spcPts val="600"/>
              </a:spcAft>
            </a:pPr>
            <a:r>
              <a:rPr sz="1500">
                <a:solidFill>
                  <a:srgbClr val="22282E"/>
                </a:solidFill>
              </a:rPr>
              <a:t>•  nmap -p445 --script smb-enum-shares,smb-enum-users,smb-os-discovery 192.168.56.101</a:t>
            </a:r>
          </a:p>
          <a:p>
            <a:pPr>
              <a:spcAft>
                <a:spcPts val="600"/>
              </a:spcAft>
            </a:pPr>
            <a:r>
              <a:rPr sz="1500">
                <a:solidFill>
                  <a:srgbClr val="22282E"/>
                </a:solidFill>
              </a:rPr>
              <a:t>•  enum4linux-ng -A 192.168.56.101</a:t>
            </a:r>
          </a:p>
          <a:p>
            <a:pPr>
              <a:spcAft>
                <a:spcPts val="600"/>
              </a:spcAft>
            </a:pPr>
            <a:r>
              <a:rPr sz="1500">
                <a:solidFill>
                  <a:srgbClr val="22282E"/>
                </a:solidFill>
              </a:rPr>
              <a:t>•  HTTP — tecnologías y directorios:</a:t>
            </a:r>
          </a:p>
          <a:p>
            <a:pPr>
              <a:spcAft>
                <a:spcPts val="600"/>
              </a:spcAft>
            </a:pPr>
            <a:r>
              <a:rPr sz="1500">
                <a:solidFill>
                  <a:srgbClr val="22282E"/>
                </a:solidFill>
              </a:rPr>
              <a:t>•  whatweb http://192.168.56.101/</a:t>
            </a:r>
          </a:p>
          <a:p>
            <a:pPr>
              <a:spcAft>
                <a:spcPts val="600"/>
              </a:spcAft>
            </a:pPr>
            <a:r>
              <a:rPr sz="1500">
                <a:solidFill>
                  <a:srgbClr val="22282E"/>
                </a:solidFill>
              </a:rPr>
              <a:t>•  gobuster dir -u http://192.168.56.101/ -w /usr/share/wordlists/dirb/common.txt -t 30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Ejercicios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Enumera los recursos SMB del objetivo y determina cuáles permiten acceso anónimo.</a:t>
            </a:r>
          </a:p>
          <a:p>
            <a:pPr>
              <a:spcAft>
                <a:spcPts val="600"/>
              </a:spcAft>
            </a:pPr>
            <a:r>
              <a:rPr sz="1500">
                <a:solidFill>
                  <a:srgbClr val="22282E"/>
                </a:solidFill>
              </a:rPr>
              <a:t>•  Con gobuster, encuentra al menos dos directorios no enlazados desde la página principal.</a:t>
            </a:r>
          </a:p>
          <a:p>
            <a:pPr>
              <a:spcAft>
                <a:spcPts val="600"/>
              </a:spcAft>
            </a:pPr>
            <a:r>
              <a:rPr sz="1500">
                <a:solidFill>
                  <a:srgbClr val="22282E"/>
                </a:solidFill>
              </a:rPr>
              <a:t>•  Intenta una transferencia de zona AXFR y explica el riesgo si tiene éxito.</a:t>
            </a:r>
          </a:p>
          <a:p>
            <a:pPr>
              <a:spcAft>
                <a:spcPts val="600"/>
              </a:spcAft>
            </a:pPr>
            <a:r>
              <a:rPr sz="1500">
                <a:solidFill>
                  <a:srgbClr val="22282E"/>
                </a:solidFill>
              </a:rPr>
              <a:t>•  Haz snmpwalk y localiza el nombre del sistema y la tabla de procesos.</a:t>
            </a:r>
          </a:p>
          <a:p>
            <a:pPr>
              <a:spcAft>
                <a:spcPts val="600"/>
              </a:spcAft>
            </a:pPr>
            <a:r>
              <a:rPr sz="1500">
                <a:solidFill>
                  <a:srgbClr val="22282E"/>
                </a:solidFill>
              </a:rPr>
              <a:t>•  Enumera usuarios por SMTP con VRFY y explica por qué muchos servidores lo desactivan.</a:t>
            </a:r>
          </a:p>
          <a:p>
            <a:pPr>
              <a:spcAft>
                <a:spcPts val="600"/>
              </a:spcAft>
            </a:pPr>
            <a:r>
              <a:rPr sz="1500">
                <a:solidFill>
                  <a:srgbClr val="22282E"/>
                </a:solidFill>
              </a:rPr>
              <a:t>•  Usa whatweb y curl -I para inventariar el stack tecnológico de un sitio.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Reto verificable</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Elabora una "hoja de enumeración" de un host multiservicio de laboratorio que documente, por cada servicio abierto: versión, información sensible obtenida (recursos, usuarios, registros, directorios) y al menos un vector de ataque potencial priorizado. Entrega las notas y los comandos usados.</a:t>
            </a:r>
          </a:p>
          <a:p>
            <a:pPr>
              <a:spcAft>
                <a:spcPts val="600"/>
              </a:spcAft>
            </a:pPr>
            <a:r>
              <a:rPr sz="1500">
                <a:solidFill>
                  <a:srgbClr val="22282E"/>
                </a:solidFill>
              </a:rPr>
              <a:t>•  Criterio de aceptación: la hoja cubre todos los servicios abiertos que el revisor conoce, cada hallazgo es reproducible con el comando indicado y el vector priorizado es coherente con la información obtenida.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Errores comunes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smbclient "NTSTATUSACCESSDENIED" — El recurso requiere credenciales; prueba null session -N o busca credenciales válidas</a:t>
            </a:r>
          </a:p>
          <a:p>
            <a:pPr>
              <a:spcAft>
                <a:spcPts val="600"/>
              </a:spcAft>
            </a:pPr>
            <a:r>
              <a:rPr sz="1500">
                <a:solidFill>
                  <a:srgbClr val="22282E"/>
                </a:solidFill>
              </a:rPr>
              <a:t>•  gobuster devuelve todo 200/403 igual — Falta filtrar por código o tamaño; usa -b para excluir códigos o --exclude-length</a:t>
            </a:r>
          </a:p>
          <a:p>
            <a:pPr>
              <a:spcAft>
                <a:spcPts val="600"/>
              </a:spcAft>
            </a:pPr>
            <a:r>
              <a:rPr sz="1500">
                <a:solidFill>
                  <a:srgbClr val="22282E"/>
                </a:solidFill>
              </a:rPr>
              <a:t>•  AXFR "Transfer failed" — La transferencia de zona está (correctamente) restringida; no es un fallo, es una buena práctica del servidor</a:t>
            </a:r>
          </a:p>
          <a:p>
            <a:pPr>
              <a:spcAft>
                <a:spcPts val="600"/>
              </a:spcAft>
            </a:pPr>
            <a:r>
              <a:rPr sz="1500">
                <a:solidFill>
                  <a:srgbClr val="22282E"/>
                </a:solidFill>
              </a:rPr>
              <a:t>•  snmpwalk sin respuesta — Community string incorrecta o SNMP filtrado; prueba public/private o versiones distintas</a:t>
            </a:r>
          </a:p>
          <a:p>
            <a:pPr>
              <a:spcAft>
                <a:spcPts val="600"/>
              </a:spcAft>
            </a:pPr>
            <a:r>
              <a:rPr sz="1500">
                <a:solidFill>
                  <a:srgbClr val="22282E"/>
                </a:solidFill>
              </a:rPr>
              <a:t>•  enum4linux muy lento — Muchas comprobaciones; usa opciones selectivas en lugar de -A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Preguntas frecuentes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 ¿Por qué SMB da tanta información?</a:t>
            </a:r>
          </a:p>
          <a:p>
            <a:pPr>
              <a:spcAft>
                <a:spcPts val="600"/>
              </a:spcAft>
            </a:pPr>
            <a:r>
              <a:rPr sz="1500">
                <a:solidFill>
                  <a:srgbClr val="22282E"/>
                </a:solidFill>
              </a:rPr>
              <a:t>•  Porque en redes Windows expone recursos, usuarios, políticas y el SO por diseño. Mal configurado (null sessions), regala un mapa de la organización.</a:t>
            </a:r>
          </a:p>
          <a:p>
            <a:pPr>
              <a:spcAft>
                <a:spcPts val="600"/>
              </a:spcAft>
            </a:pPr>
            <a:r>
              <a:rPr sz="1500">
                <a:solidFill>
                  <a:srgbClr val="22282E"/>
                </a:solidFill>
              </a:rPr>
              <a:t>•  ❓ ¿Enumeración y escaneo son lo mismo?</a:t>
            </a:r>
          </a:p>
          <a:p>
            <a:pPr>
              <a:spcAft>
                <a:spcPts val="600"/>
              </a:spcAft>
            </a:pPr>
            <a:r>
              <a:rPr sz="1500">
                <a:solidFill>
                  <a:srgbClr val="22282E"/>
                </a:solidFill>
              </a:rPr>
              <a:t>•  No. El escaneo dice qué hay (puertos/servicios); la enumeración interactúa con cada servicio para extraer información detallada y utilizable.</a:t>
            </a:r>
          </a:p>
          <a:p>
            <a:pPr>
              <a:spcAft>
                <a:spcPts val="600"/>
              </a:spcAft>
            </a:pPr>
            <a:r>
              <a:rPr sz="1500">
                <a:solidFill>
                  <a:srgbClr val="22282E"/>
                </a:solidFill>
              </a:rPr>
              <a:t>•  ❓ ¿La enumeración es detectable?</a:t>
            </a:r>
          </a:p>
          <a:p>
            <a:pPr>
              <a:spcAft>
                <a:spcPts val="600"/>
              </a:spcAft>
            </a:pPr>
            <a:r>
              <a:rPr sz="1500">
                <a:solidFill>
                  <a:srgbClr val="22282E"/>
                </a:solidFill>
              </a:rPr>
              <a:t>•  Mucho. Genera numerosas conexiones y peticiones que un IDS/SIEM registra. Por eso solo se hace dentro del alcance autorizado.</a:t>
            </a:r>
          </a:p>
          <a:p>
            <a:pPr>
              <a:spcAft>
                <a:spcPts val="600"/>
              </a:spcAft>
            </a:pPr>
            <a:r>
              <a:rPr sz="1500">
                <a:solidFill>
                  <a:srgbClr val="22282E"/>
                </a:solidFill>
              </a:rPr>
              <a:t>•  ❓ ¿Qué hago con tanta información?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Referencias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Nmap NSE scripts (smb-, http-, dns-). &lt;https://nmap.org/nsedoc/&gt;</a:t>
            </a:r>
          </a:p>
          <a:p>
            <a:pPr>
              <a:spcAft>
                <a:spcPts val="600"/>
              </a:spcAft>
            </a:pPr>
            <a:r>
              <a:rPr sz="1500">
                <a:solidFill>
                  <a:srgbClr val="22282E"/>
                </a:solidFill>
              </a:rPr>
              <a:t>•  OWASP Testing Guide — Information Gathering. &lt;https://owasp.org/www-project-web-security-testing-guide/&gt;</a:t>
            </a:r>
          </a:p>
          <a:p>
            <a:pPr>
              <a:spcAft>
                <a:spcPts val="600"/>
              </a:spcAft>
            </a:pPr>
            <a:r>
              <a:rPr sz="1500">
                <a:solidFill>
                  <a:srgbClr val="22282E"/>
                </a:solidFill>
              </a:rPr>
              <a:t>•  gobuster. &lt;https://github.com/OJ/gobuster&gt;</a:t>
            </a:r>
          </a:p>
          <a:p>
            <a:pPr>
              <a:spcAft>
                <a:spcPts val="600"/>
              </a:spcAft>
            </a:pPr>
            <a:r>
              <a:rPr sz="1500">
                <a:solidFill>
                  <a:srgbClr val="22282E"/>
                </a:solidFill>
              </a:rPr>
              <a:t>•  enum4linux-ng. &lt;https://github.com/cddmp/enum4linux-ng&gt;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