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029 — Nmap: descubrimiento de hosts y técnicas de ping</a:t>
            </a:r>
          </a:p>
          <a:p>
            <a:r>
              <a:rPr sz="1600">
                <a:solidFill>
                  <a:srgbClr val="2E8B57"/>
                </a:solidFill>
              </a:rPr>
              <a:t>parte 1 redes y seguridad de redes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Aprender a descubrir qué hosts están vivos en una red usando las distintas técnicas de "host discovery" de Nmap (ARP, ICMP, TCP, UDP), entender cuándo usar cada una según la topología y las defensas…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Ejecutar un barrido de descubrimiento (-sn) sobre un rango o subred.</a:t>
            </a:r>
          </a:p>
          <a:p>
            <a:pPr>
              <a:spcAft>
                <a:spcPts val="600"/>
              </a:spcAft>
            </a:pPr>
            <a:r>
              <a:rPr sz="1500">
                <a:solidFill>
                  <a:srgbClr val="22282E"/>
                </a:solidFill>
              </a:rPr>
              <a:t>•  Elegir la técnica de sonda adecuada (ARP, ICMP echo/timestamp, TCP SYN/ACK, UDP).</a:t>
            </a:r>
          </a:p>
          <a:p>
            <a:pPr>
              <a:spcAft>
                <a:spcPts val="600"/>
              </a:spcAft>
            </a:pPr>
            <a:r>
              <a:rPr sz="1500">
                <a:solidFill>
                  <a:srgbClr val="22282E"/>
                </a:solidFill>
              </a:rPr>
              <a:t>•  Interpretar por qué un host aparece como "up" o "down" y sus falsos negativos.</a:t>
            </a:r>
          </a:p>
          <a:p>
            <a:pPr>
              <a:spcAft>
                <a:spcPts val="600"/>
              </a:spcAft>
            </a:pPr>
            <a:r>
              <a:rPr sz="1500">
                <a:solidFill>
                  <a:srgbClr val="22282E"/>
                </a:solidFill>
              </a:rPr>
              <a:t>•  Controlar la resolución DNS y la temporización del descubrimiento.</a:t>
            </a:r>
          </a:p>
          <a:p>
            <a:pPr>
              <a:spcAft>
                <a:spcPts val="600"/>
              </a:spcAft>
            </a:pPr>
            <a:r>
              <a:rPr sz="1500">
                <a:solidFill>
                  <a:srgbClr val="22282E"/>
                </a:solidFill>
              </a:rPr>
              <a:t>•  Exportar la lista de hosts vivos para las siguientes fases.</a:t>
            </a:r>
          </a:p>
          <a:p>
            <a:pPr>
              <a:spcAft>
                <a:spcPts val="600"/>
              </a:spcAft>
            </a:pPr>
            <a:r>
              <a:rPr sz="1500">
                <a:solidFill>
                  <a:srgbClr val="22282E"/>
                </a:solidFill>
              </a:rPr>
              <a:t>•  Evitar ruido innecesario y respetar los límites del alcance autorizado.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Fases de un escaneo Nmap</a:t>
            </a:r>
          </a:p>
          <a:p>
            <a:pPr>
              <a:spcAft>
                <a:spcPts val="600"/>
              </a:spcAft>
            </a:pPr>
            <a:r>
              <a:rPr sz="1500">
                <a:solidFill>
                  <a:srgbClr val="22282E"/>
                </a:solidFill>
              </a:rPr>
              <a:t>•  2 — -sn (ping scan, sin puertos)</a:t>
            </a:r>
          </a:p>
          <a:p>
            <a:pPr>
              <a:spcAft>
                <a:spcPts val="600"/>
              </a:spcAft>
            </a:pPr>
            <a:r>
              <a:rPr sz="1500">
                <a:solidFill>
                  <a:srgbClr val="22282E"/>
                </a:solidFill>
              </a:rPr>
              <a:t>•  3 — ARP discovery en LAN</a:t>
            </a:r>
          </a:p>
          <a:p>
            <a:pPr>
              <a:spcAft>
                <a:spcPts val="600"/>
              </a:spcAft>
            </a:pPr>
            <a:r>
              <a:rPr sz="1500">
                <a:solidFill>
                  <a:srgbClr val="22282E"/>
                </a:solidFill>
              </a:rPr>
              <a:t>•  4 — Sondas ICMP (-PE, -PP, -PM)</a:t>
            </a:r>
          </a:p>
          <a:p>
            <a:pPr>
              <a:spcAft>
                <a:spcPts val="600"/>
              </a:spcAft>
            </a:pPr>
            <a:r>
              <a:rPr sz="1500">
                <a:solidFill>
                  <a:srgbClr val="22282E"/>
                </a:solidFill>
              </a:rPr>
              <a:t>•  5 — Sondas TCP/UDP (-PS, -PA, -PU)</a:t>
            </a:r>
          </a:p>
          <a:p>
            <a:pPr>
              <a:spcAft>
                <a:spcPts val="600"/>
              </a:spcAft>
            </a:pPr>
            <a:r>
              <a:rPr sz="1500">
                <a:solidFill>
                  <a:srgbClr val="22282E"/>
                </a:solidFill>
              </a:rPr>
              <a:t>•  6 — Control de DNS (-n, -R)</a:t>
            </a:r>
          </a:p>
          <a:p>
            <a:pPr>
              <a:spcAft>
                <a:spcPts val="600"/>
              </a:spcAft>
            </a:pPr>
            <a:r>
              <a:rPr sz="1500">
                <a:solidFill>
                  <a:srgbClr val="22282E"/>
                </a:solidFill>
              </a:rPr>
              <a:t>•  7 — Formatos de salida (-oA)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Nmap no ejecuta "un escaneo": ejecuta una secuencia de fases, y cada una alimenta a la</a:t>
            </a:r>
          </a:p>
          <a:p>
            <a:pPr>
              <a:spcAft>
                <a:spcPts val="600"/>
              </a:spcAft>
            </a:pPr>
            <a:r>
              <a:rPr sz="1500">
                <a:solidFill>
                  <a:srgbClr val="22282E"/>
                </a:solidFill>
              </a:rPr>
              <a:t>•  siguiente. Primero resuelve los objetivos, después descubre qué hosts están vivos,</a:t>
            </a:r>
          </a:p>
          <a:p>
            <a:pPr>
              <a:spcAft>
                <a:spcPts val="600"/>
              </a:spcAft>
            </a:pPr>
            <a:r>
              <a:rPr sz="1500">
                <a:solidFill>
                  <a:srgbClr val="22282E"/>
                </a:solidFill>
              </a:rPr>
              <a:t>•  luego resuelve DNS inverso de los que respondieron, a continuación escanea puertos</a:t>
            </a:r>
          </a:p>
          <a:p>
            <a:pPr>
              <a:spcAft>
                <a:spcPts val="600"/>
              </a:spcAft>
            </a:pPr>
            <a:r>
              <a:rPr sz="1500">
                <a:solidFill>
                  <a:srgbClr val="22282E"/>
                </a:solidFill>
              </a:rPr>
              <a:t>•  sobre esos hosts, y por último aplica detección de versión, de sistema operativo y</a:t>
            </a:r>
          </a:p>
          <a:p>
            <a:pPr>
              <a:spcAft>
                <a:spcPts val="600"/>
              </a:spcAft>
            </a:pPr>
            <a:r>
              <a:rPr sz="1500">
                <a:solidFill>
                  <a:srgbClr val="22282E"/>
                </a:solidFill>
              </a:rPr>
              <a:t>•  scripts NSE si se lo pides. Entender esa tubería explica el fallo más caro del</a:t>
            </a:r>
          </a:p>
          <a:p>
            <a:pPr>
              <a:spcAft>
                <a:spcPts val="600"/>
              </a:spcAft>
            </a:pPr>
            <a:r>
              <a:rPr sz="1500">
                <a:solidFill>
                  <a:srgbClr val="22282E"/>
                </a:solidFill>
              </a:rPr>
              <a:t>•  principiante: si la fase de descubrimiento decide erróneamente que un host está caído,</a:t>
            </a:r>
          </a:p>
          <a:p>
            <a:pPr>
              <a:spcAft>
                <a:spcPts val="600"/>
              </a:spcAft>
            </a:pPr>
            <a:r>
              <a:rPr sz="1500">
                <a:solidFill>
                  <a:srgbClr val="22282E"/>
                </a:solidFill>
              </a:rPr>
              <a:t>•  Nmap nunca le escanea los puertos, y el informe dirá que no hay nada donde sí había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Host discovery: fase en la que Nmap determina qué objetivos están activos antes de escanear puertos, para no perder tiempo en IPs muertas.</a:t>
            </a:r>
          </a:p>
          <a:p>
            <a:pPr>
              <a:spcAft>
                <a:spcPts val="600"/>
              </a:spcAft>
            </a:pPr>
            <a:r>
              <a:rPr sz="1500">
                <a:solidFill>
                  <a:srgbClr val="22282E"/>
                </a:solidFill>
              </a:rPr>
              <a:t>•  ARP scan: en una LAN, Nmap usa ARP en lugar de IP; es rápido y no se puede filtrar fácilmente porque opera en capa 2.</a:t>
            </a:r>
          </a:p>
          <a:p>
            <a:pPr>
              <a:spcAft>
                <a:spcPts val="600"/>
              </a:spcAft>
            </a:pPr>
            <a:r>
              <a:rPr sz="1500">
                <a:solidFill>
                  <a:srgbClr val="22282E"/>
                </a:solidFill>
              </a:rPr>
              <a:t>•  Ping scan (-sn): realiza descubrimiento pero omite el escaneo de puertos; devuelve solo la lista de hosts vivos.</a:t>
            </a:r>
          </a:p>
          <a:p>
            <a:pPr>
              <a:spcAft>
                <a:spcPts val="600"/>
              </a:spcAft>
            </a:pPr>
            <a:r>
              <a:rPr sz="1500">
                <a:solidFill>
                  <a:srgbClr val="22282E"/>
                </a:solidFill>
              </a:rPr>
              <a:t>•  Sonda TCP SYN a 443 (-PS443): envía un SYN; un SYN/ACK o RST prueba que el host existe aunque bloquee ICMP.</a:t>
            </a:r>
          </a:p>
          <a:p>
            <a:pPr>
              <a:spcAft>
                <a:spcPts val="600"/>
              </a:spcAft>
            </a:pPr>
            <a:r>
              <a:rPr sz="1500">
                <a:solidFill>
                  <a:srgbClr val="22282E"/>
                </a:solidFill>
              </a:rPr>
              <a:t>•  Falso negativo: host vivo que aparece como "down" porque filtró todas las sondas usadas.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Fases de Nmap — Objetivos → descubrimiento → DNS → puertos → versión/OS → NSE</a:t>
            </a:r>
          </a:p>
          <a:p>
            <a:pPr>
              <a:spcAft>
                <a:spcPts val="600"/>
              </a:spcAft>
            </a:pPr>
            <a:r>
              <a:rPr sz="1500">
                <a:solidFill>
                  <a:srgbClr val="22282E"/>
                </a:solidFill>
              </a:rPr>
              <a:t>•  -sn — Solo descubrimiento de hosts; no escanea puertos</a:t>
            </a:r>
          </a:p>
          <a:p>
            <a:pPr>
              <a:spcAft>
                <a:spcPts val="600"/>
              </a:spcAft>
            </a:pPr>
            <a:r>
              <a:rPr sz="1500">
                <a:solidFill>
                  <a:srgbClr val="22282E"/>
                </a:solidFill>
              </a:rPr>
              <a:t>•  -Pn — Omite el descubrimiento y trata todo objetivo como vivo</a:t>
            </a:r>
          </a:p>
          <a:p>
            <a:pPr>
              <a:spcAft>
                <a:spcPts val="600"/>
              </a:spcAft>
            </a:pPr>
            <a:r>
              <a:rPr sz="1500">
                <a:solidFill>
                  <a:srgbClr val="22282E"/>
                </a:solidFill>
              </a:rPr>
              <a:t>•  ARP discovery — Descubrimiento en la LAN mediante consultas ARP; el más fiable</a:t>
            </a:r>
          </a:p>
          <a:p>
            <a:pPr>
              <a:spcAft>
                <a:spcPts val="600"/>
              </a:spcAft>
            </a:pPr>
            <a:r>
              <a:rPr sz="1500">
                <a:solidFill>
                  <a:srgbClr val="22282E"/>
                </a:solidFill>
              </a:rPr>
              <a:t>•  -PE / -PP / -PM — Sondas ICMP: echo, timestamp y address mask</a:t>
            </a:r>
          </a:p>
          <a:p>
            <a:pPr>
              <a:spcAft>
                <a:spcPts val="600"/>
              </a:spcAft>
            </a:pPr>
            <a:r>
              <a:rPr sz="1500">
                <a:solidFill>
                  <a:srgbClr val="22282E"/>
                </a:solidFill>
              </a:rPr>
              <a:t>•  -PS — Sonda TCP SYN a un puerto para probar existencia del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Nmap 7.x: sudo apt install nmap / brew install nmap / instalador Windows.</a:t>
            </a:r>
          </a:p>
          <a:p>
            <a:pPr>
              <a:spcAft>
                <a:spcPts val="600"/>
              </a:spcAft>
            </a:pPr>
            <a:r>
              <a:rPr sz="1500">
                <a:solidFill>
                  <a:srgbClr val="22282E"/>
                </a:solidFill>
              </a:rPr>
              <a:t>•  Laboratorio: red interna con 2–4 VMs (p. ej. 192.168.56.0/24). Ejecuta desde la VM atacante.</a:t>
            </a:r>
          </a:p>
          <a:p>
            <a:pPr>
              <a:spcAft>
                <a:spcPts val="600"/>
              </a:spcAft>
            </a:pPr>
            <a:r>
              <a:rPr sz="1500">
                <a:solidFill>
                  <a:srgbClr val="22282E"/>
                </a:solidFill>
              </a:rPr>
              <a:t>•  Verifica la versión: nmap --version.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Barrido de subred (solo descubrimiento):</a:t>
            </a:r>
          </a:p>
          <a:p>
            <a:pPr>
              <a:spcAft>
                <a:spcPts val="600"/>
              </a:spcAft>
            </a:pPr>
            <a:r>
              <a:rPr sz="1500">
                <a:solidFill>
                  <a:srgbClr val="22282E"/>
                </a:solidFill>
              </a:rPr>
              <a:t>•  Fuerza ARP en LAN y mira los paquetes en paralelo con tcpdump:</a:t>
            </a:r>
          </a:p>
          <a:p>
            <a:pPr>
              <a:spcAft>
                <a:spcPts val="600"/>
              </a:spcAft>
            </a:pPr>
            <a:r>
              <a:rPr sz="1500">
                <a:solidFill>
                  <a:srgbClr val="22282E"/>
                </a:solidFill>
              </a:rPr>
              <a:t>•  Descubrimiento a través de router con ICMP echo + timestamp + TCP SYN a 80/443:</a:t>
            </a:r>
          </a:p>
          <a:p>
            <a:pPr>
              <a:spcAft>
                <a:spcPts val="600"/>
              </a:spcAft>
            </a:pPr>
            <a:r>
              <a:rPr sz="1500">
                <a:solidFill>
                  <a:srgbClr val="22282E"/>
                </a:solidFill>
              </a:rPr>
              <a:t>•  Sonda TCP ACK para hosts que dejan pasar respuestas a conexiones establecidas:</a:t>
            </a:r>
          </a:p>
          <a:p>
            <a:pPr>
              <a:spcAft>
                <a:spcPts val="600"/>
              </a:spcAft>
            </a:pPr>
            <a:r>
              <a:rPr sz="1500">
                <a:solidFill>
                  <a:srgbClr val="22282E"/>
                </a:solidFill>
              </a:rPr>
              <a:t>•  Desactiva ping (asume que están vivos) cuando el objetivo bloquea todo descubrimiento:</a:t>
            </a:r>
          </a:p>
          <a:p>
            <a:pPr>
              <a:spcAft>
                <a:spcPts val="600"/>
              </a:spcAft>
            </a:pPr>
            <a:r>
              <a:rPr sz="1500">
                <a:solidFill>
                  <a:srgbClr val="22282E"/>
                </a:solidFill>
              </a:rPr>
              <a:t>•  Solo listar objetivos sin enviar paquetes (list scan) para validar tu rango:</a:t>
            </a:r>
          </a:p>
          <a:p>
            <a:pPr>
              <a:spcAft>
                <a:spcPts val="600"/>
              </a:spcAft>
            </a:pPr>
            <a:r>
              <a:rPr sz="1500">
                <a:solidFill>
                  <a:srgbClr val="22282E"/>
                </a:solidFill>
              </a:rPr>
              <a:t>•  Sin resolución DNS para acelerar: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Compara el número de hosts detectados con -sn por defecto vs. -sn -PR en tu LAN. Explica la diferencia.</a:t>
            </a:r>
          </a:p>
          <a:p>
            <a:pPr>
              <a:spcAft>
                <a:spcPts val="600"/>
              </a:spcAft>
            </a:pPr>
            <a:r>
              <a:rPr sz="1500">
                <a:solidFill>
                  <a:srgbClr val="22282E"/>
                </a:solidFill>
              </a:rPr>
              <a:t>•  Usa tcpdump para confirmar qué sondas envía -sn cuando el objetivo está en otra subred.</a:t>
            </a:r>
          </a:p>
          <a:p>
            <a:pPr>
              <a:spcAft>
                <a:spcPts val="600"/>
              </a:spcAft>
            </a:pPr>
            <a:r>
              <a:rPr sz="1500">
                <a:solidFill>
                  <a:srgbClr val="22282E"/>
                </a:solidFill>
              </a:rPr>
              <a:t>•  Descubre hosts que solo responden a TCP SYN en 22 (-PS22).</a:t>
            </a:r>
          </a:p>
          <a:p>
            <a:pPr>
              <a:spcAft>
                <a:spcPts val="600"/>
              </a:spcAft>
            </a:pPr>
            <a:r>
              <a:rPr sz="1500">
                <a:solidFill>
                  <a:srgbClr val="22282E"/>
                </a:solidFill>
              </a:rPr>
              <a:t>•  Ejecuta un list scan (-sL) de un /29 y verifica que no genera tráfico a los objetivos.</a:t>
            </a:r>
          </a:p>
          <a:p>
            <a:pPr>
              <a:spcAft>
                <a:spcPts val="600"/>
              </a:spcAft>
            </a:pPr>
            <a:r>
              <a:rPr sz="1500">
                <a:solidFill>
                  <a:srgbClr val="22282E"/>
                </a:solidFill>
              </a:rPr>
              <a:t>•  Guarda resultados con -oA y escribe un one-liner que produzca un archivo vivos.txt con una IP por línea.</a:t>
            </a:r>
          </a:p>
          <a:p>
            <a:pPr>
              <a:spcAft>
                <a:spcPts val="600"/>
              </a:spcAft>
            </a:pPr>
            <a:r>
              <a:rPr sz="1500">
                <a:solidFill>
                  <a:srgbClr val="22282E"/>
                </a:solidFill>
              </a:rPr>
              <a:t>•  Investiga y prueba --traceroute junto a -sn para mapear la ruta hacia un host.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Sobre tu subred de laboratorio, produce un archivo vivos.txt con las IPs de todos los hosts activos, usando la técnica de descubrimiento que detecte el mayor número de hosts. Justifica en 3–4 líneas…</a:t>
            </a:r>
          </a:p>
          <a:p>
            <a:pPr>
              <a:spcAft>
                <a:spcPts val="600"/>
              </a:spcAft>
            </a:pPr>
            <a:r>
              <a:rPr sz="1500">
                <a:solidFill>
                  <a:srgbClr val="22282E"/>
                </a:solidFill>
              </a:rPr>
              <a:t>•  Criterio de aceptación: la lista incluye todos los hosts que el revisor sabe que están encendidos en la red, y la justificación es coherente con la topología (ARP en LAN, TCP/ICMP a través de router).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Todos los hosts salen "down" — El objetivo filtra tus sondas; prueba -Pn o varía las sondas (-PS, -PA, -PU)</a:t>
            </a:r>
          </a:p>
          <a:p>
            <a:pPr>
              <a:spcAft>
                <a:spcPts val="600"/>
              </a:spcAft>
            </a:pPr>
            <a:r>
              <a:rPr sz="1500">
                <a:solidFill>
                  <a:srgbClr val="22282E"/>
                </a:solidFill>
              </a:rPr>
              <a:t>•  Descubrimiento muy lento — Resolución DNS activa; añade -n</a:t>
            </a:r>
          </a:p>
          <a:p>
            <a:pPr>
              <a:spcAft>
                <a:spcPts val="600"/>
              </a:spcAft>
            </a:pPr>
            <a:r>
              <a:rPr sz="1500">
                <a:solidFill>
                  <a:srgbClr val="22282E"/>
                </a:solidFill>
              </a:rPr>
              <a:t>•  En LAN detecta menos hosts de lo esperado — Firewalls de host bloquean ICMP; usa ARP (-PR, es el default en LAN)</a:t>
            </a:r>
          </a:p>
          <a:p>
            <a:pPr>
              <a:spcAft>
                <a:spcPts val="600"/>
              </a:spcAft>
            </a:pPr>
            <a:r>
              <a:rPr sz="1500">
                <a:solidFill>
                  <a:srgbClr val="22282E"/>
                </a:solidFill>
              </a:rPr>
              <a:t>•  "requires root privileges" — Las sondas raw necesitan privilegios; usa sudo</a:t>
            </a:r>
          </a:p>
          <a:p>
            <a:pPr>
              <a:spcAft>
                <a:spcPts val="600"/>
              </a:spcAft>
            </a:pPr>
            <a:r>
              <a:rPr sz="1500">
                <a:solidFill>
                  <a:srgbClr val="22282E"/>
                </a:solidFill>
              </a:rPr>
              <a:t>•  Escaneas y no ves nada en la red destino — Estás en otra subred sin ruta; verifica routing y usa sondas TCP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¿-sn escanea puertos?</a:t>
            </a:r>
          </a:p>
          <a:p>
            <a:pPr>
              <a:spcAft>
                <a:spcPts val="600"/>
              </a:spcAft>
            </a:pPr>
            <a:r>
              <a:rPr sz="1500">
                <a:solidFill>
                  <a:srgbClr val="22282E"/>
                </a:solidFill>
              </a:rPr>
              <a:t>•  No. -sn hace solo descubrimiento de hosts. Antes se llamaba -sP. Para puertos necesitas otro tipo de escaneo (siguiente clase).</a:t>
            </a:r>
          </a:p>
          <a:p>
            <a:pPr>
              <a:spcAft>
                <a:spcPts val="600"/>
              </a:spcAft>
            </a:pPr>
            <a:r>
              <a:rPr sz="1500">
                <a:solidFill>
                  <a:srgbClr val="22282E"/>
                </a:solidFill>
              </a:rPr>
              <a:t>•  ❓ ¿Por qué a veces -Pn es mejor?</a:t>
            </a:r>
          </a:p>
          <a:p>
            <a:pPr>
              <a:spcAft>
                <a:spcPts val="600"/>
              </a:spcAft>
            </a:pPr>
            <a:r>
              <a:rPr sz="1500">
                <a:solidFill>
                  <a:srgbClr val="22282E"/>
                </a:solidFill>
              </a:rPr>
              <a:t>•  Cuando el objetivo bloquea todo descubrimiento, -Pn salta la fase y escanea directamente, evitando falsos negativos, a costa de más tiempo (escanea IPs que podrían estar muertas).</a:t>
            </a:r>
          </a:p>
          <a:p>
            <a:pPr>
              <a:spcAft>
                <a:spcPts val="600"/>
              </a:spcAft>
            </a:pPr>
            <a:r>
              <a:rPr sz="1500">
                <a:solidFill>
                  <a:srgbClr val="22282E"/>
                </a:solidFill>
              </a:rPr>
              <a:t>•  ❓ ¿ARP funciona a través de un router?</a:t>
            </a:r>
          </a:p>
          <a:p>
            <a:pPr>
              <a:spcAft>
                <a:spcPts val="600"/>
              </a:spcAft>
            </a:pPr>
            <a:r>
              <a:rPr sz="1500">
                <a:solidFill>
                  <a:srgbClr val="22282E"/>
                </a:solidFill>
              </a:rPr>
              <a:t>•  No. ARP es de capa 2 y solo sirve dentro del mismo dominio de difusión (tu LAN). Fuera de ella se usan sondas IP.</a:t>
            </a:r>
          </a:p>
          <a:p>
            <a:pPr>
              <a:spcAft>
                <a:spcPts val="600"/>
              </a:spcAft>
            </a:pPr>
            <a:r>
              <a:rPr sz="1500">
                <a:solidFill>
                  <a:srgbClr val="22282E"/>
                </a:solidFill>
              </a:rPr>
              <a:t>•  ❓ ¿El descubrimiento es detectable?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Lyon, G. Nmap Network Scanning, cap. "Host Discovery". &lt;https://nmap.org/book/host-discovery.html&gt;</a:t>
            </a:r>
          </a:p>
          <a:p>
            <a:pPr>
              <a:spcAft>
                <a:spcPts val="600"/>
              </a:spcAft>
            </a:pPr>
            <a:r>
              <a:rPr sz="1500">
                <a:solidFill>
                  <a:srgbClr val="22282E"/>
                </a:solidFill>
              </a:rPr>
              <a:t>•  Nmap Reference Guide. &lt;https://nmap.org/book/man.html&gt;</a:t>
            </a:r>
          </a:p>
          <a:p>
            <a:pPr>
              <a:spcAft>
                <a:spcPts val="600"/>
              </a:spcAft>
            </a:pPr>
            <a:r>
              <a:rPr sz="1500">
                <a:solidFill>
                  <a:srgbClr val="22282E"/>
                </a:solidFill>
              </a:rPr>
              <a:t>•  Nmap: Host Discovery Techniques. &lt;https://nmap.org/book/host-discovery-techniques.html&gt;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8d87833efec2a171.png"/>
          <p:cNvPicPr>
            <a:picLocks noChangeAspect="1"/>
          </p:cNvPicPr>
          <p:nvPr/>
        </p:nvPicPr>
        <p:blipFill>
          <a:blip r:embed="rId2"/>
          <a:stretch>
            <a:fillRect/>
          </a:stretch>
        </p:blipFill>
        <p:spPr>
          <a:xfrm>
            <a:off x="2980244" y="1097280"/>
            <a:ext cx="3183511"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