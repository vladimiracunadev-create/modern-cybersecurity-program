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2194560"/>
            <a:ext cx="8046720" cy="2286000"/>
          </a:xfrm>
          <a:prstGeom prst="rect">
            <a:avLst/>
          </a:prstGeom>
          <a:noFill/>
        </p:spPr>
        <p:txBody>
          <a:bodyPr wrap="square">
            <a:spAutoFit/>
          </a:bodyPr>
          <a:lstStyle/>
          <a:p>
            <a:r>
              <a:rPr sz="3200" b="1">
                <a:solidFill>
                  <a:srgbClr val="0B3D2E"/>
                </a:solidFill>
              </a:rPr>
              <a:t>Clase 028 — tcpdump y captura de tráfico en línea de comandos</a:t>
            </a:r>
          </a:p>
          <a:p>
            <a:r>
              <a:rPr sz="1600">
                <a:solidFill>
                  <a:srgbClr val="2E8B57"/>
                </a:solidFill>
              </a:rPr>
              <a:t>parte 1 redes y seguridad de redes</a:t>
            </a:r>
          </a:p>
          <a:p>
            <a:r>
              <a:rPr sz="1200">
                <a:solidFill>
                  <a:srgbClr val="22282E"/>
                </a:solidFill>
              </a:rPr>
              <a:t>Programa de Ciberseguridad Moderna</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8229600" cy="822960"/>
          </a:xfrm>
          <a:prstGeom prst="rect">
            <a:avLst/>
          </a:prstGeom>
          <a:noFill/>
        </p:spPr>
        <p:txBody>
          <a:bodyPr wrap="square">
            <a:spAutoFit/>
          </a:bodyPr>
          <a:lstStyle/>
          <a:p>
            <a:r>
              <a:rPr sz="2600" b="1">
                <a:solidFill>
                  <a:srgbClr val="0B3D2E"/>
                </a:solidFill>
              </a:rPr>
              <a:t>🎯 Objetivo</a:t>
            </a:r>
          </a:p>
        </p:txBody>
      </p:sp>
      <p:sp>
        <p:nvSpPr>
          <p:cNvPr id="3" name="TextBox 2"/>
          <p:cNvSpPr txBox="1"/>
          <p:nvPr/>
        </p:nvSpPr>
        <p:spPr>
          <a:xfrm>
            <a:off x="457200" y="1280160"/>
            <a:ext cx="8229600" cy="4937760"/>
          </a:xfrm>
          <a:prstGeom prst="rect">
            <a:avLst/>
          </a:prstGeom>
          <a:noFill/>
        </p:spPr>
        <p:txBody>
          <a:bodyPr wrap="square">
            <a:spAutoFit/>
          </a:bodyPr>
          <a:lstStyle/>
          <a:p>
            <a:pPr>
              <a:spcAft>
                <a:spcPts val="600"/>
              </a:spcAft>
            </a:pPr>
            <a:r>
              <a:rPr sz="1500">
                <a:solidFill>
                  <a:srgbClr val="22282E"/>
                </a:solidFill>
              </a:rPr>
              <a:t>•  Capturar y filtrar tráfico desde la terminal con tcpdump, la herramienta imprescindible cuando no hay entorno gráfico (servidores, contenedores, dispositivos remotos por SSH). El alumno aprenderá la sintaxis BPF, la rotación de archivos y el flujo de trabajo "capturar en el servidor, analizar en Wireshark".</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8229600" cy="822960"/>
          </a:xfrm>
          <a:prstGeom prst="rect">
            <a:avLst/>
          </a:prstGeom>
          <a:noFill/>
        </p:spPr>
        <p:txBody>
          <a:bodyPr wrap="square">
            <a:spAutoFit/>
          </a:bodyPr>
          <a:lstStyle/>
          <a:p>
            <a:r>
              <a:rPr sz="2600" b="1">
                <a:solidFill>
                  <a:srgbClr val="0B3D2E"/>
                </a:solidFill>
              </a:rPr>
              <a:t>📚 Resultados de aprendizaje</a:t>
            </a:r>
          </a:p>
        </p:txBody>
      </p:sp>
      <p:sp>
        <p:nvSpPr>
          <p:cNvPr id="3" name="TextBox 2"/>
          <p:cNvSpPr txBox="1"/>
          <p:nvPr/>
        </p:nvSpPr>
        <p:spPr>
          <a:xfrm>
            <a:off x="457200" y="1280160"/>
            <a:ext cx="8229600" cy="4937760"/>
          </a:xfrm>
          <a:prstGeom prst="rect">
            <a:avLst/>
          </a:prstGeom>
          <a:noFill/>
        </p:spPr>
        <p:txBody>
          <a:bodyPr wrap="square">
            <a:spAutoFit/>
          </a:bodyPr>
          <a:lstStyle/>
          <a:p>
            <a:pPr>
              <a:spcAft>
                <a:spcPts val="600"/>
              </a:spcAft>
            </a:pPr>
            <a:r>
              <a:rPr sz="1500">
                <a:solidFill>
                  <a:srgbClr val="22282E"/>
                </a:solidFill>
              </a:rPr>
              <a:t>•  Al finalizar, el alumno podrá:</a:t>
            </a:r>
          </a:p>
          <a:p>
            <a:pPr>
              <a:spcAft>
                <a:spcPts val="600"/>
              </a:spcAft>
            </a:pPr>
            <a:r>
              <a:rPr sz="1500">
                <a:solidFill>
                  <a:srgbClr val="22282E"/>
                </a:solidFill>
              </a:rPr>
              <a:t>•  Seleccionar interfaz, tamaño de snap y verbosidad adecuados para cada captura.</a:t>
            </a:r>
          </a:p>
          <a:p>
            <a:pPr>
              <a:spcAft>
                <a:spcPts val="600"/>
              </a:spcAft>
            </a:pPr>
            <a:r>
              <a:rPr sz="1500">
                <a:solidFill>
                  <a:srgbClr val="22282E"/>
                </a:solidFill>
              </a:rPr>
              <a:t>•  Escribir filtros BPF por host, red, puerto, protocolo y flags TCP.</a:t>
            </a:r>
          </a:p>
          <a:p>
            <a:pPr>
              <a:spcAft>
                <a:spcPts val="600"/>
              </a:spcAft>
            </a:pPr>
            <a:r>
              <a:rPr sz="1500">
                <a:solidFill>
                  <a:srgbClr val="22282E"/>
                </a:solidFill>
              </a:rPr>
              <a:t>•  Guardar capturas en .pcap y rotarlas por tamaño o tiempo con un ring buffer.</a:t>
            </a:r>
          </a:p>
          <a:p>
            <a:pPr>
              <a:spcAft>
                <a:spcPts val="600"/>
              </a:spcAft>
            </a:pPr>
            <a:r>
              <a:rPr sz="1500">
                <a:solidFill>
                  <a:srgbClr val="22282E"/>
                </a:solidFill>
              </a:rPr>
              <a:t>•  Leer capturas guardadas y aplicar filtros de lectura sin recapturar.</a:t>
            </a:r>
          </a:p>
          <a:p>
            <a:pPr>
              <a:spcAft>
                <a:spcPts val="600"/>
              </a:spcAft>
            </a:pPr>
            <a:r>
              <a:rPr sz="1500">
                <a:solidFill>
                  <a:srgbClr val="22282E"/>
                </a:solidFill>
              </a:rPr>
              <a:t>•  Combinar tcpdump con SSH para capturar en remoto y ver en local.</a:t>
            </a:r>
          </a:p>
          <a:p>
            <a:pPr>
              <a:spcAft>
                <a:spcPts val="600"/>
              </a:spcAft>
            </a:pPr>
            <a:r>
              <a:rPr sz="1500">
                <a:solidFill>
                  <a:srgbClr val="22282E"/>
                </a:solidFill>
              </a:rPr>
              <a:t>•  Reconocer los límites de tcpdump frente a analizadores gráficos.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8229600" cy="822960"/>
          </a:xfrm>
          <a:prstGeom prst="rect">
            <a:avLst/>
          </a:prstGeom>
          <a:noFill/>
        </p:spPr>
        <p:txBody>
          <a:bodyPr wrap="square">
            <a:spAutoFit/>
          </a:bodyPr>
          <a:lstStyle/>
          <a:p>
            <a:r>
              <a:rPr sz="2600" b="1">
                <a:solidFill>
                  <a:srgbClr val="0B3D2E"/>
                </a:solidFill>
              </a:rPr>
              <a:t>🗺️ Temas</a:t>
            </a:r>
          </a:p>
        </p:txBody>
      </p:sp>
      <p:sp>
        <p:nvSpPr>
          <p:cNvPr id="3" name="TextBox 2"/>
          <p:cNvSpPr txBox="1"/>
          <p:nvPr/>
        </p:nvSpPr>
        <p:spPr>
          <a:xfrm>
            <a:off x="457200" y="1280160"/>
            <a:ext cx="8229600" cy="4937760"/>
          </a:xfrm>
          <a:prstGeom prst="rect">
            <a:avLst/>
          </a:prstGeom>
          <a:noFill/>
        </p:spPr>
        <p:txBody>
          <a:bodyPr wrap="square">
            <a:spAutoFit/>
          </a:bodyPr>
          <a:lstStyle/>
          <a:p>
            <a:pPr>
              <a:spcAft>
                <a:spcPts val="600"/>
              </a:spcAft>
            </a:pPr>
            <a:r>
              <a:rPr sz="1500">
                <a:solidFill>
                  <a:srgbClr val="22282E"/>
                </a:solidFill>
              </a:rPr>
              <a:t>•  1 — Selección de interfaz (-i)</a:t>
            </a:r>
          </a:p>
          <a:p>
            <a:pPr>
              <a:spcAft>
                <a:spcPts val="600"/>
              </a:spcAft>
            </a:pPr>
            <a:r>
              <a:rPr sz="1500">
                <a:solidFill>
                  <a:srgbClr val="22282E"/>
                </a:solidFill>
              </a:rPr>
              <a:t>•  2 — Snap length (-s) y verbosidad (-v)</a:t>
            </a:r>
          </a:p>
          <a:p>
            <a:pPr>
              <a:spcAft>
                <a:spcPts val="600"/>
              </a:spcAft>
            </a:pPr>
            <a:r>
              <a:rPr sz="1500">
                <a:solidFill>
                  <a:srgbClr val="22282E"/>
                </a:solidFill>
              </a:rPr>
              <a:t>•  3 — Filtros BPF primitivos y compuestos</a:t>
            </a:r>
          </a:p>
          <a:p>
            <a:pPr>
              <a:spcAft>
                <a:spcPts val="600"/>
              </a:spcAft>
            </a:pPr>
            <a:r>
              <a:rPr sz="1500">
                <a:solidFill>
                  <a:srgbClr val="22282E"/>
                </a:solidFill>
              </a:rPr>
              <a:t>•  4 — Escritura y lectura de pcap (-w/-r)</a:t>
            </a:r>
          </a:p>
          <a:p>
            <a:pPr>
              <a:spcAft>
                <a:spcPts val="600"/>
              </a:spcAft>
            </a:pPr>
            <a:r>
              <a:rPr sz="1500">
                <a:solidFill>
                  <a:srgbClr val="22282E"/>
                </a:solidFill>
              </a:rPr>
              <a:t>•  5 — Rotación con -C, -G, -W</a:t>
            </a:r>
          </a:p>
          <a:p>
            <a:pPr>
              <a:spcAft>
                <a:spcPts val="600"/>
              </a:spcAft>
            </a:pPr>
            <a:r>
              <a:rPr sz="1500">
                <a:solidFill>
                  <a:srgbClr val="22282E"/>
                </a:solidFill>
              </a:rPr>
              <a:t>•  6 — Filtrado por flags TCP</a:t>
            </a:r>
          </a:p>
          <a:p>
            <a:pPr>
              <a:spcAft>
                <a:spcPts val="600"/>
              </a:spcAft>
            </a:pPr>
            <a:r>
              <a:rPr sz="1500">
                <a:solidFill>
                  <a:srgbClr val="22282E"/>
                </a:solidFill>
              </a:rPr>
              <a:t>•  7 — tcpdump sobre SSH</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8229600" cy="822960"/>
          </a:xfrm>
          <a:prstGeom prst="rect">
            <a:avLst/>
          </a:prstGeom>
          <a:noFill/>
        </p:spPr>
        <p:txBody>
          <a:bodyPr wrap="square">
            <a:spAutoFit/>
          </a:bodyPr>
          <a:lstStyle/>
          <a:p>
            <a:r>
              <a:rPr sz="2600" b="1">
                <a:solidFill>
                  <a:srgbClr val="0B3D2E"/>
                </a:solidFill>
              </a:rPr>
              <a:t>📖 Definiciones y características</a:t>
            </a:r>
          </a:p>
        </p:txBody>
      </p:sp>
      <p:sp>
        <p:nvSpPr>
          <p:cNvPr id="3" name="TextBox 2"/>
          <p:cNvSpPr txBox="1"/>
          <p:nvPr/>
        </p:nvSpPr>
        <p:spPr>
          <a:xfrm>
            <a:off x="457200" y="1280160"/>
            <a:ext cx="8229600" cy="4937760"/>
          </a:xfrm>
          <a:prstGeom prst="rect">
            <a:avLst/>
          </a:prstGeom>
          <a:noFill/>
        </p:spPr>
        <p:txBody>
          <a:bodyPr wrap="square">
            <a:spAutoFit/>
          </a:bodyPr>
          <a:lstStyle/>
          <a:p>
            <a:pPr>
              <a:spcAft>
                <a:spcPts val="600"/>
              </a:spcAft>
            </a:pPr>
            <a:r>
              <a:rPr sz="1500">
                <a:solidFill>
                  <a:srgbClr val="22282E"/>
                </a:solidFill>
              </a:rPr>
              <a:t>•  BPF (Berkeley Packet Filter): lenguaje de filtrado compilado en kernel; muy eficiente porque descarta paquetes antes de copiarlos a espacio de usuario.</a:t>
            </a:r>
          </a:p>
          <a:p>
            <a:pPr>
              <a:spcAft>
                <a:spcPts val="600"/>
              </a:spcAft>
            </a:pPr>
            <a:r>
              <a:rPr sz="1500">
                <a:solidFill>
                  <a:srgbClr val="22282E"/>
                </a:solidFill>
              </a:rPr>
              <a:t>•  Snap length (-s): bytes capturados por paquete. -s 0 (o el valor por defecto moderno) captura el paquete completo.</a:t>
            </a:r>
          </a:p>
          <a:p>
            <a:pPr>
              <a:spcAft>
                <a:spcPts val="600"/>
              </a:spcAft>
            </a:pPr>
            <a:r>
              <a:rPr sz="1500">
                <a:solidFill>
                  <a:srgbClr val="22282E"/>
                </a:solidFill>
              </a:rPr>
              <a:t>•  Ring buffer: conjunto rotatorio de archivos (-C tamaño, -W número) que evita llenar el disco.</a:t>
            </a:r>
          </a:p>
          <a:p>
            <a:pPr>
              <a:spcAft>
                <a:spcPts val="600"/>
              </a:spcAft>
            </a:pPr>
            <a:r>
              <a:rPr sz="1500">
                <a:solidFill>
                  <a:srgbClr val="22282E"/>
                </a:solidFill>
              </a:rPr>
              <a:t>•  Primitiva BPF: unidad básica del filtro: host, net, port, tcp, udp, src, dst.</a:t>
            </a:r>
          </a:p>
          <a:p>
            <a:pPr>
              <a:spcAft>
                <a:spcPts val="600"/>
              </a:spcAft>
            </a:pPr>
            <a:r>
              <a:rPr sz="1500">
                <a:solidFill>
                  <a:srgbClr val="22282E"/>
                </a:solidFill>
              </a:rPr>
              <a:t>•  -n: desactiva resolución DNS/puertos; acelera y evita generar tráfico extra durante la captura.</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8229600" cy="822960"/>
          </a:xfrm>
          <a:prstGeom prst="rect">
            <a:avLst/>
          </a:prstGeom>
          <a:noFill/>
        </p:spPr>
        <p:txBody>
          <a:bodyPr wrap="square">
            <a:spAutoFit/>
          </a:bodyPr>
          <a:lstStyle/>
          <a:p>
            <a:r>
              <a:rPr sz="2600" b="1">
                <a:solidFill>
                  <a:srgbClr val="0B3D2E"/>
                </a:solidFill>
              </a:rPr>
              <a:t>🧰 Herramientas y preparación</a:t>
            </a:r>
          </a:p>
        </p:txBody>
      </p:sp>
      <p:sp>
        <p:nvSpPr>
          <p:cNvPr id="3" name="TextBox 2"/>
          <p:cNvSpPr txBox="1"/>
          <p:nvPr/>
        </p:nvSpPr>
        <p:spPr>
          <a:xfrm>
            <a:off x="457200" y="1280160"/>
            <a:ext cx="8229600" cy="4937760"/>
          </a:xfrm>
          <a:prstGeom prst="rect">
            <a:avLst/>
          </a:prstGeom>
          <a:noFill/>
        </p:spPr>
        <p:txBody>
          <a:bodyPr wrap="square">
            <a:spAutoFit/>
          </a:bodyPr>
          <a:lstStyle/>
          <a:p>
            <a:pPr>
              <a:spcAft>
                <a:spcPts val="600"/>
              </a:spcAft>
            </a:pPr>
            <a:r>
              <a:rPr sz="1500">
                <a:solidFill>
                  <a:srgbClr val="22282E"/>
                </a:solidFill>
              </a:rPr>
              <a:t>•  tcpdump (Linux/macOS/BSD): sudo apt install tcpdump o viene preinstalado.</a:t>
            </a:r>
          </a:p>
          <a:p>
            <a:pPr>
              <a:spcAft>
                <a:spcPts val="600"/>
              </a:spcAft>
            </a:pPr>
            <a:r>
              <a:rPr sz="1500">
                <a:solidFill>
                  <a:srgbClr val="22282E"/>
                </a:solidFill>
              </a:rPr>
              <a:t>•  Requiere privilegios para capturar: sudo o capacidad CAPNETRAW (sudo setcap capnetraw+ep $(which tcpdump)).</a:t>
            </a:r>
          </a:p>
          <a:p>
            <a:pPr>
              <a:spcAft>
                <a:spcPts val="600"/>
              </a:spcAft>
            </a:pPr>
            <a:r>
              <a:rPr sz="1500">
                <a:solidFill>
                  <a:srgbClr val="22282E"/>
                </a:solidFill>
              </a:rPr>
              <a:t>•  Para analizar después: Wireshark o tshark.</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8229600" cy="822960"/>
          </a:xfrm>
          <a:prstGeom prst="rect">
            <a:avLst/>
          </a:prstGeom>
          <a:noFill/>
        </p:spPr>
        <p:txBody>
          <a:bodyPr wrap="square">
            <a:spAutoFit/>
          </a:bodyPr>
          <a:lstStyle/>
          <a:p>
            <a:r>
              <a:rPr sz="2600" b="1">
                <a:solidFill>
                  <a:srgbClr val="0B3D2E"/>
                </a:solidFill>
              </a:rPr>
              <a:t>🧪 Laboratorio guiado</a:t>
            </a:r>
          </a:p>
        </p:txBody>
      </p:sp>
      <p:sp>
        <p:nvSpPr>
          <p:cNvPr id="3" name="TextBox 2"/>
          <p:cNvSpPr txBox="1"/>
          <p:nvPr/>
        </p:nvSpPr>
        <p:spPr>
          <a:xfrm>
            <a:off x="457200" y="1280160"/>
            <a:ext cx="8229600" cy="4937760"/>
          </a:xfrm>
          <a:prstGeom prst="rect">
            <a:avLst/>
          </a:prstGeom>
          <a:noFill/>
        </p:spPr>
        <p:txBody>
          <a:bodyPr wrap="square">
            <a:spAutoFit/>
          </a:bodyPr>
          <a:lstStyle/>
          <a:p>
            <a:pPr>
              <a:spcAft>
                <a:spcPts val="600"/>
              </a:spcAft>
            </a:pPr>
            <a:r>
              <a:rPr sz="1500">
                <a:solidFill>
                  <a:srgbClr val="22282E"/>
                </a:solidFill>
              </a:rPr>
              <a:t>•  Lista interfaces disponibles:</a:t>
            </a:r>
          </a:p>
          <a:p>
            <a:pPr>
              <a:spcAft>
                <a:spcPts val="600"/>
              </a:spcAft>
            </a:pPr>
            <a:r>
              <a:rPr sz="1500">
                <a:solidFill>
                  <a:srgbClr val="22282E"/>
                </a:solidFill>
              </a:rPr>
              <a:t>•  sudo tcpdump -D</a:t>
            </a:r>
          </a:p>
          <a:p>
            <a:pPr>
              <a:spcAft>
                <a:spcPts val="600"/>
              </a:spcAft>
            </a:pPr>
            <a:r>
              <a:rPr sz="1500">
                <a:solidFill>
                  <a:srgbClr val="22282E"/>
                </a:solidFill>
              </a:rPr>
              <a:t>•  Captura básica sin resolución de nombres:</a:t>
            </a:r>
          </a:p>
          <a:p>
            <a:pPr>
              <a:spcAft>
                <a:spcPts val="600"/>
              </a:spcAft>
            </a:pPr>
            <a:r>
              <a:rPr sz="1500">
                <a:solidFill>
                  <a:srgbClr val="22282E"/>
                </a:solidFill>
              </a:rPr>
              <a:t>•  sudo tcpdump -i eth0 -n</a:t>
            </a:r>
          </a:p>
          <a:p>
            <a:pPr>
              <a:spcAft>
                <a:spcPts val="600"/>
              </a:spcAft>
            </a:pPr>
            <a:r>
              <a:rPr sz="1500">
                <a:solidFill>
                  <a:srgbClr val="22282E"/>
                </a:solidFill>
              </a:rPr>
              <a:t>•  Filtra por host y puerto:</a:t>
            </a:r>
          </a:p>
          <a:p>
            <a:pPr>
              <a:spcAft>
                <a:spcPts val="600"/>
              </a:spcAft>
            </a:pPr>
            <a:r>
              <a:rPr sz="1500">
                <a:solidFill>
                  <a:srgbClr val="22282E"/>
                </a:solidFill>
              </a:rPr>
              <a:t>•  sudo tcpdump -i eth0 -n host 192.168.56.101 and tcp port 80</a:t>
            </a:r>
          </a:p>
          <a:p>
            <a:pPr>
              <a:spcAft>
                <a:spcPts val="600"/>
              </a:spcAft>
            </a:pPr>
            <a:r>
              <a:rPr sz="1500">
                <a:solidFill>
                  <a:srgbClr val="22282E"/>
                </a:solidFill>
              </a:rPr>
              <a:t>•  Captura solo paquetes SYN (inicio de conexión) usando el offset de flags: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8229600" cy="822960"/>
          </a:xfrm>
          <a:prstGeom prst="rect">
            <a:avLst/>
          </a:prstGeom>
          <a:noFill/>
        </p:spPr>
        <p:txBody>
          <a:bodyPr wrap="square">
            <a:spAutoFit/>
          </a:bodyPr>
          <a:lstStyle/>
          <a:p>
            <a:r>
              <a:rPr sz="2600" b="1">
                <a:solidFill>
                  <a:srgbClr val="0B3D2E"/>
                </a:solidFill>
              </a:rPr>
              <a:t>✍️ Ejercicios</a:t>
            </a:r>
          </a:p>
        </p:txBody>
      </p:sp>
      <p:sp>
        <p:nvSpPr>
          <p:cNvPr id="3" name="TextBox 2"/>
          <p:cNvSpPr txBox="1"/>
          <p:nvPr/>
        </p:nvSpPr>
        <p:spPr>
          <a:xfrm>
            <a:off x="457200" y="1280160"/>
            <a:ext cx="8229600" cy="4937760"/>
          </a:xfrm>
          <a:prstGeom prst="rect">
            <a:avLst/>
          </a:prstGeom>
          <a:noFill/>
        </p:spPr>
        <p:txBody>
          <a:bodyPr wrap="square">
            <a:spAutoFit/>
          </a:bodyPr>
          <a:lstStyle/>
          <a:p>
            <a:pPr>
              <a:spcAft>
                <a:spcPts val="600"/>
              </a:spcAft>
            </a:pPr>
            <a:r>
              <a:rPr sz="1500">
                <a:solidFill>
                  <a:srgbClr val="22282E"/>
                </a:solidFill>
              </a:rPr>
              <a:t>•  Captura solo tráfico ICMP entre dos hosts de tu laboratorio y guárdalo en icmp.pcap.</a:t>
            </a:r>
          </a:p>
          <a:p>
            <a:pPr>
              <a:spcAft>
                <a:spcPts val="600"/>
              </a:spcAft>
            </a:pPr>
            <a:r>
              <a:rPr sz="1500">
                <a:solidFill>
                  <a:srgbClr val="22282E"/>
                </a:solidFill>
              </a:rPr>
              <a:t>•  Escribe un filtro que capture tráfico HTTP y HTTPS (port 80 or port 443).</a:t>
            </a:r>
          </a:p>
          <a:p>
            <a:pPr>
              <a:spcAft>
                <a:spcPts val="600"/>
              </a:spcAft>
            </a:pPr>
            <a:r>
              <a:rPr sz="1500">
                <a:solidFill>
                  <a:srgbClr val="22282E"/>
                </a:solidFill>
              </a:rPr>
              <a:t>•  Captura paquetes con el flag RST activo e interpreta qué conexiones se rechazan.</a:t>
            </a:r>
          </a:p>
          <a:p>
            <a:pPr>
              <a:spcAft>
                <a:spcPts val="600"/>
              </a:spcAft>
            </a:pPr>
            <a:r>
              <a:rPr sz="1500">
                <a:solidFill>
                  <a:srgbClr val="22282E"/>
                </a:solidFill>
              </a:rPr>
              <a:t>•  Usa -c 100 para limitar la captura a 100 paquetes y explica cuándo conviene.</a:t>
            </a:r>
          </a:p>
          <a:p>
            <a:pPr>
              <a:spcAft>
                <a:spcPts val="600"/>
              </a:spcAft>
            </a:pPr>
            <a:r>
              <a:rPr sz="1500">
                <a:solidFill>
                  <a:srgbClr val="22282E"/>
                </a:solidFill>
              </a:rPr>
              <a:t>•  Rota capturas cada 60 segundos con -G 60 y nómbralas con %Y%m%d-%H%M%S.</a:t>
            </a:r>
          </a:p>
          <a:p>
            <a:pPr>
              <a:spcAft>
                <a:spcPts val="600"/>
              </a:spcAft>
            </a:pPr>
            <a:r>
              <a:rPr sz="1500">
                <a:solidFill>
                  <a:srgbClr val="22282E"/>
                </a:solidFill>
              </a:rPr>
              <a:t>•  Convierte tu .pcap a .pcapng con editcap y ábrelo en Wireshark.</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8229600" cy="822960"/>
          </a:xfrm>
          <a:prstGeom prst="rect">
            <a:avLst/>
          </a:prstGeom>
          <a:noFill/>
        </p:spPr>
        <p:txBody>
          <a:bodyPr wrap="square">
            <a:spAutoFit/>
          </a:bodyPr>
          <a:lstStyle/>
          <a:p>
            <a:r>
              <a:rPr sz="2600" b="1">
                <a:solidFill>
                  <a:srgbClr val="0B3D2E"/>
                </a:solidFill>
              </a:rPr>
              <a:t>📝 Reto verificable</a:t>
            </a:r>
          </a:p>
        </p:txBody>
      </p:sp>
      <p:sp>
        <p:nvSpPr>
          <p:cNvPr id="3" name="TextBox 2"/>
          <p:cNvSpPr txBox="1"/>
          <p:nvPr/>
        </p:nvSpPr>
        <p:spPr>
          <a:xfrm>
            <a:off x="457200" y="1280160"/>
            <a:ext cx="8229600" cy="4937760"/>
          </a:xfrm>
          <a:prstGeom prst="rect">
            <a:avLst/>
          </a:prstGeom>
          <a:noFill/>
        </p:spPr>
        <p:txBody>
          <a:bodyPr wrap="square">
            <a:spAutoFit/>
          </a:bodyPr>
          <a:lstStyle/>
          <a:p>
            <a:pPr>
              <a:spcAft>
                <a:spcPts val="600"/>
              </a:spcAft>
            </a:pPr>
            <a:r>
              <a:rPr sz="1500">
                <a:solidFill>
                  <a:srgbClr val="22282E"/>
                </a:solidFill>
              </a:rPr>
              <a:t>•  Desde un servidor de laboratorio (o VM) sin entorno gráfico, captura durante 30 segundos todo el tráfico excepto tu sesión SSH, guárdalo con rotación en archivos de 5 MB, y entrega el primer archivo junto con el comando exacto usado. Documenta cuántos paquetes contiene según tcpdump -r archivo -n | wc -l.</a:t>
            </a:r>
          </a:p>
          <a:p>
            <a:pPr>
              <a:spcAft>
                <a:spcPts val="600"/>
              </a:spcAft>
            </a:pPr>
            <a:r>
              <a:rPr sz="1500">
                <a:solidFill>
                  <a:srgbClr val="22282E"/>
                </a:solidFill>
              </a:rPr>
              <a:t>•  Criterio de aceptación: el archivo abre sin errores en Wireshark, no contiene tráfico del puerto 22 hacia/desde tu IP, y el conteo declarado coincide con el del revisor.</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8229600" cy="822960"/>
          </a:xfrm>
          <a:prstGeom prst="rect">
            <a:avLst/>
          </a:prstGeom>
          <a:noFill/>
        </p:spPr>
        <p:txBody>
          <a:bodyPr wrap="square">
            <a:spAutoFit/>
          </a:bodyPr>
          <a:lstStyle/>
          <a:p>
            <a:r>
              <a:rPr sz="2600" b="1">
                <a:solidFill>
                  <a:srgbClr val="0B3D2E"/>
                </a:solidFill>
              </a:rPr>
              <a:t>⚠️ Errores comunes</a:t>
            </a:r>
          </a:p>
        </p:txBody>
      </p:sp>
      <p:sp>
        <p:nvSpPr>
          <p:cNvPr id="3" name="TextBox 2"/>
          <p:cNvSpPr txBox="1"/>
          <p:nvPr/>
        </p:nvSpPr>
        <p:spPr>
          <a:xfrm>
            <a:off x="457200" y="1280160"/>
            <a:ext cx="8229600" cy="4937760"/>
          </a:xfrm>
          <a:prstGeom prst="rect">
            <a:avLst/>
          </a:prstGeom>
          <a:noFill/>
        </p:spPr>
        <p:txBody>
          <a:bodyPr wrap="square">
            <a:spAutoFit/>
          </a:bodyPr>
          <a:lstStyle/>
          <a:p>
            <a:pPr>
              <a:spcAft>
                <a:spcPts val="600"/>
              </a:spcAft>
            </a:pPr>
            <a:r>
              <a:rPr sz="1500">
                <a:solidFill>
                  <a:srgbClr val="22282E"/>
                </a:solidFill>
              </a:rPr>
              <a:t>•  tcpdump: &lt;iface&gt;: You don't have permission — Falta privilegio; usa sudo o asigna capnetraw</a:t>
            </a:r>
          </a:p>
          <a:p>
            <a:pPr>
              <a:spcAft>
                <a:spcPts val="600"/>
              </a:spcAft>
            </a:pPr>
            <a:r>
              <a:rPr sz="1500">
                <a:solidFill>
                  <a:srgbClr val="22282E"/>
                </a:solidFill>
              </a:rPr>
              <a:t>•  La captura por SSH nunca termina o se dispara — No excluiste el puerto 22; añade not port 22</a:t>
            </a:r>
          </a:p>
          <a:p>
            <a:pPr>
              <a:spcAft>
                <a:spcPts val="600"/>
              </a:spcAft>
            </a:pPr>
            <a:r>
              <a:rPr sz="1500">
                <a:solidFill>
                  <a:srgbClr val="22282E"/>
                </a:solidFill>
              </a:rPr>
              <a:t>•  Paquetes truncados en Wireshark — Snap length bajo; captura con -s 0</a:t>
            </a:r>
          </a:p>
          <a:p>
            <a:pPr>
              <a:spcAft>
                <a:spcPts val="600"/>
              </a:spcAft>
            </a:pPr>
            <a:r>
              <a:rPr sz="1500">
                <a:solidFill>
                  <a:srgbClr val="22282E"/>
                </a:solidFill>
              </a:rPr>
              <a:t>•  Filtro no captura nada — Sintaxis BPF incorrecta; prueba el filtro por partes y usa comillas</a:t>
            </a:r>
          </a:p>
          <a:p>
            <a:pPr>
              <a:spcAft>
                <a:spcPts val="600"/>
              </a:spcAft>
            </a:pPr>
            <a:r>
              <a:rPr sz="1500">
                <a:solidFill>
                  <a:srgbClr val="22282E"/>
                </a:solidFill>
              </a:rPr>
              <a:t>•  Disco lleno en captura larga — Sin rotación; usa -C/-W o -G/-W</a:t>
            </a:r>
          </a:p>
          <a:p>
            <a:pPr>
              <a:spcAft>
                <a:spcPts val="600"/>
              </a:spcAft>
            </a:pPr>
            <a:r>
              <a:rPr sz="1500">
                <a:solidFill>
                  <a:srgbClr val="22282E"/>
                </a:solidFill>
              </a:rPr>
              <a:t>•  No resuelve nombres y va lento — Al contrario, -n acelera; si va lento probablemente falta -n y hay DNS inverso</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8229600" cy="822960"/>
          </a:xfrm>
          <a:prstGeom prst="rect">
            <a:avLst/>
          </a:prstGeom>
          <a:noFill/>
        </p:spPr>
        <p:txBody>
          <a:bodyPr wrap="square">
            <a:spAutoFit/>
          </a:bodyPr>
          <a:lstStyle/>
          <a:p>
            <a:r>
              <a:rPr sz="2600" b="1">
                <a:solidFill>
                  <a:srgbClr val="0B3D2E"/>
                </a:solidFill>
              </a:rPr>
              <a:t>❓ Preguntas frecuentes</a:t>
            </a:r>
          </a:p>
        </p:txBody>
      </p:sp>
      <p:sp>
        <p:nvSpPr>
          <p:cNvPr id="3" name="TextBox 2"/>
          <p:cNvSpPr txBox="1"/>
          <p:nvPr/>
        </p:nvSpPr>
        <p:spPr>
          <a:xfrm>
            <a:off x="457200" y="1280160"/>
            <a:ext cx="8229600" cy="4937760"/>
          </a:xfrm>
          <a:prstGeom prst="rect">
            <a:avLst/>
          </a:prstGeom>
          <a:noFill/>
        </p:spPr>
        <p:txBody>
          <a:bodyPr wrap="square">
            <a:spAutoFit/>
          </a:bodyPr>
          <a:lstStyle/>
          <a:p>
            <a:pPr>
              <a:spcAft>
                <a:spcPts val="600"/>
              </a:spcAft>
            </a:pPr>
            <a:r>
              <a:rPr sz="1500">
                <a:solidFill>
                  <a:srgbClr val="22282E"/>
                </a:solidFill>
              </a:rPr>
              <a:t>•  ❓ ¿tcpdump o Wireshark?</a:t>
            </a:r>
          </a:p>
          <a:p>
            <a:pPr>
              <a:spcAft>
                <a:spcPts val="600"/>
              </a:spcAft>
            </a:pPr>
            <a:r>
              <a:rPr sz="1500">
                <a:solidFill>
                  <a:srgbClr val="22282E"/>
                </a:solidFill>
              </a:rPr>
              <a:t>•  tcpdump para capturar donde no hay GUI y para filtros rápidos; Wireshark para el análisis profundo. El flujo típico es capturar con tcpdump y disecar en Wireshark.</a:t>
            </a:r>
          </a:p>
          <a:p>
            <a:pPr>
              <a:spcAft>
                <a:spcPts val="600"/>
              </a:spcAft>
            </a:pPr>
            <a:r>
              <a:rPr sz="1500">
                <a:solidFill>
                  <a:srgbClr val="22282E"/>
                </a:solidFill>
              </a:rPr>
              <a:t>•  ❓ ¿Por qué usar -w en vez de leer la salida de texto?</a:t>
            </a:r>
          </a:p>
          <a:p>
            <a:pPr>
              <a:spcAft>
                <a:spcPts val="600"/>
              </a:spcAft>
            </a:pPr>
            <a:r>
              <a:rPr sz="1500">
                <a:solidFill>
                  <a:srgbClr val="22282E"/>
                </a:solidFill>
              </a:rPr>
              <a:t>•  El texto pierde información. -w guarda el paquete íntegro para análisis posterior con cualquier herramienta.</a:t>
            </a:r>
          </a:p>
          <a:p>
            <a:pPr>
              <a:spcAft>
                <a:spcPts val="600"/>
              </a:spcAft>
            </a:pPr>
            <a:r>
              <a:rPr sz="1500">
                <a:solidFill>
                  <a:srgbClr val="22282E"/>
                </a:solidFill>
              </a:rPr>
              <a:t>•  ❓ ¿Los filtros BPF de tcpdump y Wireshark son iguales?</a:t>
            </a:r>
          </a:p>
          <a:p>
            <a:pPr>
              <a:spcAft>
                <a:spcPts val="600"/>
              </a:spcAft>
            </a:pPr>
            <a:r>
              <a:rPr sz="1500">
                <a:solidFill>
                  <a:srgbClr val="22282E"/>
                </a:solidFill>
              </a:rPr>
              <a:t>•  Los filtros de captura de Wireshark sí son BPF (idénticos a tcpdump). Los de visualización de Wireshark son un lenguaje distinto y más rico.</a:t>
            </a:r>
          </a:p>
          <a:p>
            <a:pPr>
              <a:spcAft>
                <a:spcPts val="600"/>
              </a:spcAft>
            </a:pPr>
            <a:r>
              <a:rPr sz="1500">
                <a:solidFill>
                  <a:srgbClr val="22282E"/>
                </a:solidFill>
              </a:rPr>
              <a:t>•  ❓ ¿Cómo capturo sin que la captura afecte el rendimiento del servidor?</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8229600" cy="822960"/>
          </a:xfrm>
          <a:prstGeom prst="rect">
            <a:avLst/>
          </a:prstGeom>
          <a:noFill/>
        </p:spPr>
        <p:txBody>
          <a:bodyPr wrap="square">
            <a:spAutoFit/>
          </a:bodyPr>
          <a:lstStyle/>
          <a:p>
            <a:r>
              <a:rPr sz="2600" b="1">
                <a:solidFill>
                  <a:srgbClr val="0B3D2E"/>
                </a:solidFill>
              </a:rPr>
              <a:t>🔗 Referencias</a:t>
            </a:r>
          </a:p>
        </p:txBody>
      </p:sp>
      <p:sp>
        <p:nvSpPr>
          <p:cNvPr id="3" name="TextBox 2"/>
          <p:cNvSpPr txBox="1"/>
          <p:nvPr/>
        </p:nvSpPr>
        <p:spPr>
          <a:xfrm>
            <a:off x="457200" y="1280160"/>
            <a:ext cx="8229600" cy="4937760"/>
          </a:xfrm>
          <a:prstGeom prst="rect">
            <a:avLst/>
          </a:prstGeom>
          <a:noFill/>
        </p:spPr>
        <p:txBody>
          <a:bodyPr wrap="square">
            <a:spAutoFit/>
          </a:bodyPr>
          <a:lstStyle/>
          <a:p>
            <a:pPr>
              <a:spcAft>
                <a:spcPts val="600"/>
              </a:spcAft>
            </a:pPr>
            <a:r>
              <a:rPr sz="1500">
                <a:solidFill>
                  <a:srgbClr val="22282E"/>
                </a:solidFill>
              </a:rPr>
              <a:t>•  tcpdump man page y ejemplos. &lt;https://www.tcpdump.org/manpages/tcpdump.1.html&gt;</a:t>
            </a:r>
          </a:p>
          <a:p>
            <a:pPr>
              <a:spcAft>
                <a:spcPts val="600"/>
              </a:spcAft>
            </a:pPr>
            <a:r>
              <a:rPr sz="1500">
                <a:solidFill>
                  <a:srgbClr val="22282E"/>
                </a:solidFill>
              </a:rPr>
              <a:t>•  pcap-filter (sintaxis BPF). &lt;https://www.tcpdump.org/manpages/pcap-filter.7.html&gt;</a:t>
            </a:r>
          </a:p>
          <a:p>
            <a:pPr>
              <a:spcAft>
                <a:spcPts val="600"/>
              </a:spcAft>
            </a:pPr>
            <a:r>
              <a:rPr sz="1500">
                <a:solidFill>
                  <a:srgbClr val="22282E"/>
                </a:solidFill>
              </a:rPr>
              <a:t>•  Sanders, C. Practical Packet Analysis, apéndice de tcpdump.</a:t>
            </a:r>
          </a:p>
          <a:p>
            <a:pPr>
              <a:spcAft>
                <a:spcPts val="600"/>
              </a:spcAft>
            </a:pPr>
            <a:r>
              <a:rPr sz="1500">
                <a:solidFill>
                  <a:srgbClr val="22282E"/>
                </a:solidFill>
              </a:rPr>
              <a:t>•  Wireshark: capturas remotas. &lt;https://wiki.wireshark.org/CaptureSetup/Pipes&gt;</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