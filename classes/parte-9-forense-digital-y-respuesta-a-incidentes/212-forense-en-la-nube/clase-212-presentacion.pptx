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212 — Forense en la nube</a:t>
            </a:r>
          </a:p>
          <a:p>
            <a:r>
              <a:rPr sz="1600">
                <a:solidFill>
                  <a:srgbClr val="2E8B57"/>
                </a:solidFill>
              </a:rPr>
              <a:t>parte 9 forense digital y respuesta a incidentes</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Entender cómo cambia la forense cuando la evidencia vive en la nube: modelo de responsabilidad compartida, logs de plataforma (CloudTrail, Azure Activity Log, GCP Audit), snapshots de discos, 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Explicar cómo el modelo de responsabilidad compartida afecta la evidencia.</a:t>
            </a:r>
          </a:p>
          <a:p>
            <a:pPr>
              <a:spcAft>
                <a:spcPts val="600"/>
              </a:spcAft>
            </a:pPr>
            <a:r>
              <a:rPr sz="1500">
                <a:solidFill>
                  <a:srgbClr val="22282E"/>
                </a:solidFill>
              </a:rPr>
              <a:t>•  Identificar las fuentes de logs forenses en AWS, Azure y GCP.</a:t>
            </a:r>
          </a:p>
          <a:p>
            <a:pPr>
              <a:spcAft>
                <a:spcPts val="600"/>
              </a:spcAft>
            </a:pPr>
            <a:r>
              <a:rPr sz="1500">
                <a:solidFill>
                  <a:srgbClr val="22282E"/>
                </a:solidFill>
              </a:rPr>
              <a:t>•  Adquirir evidencia mediante snapshots y exportación de logs.</a:t>
            </a:r>
          </a:p>
          <a:p>
            <a:pPr>
              <a:spcAft>
                <a:spcPts val="600"/>
              </a:spcAft>
            </a:pPr>
            <a:r>
              <a:rPr sz="1500">
                <a:solidFill>
                  <a:srgbClr val="22282E"/>
                </a:solidFill>
              </a:rPr>
              <a:t>•  Investigar un compromiso de credenciales/identidad en la nube.</a:t>
            </a:r>
          </a:p>
          <a:p>
            <a:pPr>
              <a:spcAft>
                <a:spcPts val="600"/>
              </a:spcAft>
            </a:pPr>
            <a:r>
              <a:rPr sz="1500">
                <a:solidFill>
                  <a:srgbClr val="22282E"/>
                </a:solidFill>
              </a:rPr>
              <a:t>•  Preservar evidencia efímera antes de que desaparezca.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Responsabilidad compartida</a:t>
            </a:r>
          </a:p>
          <a:p>
            <a:pPr>
              <a:spcAft>
                <a:spcPts val="600"/>
              </a:spcAft>
            </a:pPr>
            <a:r>
              <a:rPr sz="1500">
                <a:solidFill>
                  <a:srgbClr val="22282E"/>
                </a:solidFill>
              </a:rPr>
              <a:t>•  2 — CloudTrail y logs de control</a:t>
            </a:r>
          </a:p>
          <a:p>
            <a:pPr>
              <a:spcAft>
                <a:spcPts val="600"/>
              </a:spcAft>
            </a:pPr>
            <a:r>
              <a:rPr sz="1500">
                <a:solidFill>
                  <a:srgbClr val="22282E"/>
                </a:solidFill>
              </a:rPr>
              <a:t>•  3 — Azure Activity/Sign-in Logs</a:t>
            </a:r>
          </a:p>
          <a:p>
            <a:pPr>
              <a:spcAft>
                <a:spcPts val="600"/>
              </a:spcAft>
            </a:pPr>
            <a:r>
              <a:rPr sz="1500">
                <a:solidFill>
                  <a:srgbClr val="22282E"/>
                </a:solidFill>
              </a:rPr>
              <a:t>•  4 — GCP Audit Logs</a:t>
            </a:r>
          </a:p>
          <a:p>
            <a:pPr>
              <a:spcAft>
                <a:spcPts val="600"/>
              </a:spcAft>
            </a:pPr>
            <a:r>
              <a:rPr sz="1500">
                <a:solidFill>
                  <a:srgbClr val="22282E"/>
                </a:solidFill>
              </a:rPr>
              <a:t>•  5 — Snapshots de disco</a:t>
            </a:r>
          </a:p>
          <a:p>
            <a:pPr>
              <a:spcAft>
                <a:spcPts val="600"/>
              </a:spcAft>
            </a:pPr>
            <a:r>
              <a:rPr sz="1500">
                <a:solidFill>
                  <a:srgbClr val="22282E"/>
                </a:solidFill>
              </a:rPr>
              <a:t>•  6 — Instancias efímeras y contenedores</a:t>
            </a:r>
          </a:p>
          <a:p>
            <a:pPr>
              <a:spcAft>
                <a:spcPts val="600"/>
              </a:spcAft>
            </a:pPr>
            <a:r>
              <a:rPr sz="1500">
                <a:solidFill>
                  <a:srgbClr val="22282E"/>
                </a:solidFill>
              </a:rPr>
              <a:t>•  7 — Compromiso de identidad (IAM)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Explicación en profundidad</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 nube, gran parte de la evidencia no es un disco bajo control del investigador: son registros de control plane, snapshots, objetos versionados e información entregada por el proveedor.…</a:t>
            </a:r>
          </a:p>
          <a:p>
            <a:pPr>
              <a:spcAft>
                <a:spcPts val="600"/>
              </a:spcAft>
            </a:pPr>
            <a:r>
              <a:rPr sz="1500">
                <a:solidFill>
                  <a:srgbClr val="22282E"/>
                </a:solidFill>
              </a:rPr>
              <a:t>•  Primero se protege el acceso investigativo y se evita destruir recursos al revocar credenciales. Logs pueden estar deshabilitados, tener demora o vivir en otra cuenta/región. Snapshot no equivale a…</a:t>
            </a:r>
          </a:p>
          <a:p>
            <a:pPr>
              <a:spcAft>
                <a:spcPts val="600"/>
              </a:spcAft>
            </a:pPr>
            <a:r>
              <a:rPr sz="1500">
                <a:solidFill>
                  <a:srgbClr val="22282E"/>
                </a:solidFill>
              </a:rPr>
              <a:t>•  El plano de control registra cambios administrativos: crear una instancia, modificar una política o deshabilitar un registro. El plano de datos registra operaciones sobre contenido, como leer un…</a:t>
            </a:r>
          </a:p>
          <a:p>
            <a:pPr>
              <a:spcAft>
                <a:spcPts val="600"/>
              </a:spcAft>
            </a:pPr>
            <a:r>
              <a:rPr sz="1500">
                <a:solidFill>
                  <a:srgbClr val="22282E"/>
                </a:solidFill>
              </a:rPr>
              <a:t>•  Los nombres cambian por proveedor y servicio. CloudTrail, Azure Activity Log y Cloud Audit Logs no son equivalentes fila por fila ni garantizan la misma cobertura. Para cada fuente se documentan…</a:t>
            </a:r>
          </a:p>
          <a:p>
            <a:pPr>
              <a:spcAft>
                <a:spcPts val="600"/>
              </a:spcAft>
            </a:pPr>
            <a:r>
              <a:rPr sz="1500">
                <a:solidFill>
                  <a:srgbClr val="22282E"/>
                </a:solidFill>
              </a:rPr>
              <a:t>•  Revocar una credencial comprometida limita daño, pero puede invalidar la sesión que el equipo necesita para exportar evidencia. La preparación crea roles de emergencia de solo lectura, destino de…</a:t>
            </a:r>
          </a:p>
          <a:p>
            <a:pPr>
              <a:spcAft>
                <a:spcPts val="600"/>
              </a:spcAft>
            </a:pPr>
            <a:r>
              <a:rPr sz="1500">
                <a:solidFill>
                  <a:srgbClr val="22282E"/>
                </a:solidFill>
              </a:rPr>
              <a:t>•  Un snapshot captura el estado que el servicio expone para un volumen en un momento, no RAM, hipervisor ni necesariamente consistencia de aplicación. Para cargas críticas se coordina congelación o…</a:t>
            </a:r>
          </a:p>
          <a:p>
            <a:pPr>
              <a:spcAft>
                <a:spcPts val="600"/>
              </a:spcAft>
            </a:pPr>
            <a:r>
              <a:rPr sz="1500">
                <a:solidFill>
                  <a:srgbClr val="22282E"/>
                </a:solidFill>
              </a:rPr>
              <a:t>•  Una clave, rol o token no equivale automáticamente a una persona. Se siguen principal, rol asumido, sesión, cadena de federación, IP, agente, región y permisos efectivos. Después se consulta qué…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Glosario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Control plane: API que administra recursos.</a:t>
            </a:r>
          </a:p>
          <a:p>
            <a:pPr>
              <a:spcAft>
                <a:spcPts val="600"/>
              </a:spcAft>
            </a:pPr>
            <a:r>
              <a:rPr sz="1500">
                <a:solidFill>
                  <a:srgbClr val="22282E"/>
                </a:solidFill>
              </a:rPr>
              <a:t>•  Data plane: operaciones sobre el servicio o sus datos.</a:t>
            </a:r>
          </a:p>
          <a:p>
            <a:pPr>
              <a:spcAft>
                <a:spcPts val="600"/>
              </a:spcAft>
            </a:pPr>
            <a:r>
              <a:rPr sz="1500">
                <a:solidFill>
                  <a:srgbClr val="22282E"/>
                </a:solidFill>
              </a:rPr>
              <a:t>•  Snapshot: estado capturado por el proveedor.</a:t>
            </a:r>
          </a:p>
          <a:p>
            <a:pPr>
              <a:spcAft>
                <a:spcPts val="600"/>
              </a:spcAft>
            </a:pPr>
            <a:r>
              <a:rPr sz="1500">
                <a:solidFill>
                  <a:srgbClr val="22282E"/>
                </a:solidFill>
              </a:rPr>
              <a:t>•  Object versioning: conservación de versiones de objetos.</a:t>
            </a:r>
          </a:p>
          <a:p>
            <a:pPr>
              <a:spcAft>
                <a:spcPts val="600"/>
              </a:spcAft>
            </a:pPr>
            <a:r>
              <a:rPr sz="1500">
                <a:solidFill>
                  <a:srgbClr val="22282E"/>
                </a:solidFill>
              </a:rPr>
              <a:t>•  Request ID: identificador de una operación API.</a:t>
            </a:r>
          </a:p>
          <a:p>
            <a:pPr>
              <a:spcAft>
                <a:spcPts val="600"/>
              </a:spcAft>
            </a:pPr>
            <a:r>
              <a:rPr sz="1500">
                <a:solidFill>
                  <a:srgbClr val="22282E"/>
                </a:solidFill>
              </a:rPr>
              <a:t>•  Legal hold: preservación frente a borrado según autoridad.</a:t>
            </a:r>
          </a:p>
          <a:p>
            <a:pPr>
              <a:spcAft>
                <a:spcPts val="600"/>
              </a:spcAft>
            </a:pPr>
            <a:r>
              <a:rPr sz="1500">
                <a:solidFill>
                  <a:srgbClr val="22282E"/>
                </a:solidFill>
              </a:rPr>
              <a:t>•  Cross-account logging: envío a una cuenta separada.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Responsabilidad compartida: el proveedor asegura la infraestructura; el cliente, sus datos y configuración. Característica: no tienes acceso al hipervisor ni al hardware.</a:t>
            </a:r>
          </a:p>
          <a:p>
            <a:pPr>
              <a:spcAft>
                <a:spcPts val="600"/>
              </a:spcAft>
            </a:pPr>
            <a:r>
              <a:rPr sz="1500">
                <a:solidFill>
                  <a:srgbClr val="22282E"/>
                </a:solidFill>
              </a:rPr>
              <a:t>•  CloudTrail (AWS): servicio que registra actividades cubiertas de usuario, rol y servicios. Característica: su cobertura depende del tipo de evento, región, trail y configuración.</a:t>
            </a:r>
          </a:p>
          <a:p>
            <a:pPr>
              <a:spcAft>
                <a:spcPts val="600"/>
              </a:spcAft>
            </a:pPr>
            <a:r>
              <a:rPr sz="1500">
                <a:solidFill>
                  <a:srgbClr val="22282E"/>
                </a:solidFill>
              </a:rPr>
              <a:t>•  Azure Activity Log / Sign-in Log: acciones sobre recursos e inicios de sesión de identidad. Característica: separan plano de control y autenticación.</a:t>
            </a:r>
          </a:p>
          <a:p>
            <a:pPr>
              <a:spcAft>
                <a:spcPts val="600"/>
              </a:spcAft>
            </a:pPr>
            <a:r>
              <a:rPr sz="1500">
                <a:solidFill>
                  <a:srgbClr val="22282E"/>
                </a:solidFill>
              </a:rPr>
              <a:t>•  GCP Audit Logs: Admin Activity, Data Access, System Event. Característica: Data Access puede estar desactivado por costo.</a:t>
            </a:r>
          </a:p>
          <a:p>
            <a:pPr>
              <a:spcAft>
                <a:spcPts val="600"/>
              </a:spcAft>
            </a:pPr>
            <a:r>
              <a:rPr sz="1500">
                <a:solidFill>
                  <a:srgbClr val="22282E"/>
                </a:solidFill>
              </a:rPr>
              <a:t>•  Snapshot: representación puntual administrada por el proveedor de un volumen. Característica: preserva estado accesible del disco, pero no equivale a una imagen física ni garantiza consistencia de…</a:t>
            </a:r>
          </a:p>
          <a:p>
            <a:pPr>
              <a:spcAft>
                <a:spcPts val="600"/>
              </a:spcAft>
            </a:pPr>
            <a:r>
              <a:rPr sz="1500">
                <a:solidFill>
                  <a:srgbClr val="22282E"/>
                </a:solidFill>
              </a:rPr>
              <a:t>•  Evidencia efímera: datos ligados al ciclo de vida de instancias, contenedores, memoria o almacenamiento temporal. Característica: puede desaparecer al reemplazar o terminar el recurso.</a:t>
            </a:r>
          </a:p>
          <a:p>
            <a:pPr>
              <a:spcAft>
                <a:spcPts val="600"/>
              </a:spcAft>
            </a:pPr>
            <a:r>
              <a:rPr sz="1500">
                <a:solidFill>
                  <a:srgbClr val="22282E"/>
                </a:solidFill>
              </a:rPr>
              <a:t>•  Rol/clave IAM comprometida: credencial robada usada por el atacante. Característica: se investiga por patrones anómalos en los logs de API.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Caso razonado — rol asumido en dos regiones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Una alerta muestra creación de claves en una región poco usada. El evento identifica un rol asumido, no la credencial humana original. El analista sigue el ARN de sesión hasta el proveedor de…</a:t>
            </a:r>
          </a:p>
          <a:p>
            <a:pPr>
              <a:spcAft>
                <a:spcPts val="600"/>
              </a:spcAft>
            </a:pPr>
            <a:r>
              <a:rPr sz="1500">
                <a:solidFill>
                  <a:srgbClr val="22282E"/>
                </a:solidFill>
              </a:rPr>
              <a:t>•  Antes de revocar, exporta los eventos con un rol de investigación separado y registra comandos, páginas, request ID y hashes. Después revoca la sesión, preserva la política anterior y crea snapshots…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Criterio de dominio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Dominas la clase cuando diferencias control, datos e identidad; enumeras cobertura y retención por proveedor; preservas respuestas API reproducibles; explicas los límites de snapshots; y reconstruyes…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AWS: consola de CloudTrail, aws cloudtrail lookup-events, snapshots EBS, herramientas como Prowler para revisar configuración.</a:t>
            </a:r>
          </a:p>
          <a:p>
            <a:pPr>
              <a:spcAft>
                <a:spcPts val="600"/>
              </a:spcAft>
            </a:pPr>
            <a:r>
              <a:rPr sz="1500">
                <a:solidFill>
                  <a:srgbClr val="22282E"/>
                </a:solidFill>
              </a:rPr>
              <a:t>•  Azure: Activity Log, Microsoft Sentinel, KQL.</a:t>
            </a:r>
          </a:p>
          <a:p>
            <a:pPr>
              <a:spcAft>
                <a:spcPts val="600"/>
              </a:spcAft>
            </a:pPr>
            <a:r>
              <a:rPr sz="1500">
                <a:solidFill>
                  <a:srgbClr val="22282E"/>
                </a:solidFill>
              </a:rPr>
              <a:t>•  GCP: Cloud Logging, gcloud logging read.</a:t>
            </a:r>
          </a:p>
          <a:p>
            <a:pPr>
              <a:spcAft>
                <a:spcPts val="600"/>
              </a:spcAft>
            </a:pPr>
            <a:r>
              <a:rPr sz="1500">
                <a:solidFill>
                  <a:srgbClr val="22282E"/>
                </a:solidFill>
              </a:rPr>
              <a:t>•  Entorno: usa una cuenta/proyecto PROPIO (nivel gratuito). Nunca investigues cuentas ajenas sin autorización.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Genera actividad de prueba y consúltala en CloudTrail (AWS):</a:t>
            </a:r>
          </a:p>
          <a:p>
            <a:pPr>
              <a:spcAft>
                <a:spcPts val="600"/>
              </a:spcAft>
            </a:pPr>
            <a:r>
              <a:rPr sz="1500">
                <a:solidFill>
                  <a:srgbClr val="22282E"/>
                </a:solidFill>
              </a:rPr>
              <a:t>•  Busca acciones sospechosas por identidad:</a:t>
            </a:r>
          </a:p>
          <a:p>
            <a:pPr>
              <a:spcAft>
                <a:spcPts val="600"/>
              </a:spcAft>
            </a:pPr>
            <a:r>
              <a:rPr sz="1500">
                <a:solidFill>
                  <a:srgbClr val="22282E"/>
                </a:solidFill>
              </a:rPr>
              <a:t>•  Adquiere evidencia de un volumen creando un snapshot:</a:t>
            </a:r>
          </a:p>
          <a:p>
            <a:pPr>
              <a:spcAft>
                <a:spcPts val="600"/>
              </a:spcAft>
            </a:pPr>
            <a:r>
              <a:rPr sz="1500">
                <a:solidFill>
                  <a:srgbClr val="22282E"/>
                </a:solidFill>
              </a:rPr>
              <a:t>•  Aísla la instancia comprometida cambiando su security group a uno sin tráfico (sin apagarla, para no perder RAM).</a:t>
            </a:r>
          </a:p>
          <a:p>
            <a:pPr>
              <a:spcAft>
                <a:spcPts val="600"/>
              </a:spcAft>
            </a:pPr>
            <a:r>
              <a:rPr sz="1500">
                <a:solidFill>
                  <a:srgbClr val="22282E"/>
                </a:solidFill>
              </a:rPr>
              <a:t>•  En Azure, consulta inicios de sesión sospechosos en el Sign-in Log con KQL:</a:t>
            </a:r>
          </a:p>
          <a:p>
            <a:pPr>
              <a:spcAft>
                <a:spcPts val="600"/>
              </a:spcAft>
            </a:pPr>
            <a:r>
              <a:rPr sz="1500">
                <a:solidFill>
                  <a:srgbClr val="22282E"/>
                </a:solidFill>
              </a:rPr>
              <a:t>•  En GCP, exporta logs de auditoría:</a:t>
            </a:r>
          </a:p>
          <a:p>
            <a:pPr>
              <a:spcAft>
                <a:spcPts val="600"/>
              </a:spcAft>
            </a:pPr>
            <a:r>
              <a:rPr sz="1500">
                <a:solidFill>
                  <a:srgbClr val="22282E"/>
                </a:solidFill>
              </a:rPr>
              <a:t>•  Reconstruye el compromiso: identifica la credencial usada, la IP de origen, las acciones realizadas y los recursos afectados.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Explica qué evidencia NO puedes obtener por la responsabilidad compartida.</a:t>
            </a:r>
          </a:p>
          <a:p>
            <a:pPr>
              <a:spcAft>
                <a:spcPts val="600"/>
              </a:spcAft>
            </a:pPr>
            <a:r>
              <a:rPr sz="1500">
                <a:solidFill>
                  <a:srgbClr val="22282E"/>
                </a:solidFill>
              </a:rPr>
              <a:t>•  Consulta en CloudTrail las últimas 24 h de acciones de una identidad.</a:t>
            </a:r>
          </a:p>
          <a:p>
            <a:pPr>
              <a:spcAft>
                <a:spcPts val="600"/>
              </a:spcAft>
            </a:pPr>
            <a:r>
              <a:rPr sz="1500">
                <a:solidFill>
                  <a:srgbClr val="22282E"/>
                </a:solidFill>
              </a:rPr>
              <a:t>•  Crea un snapshot de un volumen propio como evidencia.</a:t>
            </a:r>
          </a:p>
          <a:p>
            <a:pPr>
              <a:spcAft>
                <a:spcPts val="600"/>
              </a:spcAft>
            </a:pPr>
            <a:r>
              <a:rPr sz="1500">
                <a:solidFill>
                  <a:srgbClr val="22282E"/>
                </a:solidFill>
              </a:rPr>
              <a:t>•  Detecta un login desde IP inusual en Azure Sign-in Logs.</a:t>
            </a:r>
          </a:p>
          <a:p>
            <a:pPr>
              <a:spcAft>
                <a:spcPts val="600"/>
              </a:spcAft>
            </a:pPr>
            <a:r>
              <a:rPr sz="1500">
                <a:solidFill>
                  <a:srgbClr val="22282E"/>
                </a:solidFill>
              </a:rPr>
              <a:t>•  Exporta logs de auditoría de GCP a formato analizable.</a:t>
            </a:r>
          </a:p>
          <a:p>
            <a:pPr>
              <a:spcAft>
                <a:spcPts val="600"/>
              </a:spcAft>
            </a:pPr>
            <a:r>
              <a:rPr sz="1500">
                <a:solidFill>
                  <a:srgbClr val="22282E"/>
                </a:solidFill>
              </a:rPr>
              <a:t>•  Diseña un procedimiento para aislar una instancia sin perder RAM.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 tu cuenta de nube, simula un compromiso de credenciales (una clave IAM que "un atacante" usa desde otra sesión) y reconstruye, solo desde los logs de la plataforma, qué hizo, cuándo y desde dónde…</a:t>
            </a:r>
          </a:p>
          <a:p>
            <a:pPr>
              <a:spcAft>
                <a:spcPts val="600"/>
              </a:spcAft>
            </a:pPr>
            <a:r>
              <a:rPr sz="1500">
                <a:solidFill>
                  <a:srgbClr val="22282E"/>
                </a:solidFill>
              </a:rPr>
              <a:t>•  Criterio de aceptación: entregas un informe con la credencial comprometida, la línea de tiempo de sus acciones (con marcas UTC), la IP de origen, los recursos afectados y la prueba de que los logs 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CloudTrail no tiene el evento — Trail no configurado para esa región/servicio. Habilita un trail multi-región.</a:t>
            </a:r>
          </a:p>
          <a:p>
            <a:pPr>
              <a:spcAft>
                <a:spcPts val="600"/>
              </a:spcAft>
            </a:pPr>
            <a:r>
              <a:rPr sz="1500">
                <a:solidFill>
                  <a:srgbClr val="22282E"/>
                </a:solidFill>
              </a:rPr>
              <a:t>•  Data Access logs vacíos en GCP — Desactivados por costo. Actívalos antes del incidente.</a:t>
            </a:r>
          </a:p>
          <a:p>
            <a:pPr>
              <a:spcAft>
                <a:spcPts val="600"/>
              </a:spcAft>
            </a:pPr>
            <a:r>
              <a:rPr sz="1500">
                <a:solidFill>
                  <a:srgbClr val="22282E"/>
                </a:solidFill>
              </a:rPr>
              <a:t>•  Snapshot no monta — Falta adjuntarlo a una instancia forense. Crea un volumen desde el snapshot.</a:t>
            </a:r>
          </a:p>
          <a:p>
            <a:pPr>
              <a:spcAft>
                <a:spcPts val="600"/>
              </a:spcAft>
            </a:pPr>
            <a:r>
              <a:rPr sz="1500">
                <a:solidFill>
                  <a:srgbClr val="22282E"/>
                </a:solidFill>
              </a:rPr>
              <a:t>•  Apagaste la instancia y perdiste RAM — Aísla por red, no por apagado, si quieres la memoria.</a:t>
            </a:r>
          </a:p>
          <a:p>
            <a:pPr>
              <a:spcAft>
                <a:spcPts val="600"/>
              </a:spcAft>
            </a:pPr>
            <a:r>
              <a:rPr sz="1500">
                <a:solidFill>
                  <a:srgbClr val="22282E"/>
                </a:solidFill>
              </a:rPr>
              <a:t>•  Logs alterables — Sin retención/inmutabilidad. Usa object lock o cuenta de logging separada.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¿Qué evidencia no tengo en la nube?</a:t>
            </a:r>
          </a:p>
          <a:p>
            <a:pPr>
              <a:spcAft>
                <a:spcPts val="600"/>
              </a:spcAft>
            </a:pPr>
            <a:r>
              <a:rPr sz="1500">
                <a:solidFill>
                  <a:srgbClr val="22282E"/>
                </a:solidFill>
              </a:rPr>
              <a:t>•  El hipervisor, el hardware y la red física del proveedor. Trabajas con lo que las APIs y logs exponen.</a:t>
            </a:r>
          </a:p>
          <a:p>
            <a:pPr>
              <a:spcAft>
                <a:spcPts val="600"/>
              </a:spcAft>
            </a:pPr>
            <a:r>
              <a:rPr sz="1500">
                <a:solidFill>
                  <a:srgbClr val="22282E"/>
                </a:solidFill>
              </a:rPr>
              <a:t>•  ❓ ¿Cómo capturo una instancia efímera?</a:t>
            </a:r>
          </a:p>
          <a:p>
            <a:pPr>
              <a:spcAft>
                <a:spcPts val="600"/>
              </a:spcAft>
            </a:pPr>
            <a:r>
              <a:rPr sz="1500">
                <a:solidFill>
                  <a:srgbClr val="22282E"/>
                </a:solidFill>
              </a:rPr>
              <a:t>•  Antes de que se destruya: snapshot del disco y, si puedes, volcado de memoria vía agente. Automatiza la captura ante alerta.</a:t>
            </a:r>
          </a:p>
          <a:p>
            <a:pPr>
              <a:spcAft>
                <a:spcPts val="600"/>
              </a:spcAft>
            </a:pPr>
            <a:r>
              <a:rPr sz="1500">
                <a:solidFill>
                  <a:srgbClr val="22282E"/>
                </a:solidFill>
              </a:rPr>
              <a:t>•  ❓ ¿CloudTrail lo registra todo?</a:t>
            </a:r>
          </a:p>
          <a:p>
            <a:pPr>
              <a:spcAft>
                <a:spcPts val="600"/>
              </a:spcAft>
            </a:pPr>
            <a:r>
              <a:rPr sz="1500">
                <a:solidFill>
                  <a:srgbClr val="22282E"/>
                </a:solidFill>
              </a:rPr>
              <a:t>•  Registra llamadas a la API (plano de control). Data events (S3, Lambda) y logs de aplicación requieren configuración adicional.</a:t>
            </a:r>
          </a:p>
          <a:p>
            <a:pPr>
              <a:spcAft>
                <a:spcPts val="600"/>
              </a:spcAft>
            </a:pPr>
            <a:r>
              <a:rPr sz="1500">
                <a:solidFill>
                  <a:srgbClr val="22282E"/>
                </a:solidFill>
              </a:rPr>
              <a:t>•  ❓ ¿Cómo preservo logs para que no se borren?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 verificables y alcance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NISTIR 8006: &lt;https://doi.org/10.6028/NIST.IR.8006&gt; — taxonomía de desafíos forenses en nube; no prescribe procedimientos específicos de cada proveedor.</a:t>
            </a:r>
          </a:p>
          <a:p>
            <a:pPr>
              <a:spcAft>
                <a:spcPts val="600"/>
              </a:spcAft>
            </a:pPr>
            <a:r>
              <a:rPr sz="1500">
                <a:solidFill>
                  <a:srgbClr val="22282E"/>
                </a:solidFill>
              </a:rPr>
              <a:t>•  AWS CloudTrail log file integrity validation: &lt;https://docs.aws.amazon.com/enen/awscloudtrail/latest/userguide/cloudtrail-log-file-validation-intro.html&gt; — documentación oficial de digest, firma y…</a:t>
            </a:r>
          </a:p>
          <a:p>
            <a:pPr>
              <a:spcAft>
                <a:spcPts val="600"/>
              </a:spcAft>
            </a:pPr>
            <a:r>
              <a:rPr sz="1500">
                <a:solidFill>
                  <a:srgbClr val="22282E"/>
                </a:solidFill>
              </a:rPr>
              <a:t>•  Azure Activity Log: &lt;https://learn.microsoft.com/en-us/azure/azure-monitor/platform/activity-log&gt; — referencia oficial del plano de control; se complementa con logs de identidad, datos y recursos.</a:t>
            </a:r>
          </a:p>
          <a:p>
            <a:pPr>
              <a:spcAft>
                <a:spcPts val="600"/>
              </a:spcAft>
            </a:pPr>
            <a:r>
              <a:rPr sz="1500">
                <a:solidFill>
                  <a:srgbClr val="22282E"/>
                </a:solidFill>
              </a:rPr>
              <a:t>•  Google Cloud Audit Logs: &lt;https://docs.cloud.google.com/logging/docs/audit/understanding-audit-logs&gt; — documentación oficial de Admin Activity, Data Access, System Event y Policy Denied, con…</a:t>
            </a:r>
          </a:p>
          <a:p>
            <a:pPr>
              <a:spcAft>
                <a:spcPts val="600"/>
              </a:spcAft>
            </a:pPr>
            <a:r>
              <a:rPr sz="1500">
                <a:solidFill>
                  <a:srgbClr val="22282E"/>
                </a:solidFill>
              </a:rPr>
              <a:t>•  NIST SP 800-86: &lt;https://doi.org/10.6028/NIST.SP.800-86&gt; — principios de recolección, examen, análisis y reporte aplicables, con adaptación al modelo cloud.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r>
              <a:rPr sz="2200" b="1">
                <a:solidFill>
                  <a:srgbClr val="0B3D2E"/>
                </a:solidFill>
              </a:rPr>
              <a:t>Diagrama de la clase</a:t>
            </a:r>
          </a:p>
        </p:txBody>
      </p:sp>
      <p:pic>
        <p:nvPicPr>
          <p:cNvPr id="3" name="Picture 2" descr="8fb4299dd68243a3.png"/>
          <p:cNvPicPr>
            <a:picLocks noChangeAspect="1"/>
          </p:cNvPicPr>
          <p:nvPr/>
        </p:nvPicPr>
        <p:blipFill>
          <a:blip r:embed="rId2"/>
          <a:stretch>
            <a:fillRect/>
          </a:stretch>
        </p:blipFill>
        <p:spPr>
          <a:xfrm>
            <a:off x="457200" y="3310128"/>
            <a:ext cx="8229600" cy="87782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