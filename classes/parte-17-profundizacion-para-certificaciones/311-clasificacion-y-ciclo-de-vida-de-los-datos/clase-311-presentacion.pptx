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2194560"/>
            <a:ext cx="80467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200" b="1">
                <a:solidFill>
                  <a:srgbClr val="0B3D2E"/>
                </a:solidFill>
              </a:rPr>
              <a:t>Clase 311 — Clasificación y ciclo de vida de los datos</a:t>
            </a:r>
          </a:p>
          <a:p>
            <a:r>
              <a:rPr sz="1600">
                <a:solidFill>
                  <a:srgbClr val="2E8B57"/>
                </a:solidFill>
              </a:rPr>
              <a:t>parte 17 profundizacion para certificaciones</a:t>
            </a:r>
          </a:p>
          <a:p>
            <a:r>
              <a:rPr sz="1200">
                <a:solidFill>
                  <a:srgbClr val="22282E"/>
                </a:solidFill>
              </a:rPr>
              <a:t>Programa de Ciberseguridad Moderna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🎯 Objetivo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Comprender cómo una organización identifica, valora y clasifica sus activos de información,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y cómo gobierna cada dato a lo largo de su ciclo de vida (creación → uso → archivo →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destrucción). Al terminar sabrás diseñar un esquema de clasificación, asignar los roles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 datos (propietario, custodio, procesador) y aplicar etiquetado y manejo coherentes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 marcos como CISSP Asset Security, NIST SP 800-60 e ISO/IEC 27001 Anexo A.8.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📚 Resultados de aprendizaje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Al finalizar, el alumno podrá: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Distinguir clasificación (confidencialidad) de categorización (impacto FIPS 199).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Definir un esquema de niveles adaptado a una organización (comercial y gubernamental).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Asignar los roles de datos y sus responsabilidades sin solapamientos.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Trazar las siete fases del ciclo de vida del dato y los controles de cada una.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Diseñar una guía de etiquetado y manejo (labeling &amp; handling) verificable.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Relacionar la clasificación con requisitos legales (GDPR, HIPAA, PCI DSS).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🗺️ Temas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1 — Valor del activo de información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2 — Esquemas de clasificación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3 — Categorización por impacto (FIPS 199 / 200)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4 — Roles de datos (owner, custodian, processor)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5 — Ciclo de vida del dato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6 — Etiquetado y marcado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7 — Datos en reposo, tránsito y uso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🧠 Modelo mental y caso de decisión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Clasificar sirve para aplicar decisiones proporcionales durante creación, uso, intercambio, archivo y eliminación.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Caso razonado. Un archivo cambia de dueño y conserva etiqueta antigua; se revisan evento, autoridad y propagación.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📔 Glosario operativo complementario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Término — Definición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Evidencia — Información cuya procedencia y relación con un criterio pueden revisarse.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Supuesto — Condición declarada de la que depende una conclusión.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Riesgo residual — Exposición que permanece después del tratamiento.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✅ Criterio de dominio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alumno demuestra dominio cuando explica el diagrama, resuelve el caso con evidencia, declara límites y puede defender por qué su decisión cambia si cambia un supuesto.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📖 Definiciones y características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Clasificación de datos: proceso de asignar una etiqueta de sensibilidad (p. ej.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Confidencial) según el daño que causaría su divulgación. Característica clave: se basa en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confidencialidad y la decide el propietario del dato.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Categorización de seguridad: en el mundo federal EE. UU., asignar niveles de impacto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bajo/moderado/alto a confidencialidad, integridad y disponibilidad (FIPS 199).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Característica: alimenta la selección de líneas base de NIST SP 800-53.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Data owner (propietario): rol de negocio, normalmente directivo, responsable último 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🧰 Herramientas y preparación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Esta es una clase de gobierno (GRC): el "laboratorio" es de diseño documental, no de comandos.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Prepara: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Una hoja de cálculo (Excel, Google Sheets o LibreOffice Calc) para el inventario y la matriz.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Plantillas de referencia: NIST SP 800-60 Vol. II (mapeo de tipos de información) e ISO 27001 A.8.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Opcional: una herramienta de descubrimiento/clasificación para ver el concepto en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práctica (Microsoft Purview Information Protection, AWS Macie o el open source Apache Tika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para extracción de metadatos). Úsalas solo sobre datos de prueba propios.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🧪 Laboratorio guiado — Diseñar un esquema y una política de clasificación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Trabajarás sobre una empresa ficticia, "NovaSalud", clínica con datos clínicos y de pago.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Inventario de activos. Crea una hoja con columnas: Activo, Tipo de dato,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Ubicación, Formato, Propietario, Volumen. Registra al menos 8 activos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(historias clínicas, nómina, tarjetas de pago, marketing, código fuente, etc.).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Define el esquema de clasificación. Propón 4 niveles comerciales: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Público, Interno, Confidencial, Restringido. Para cada uno documenta: criterio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asignación, ejemplos, impacto de una fuga y controles mínimos.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✍️ Ejercicios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Clasifica 10 tipos de dato reales de tu organización o de un caso conocido y justifica cada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Explica con un ejemplo la diferencia entre propietario y custodio de datos.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Aplica FIPS 199 a un sistema de reservas de hotel: asigna impacto C-I-A y su categoría.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Redacta la sección "Manejo" para el nivel Restringido: transmisión, almacenamiento, impresión y descarte.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Analiza un caso de reclasificación: ¿cuándo un dato Confidencial pasa a Público? Da criterios.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Diseña una matriz que cruce nivel de clasificación × estado del dato (reposo/tránsito/uso) con el control exigido en cada celda.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📝 Reto verificable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Entrega una Política de Clasificación de Datos de 2–3 páginas para NovaSalud que incluya: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esquema de 4 niveles con criterios, tabla de roles (owner/custodian/processor), guía de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etiquetado y manejo por nivel, y el ciclo de vida con controles por fase.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Criterio de aceptación: un revisor externo, leyendo solo tu política, puede clasificar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correctamente 5 activos nuevos que no estaban en el inventario y decir qué controles aplicarles,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sin hacerte ninguna pregunta adicional.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⚠️ Errores comunes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"Todo es Confidencial" — Sobreclasificación: encarece controles y erosiona la etiqueta. Reserva los niveles altos para daño real y alto.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El de TI decide la clasificación — Confusión de roles: clasifica el propietario de negocio; TI es custodio. Reasigna.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Niveles sin criterios objetivos — Etiquetas sin definición → inconsistencia. Documenta criterio y ejemplos por nivel.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Se clasifica el dato pero no se etiqueta — Sin marcado, la política no se aplica en la práctica. Añade guía de etiquetado obligatoria.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Ignorar la agregación — Datos benignos agregados revelan lo sensible. Añade regla de agregación al esquema.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Olvidar la fase de destrucción — Datos "muertos" siguen siendo pasivo de riesgo. Enlaza con retención y sanitización (clase 312).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❓ Preguntas frecuentes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¿Cuántos niveles de clasificación debe tener una empresa?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 hay número mágico, pero 3–4 suele bastar en el mundo comercial. Demasiados niveles generan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confusión; muy pocos no discriminan el riesgo. El gobierno usa Unclassified/Confidential/Secret/Top Secret.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¿Clasificación e categorización son lo mismo?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No. La clasificación se centra en confidencialidad (¿qué daño causa la divulgación?). La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categorización (FIPS 199) valora impacto en C-I-A para elegir líneas base de controles.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❓ ¿Quién es responsable si un dato mal clasificado se filtra?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>
                <a:solidFill>
                  <a:srgbClr val="0B3D2E"/>
                </a:solidFill>
              </a:rPr>
              <a:t>🔗 Referencias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280160"/>
            <a:ext cx="82296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(ISC)² — CISSP Official Study Guide, 9.ª ed., Dominio 2 Asset Security (Wiley/Sybex).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FIPS 199 — Standards for Security Categorization of Federal Information and Information Systems. &lt;https://csrc.nist.gov/pubs/fips/199/final&gt;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800-60 Rev. 1 — Guide for Mapping Types of Information and Systems to Security Categories. &lt;https://csrc.nist.gov/pubs/sp/800/60/v1/r1/final&gt;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ISO/IEC 27001:2022, Anexo A.8 Asset management.</a:t>
            </a:r>
          </a:p>
          <a:p>
            <a:pPr>
              <a:spcAft>
                <a:spcPts val="600"/>
              </a:spcAft>
            </a:pPr>
            <a:r>
              <a:rPr sz="1500">
                <a:solidFill>
                  <a:srgbClr val="22282E"/>
                </a:solidFill>
              </a:rPr>
              <a:t>•  NIST SP 800-53 Rev. 5 — familia de controles, para líneas base derivadas de la categorización.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200" b="1">
                <a:solidFill>
                  <a:srgbClr val="0B3D2E"/>
                </a:solidFill>
              </a:rPr>
              <a:t>Diagrama de la clase</a:t>
            </a:r>
          </a:p>
        </p:txBody>
      </p:sp>
      <p:pic>
        <p:nvPicPr>
          <p:cNvPr id="3" name="Picture 2" descr="4f933fd7e72a9e2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3270575"/>
            <a:ext cx="8229600" cy="95693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