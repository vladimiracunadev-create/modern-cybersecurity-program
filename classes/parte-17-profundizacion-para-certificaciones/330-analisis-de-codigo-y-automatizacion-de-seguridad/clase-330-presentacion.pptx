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194560"/>
            <a:ext cx="8046720" cy="2286000"/>
          </a:xfrm>
          <a:prstGeom prst="rect">
            <a:avLst/>
          </a:prstGeom>
          <a:noFill/>
        </p:spPr>
        <p:txBody>
          <a:bodyPr wrap="square">
            <a:spAutoFit/>
          </a:bodyPr>
          <a:lstStyle/>
          <a:p>
            <a:r>
              <a:rPr sz="3200" b="1">
                <a:solidFill>
                  <a:srgbClr val="0B3D2E"/>
                </a:solidFill>
              </a:rPr>
              <a:t>Clase 330 — Análisis de código y automatización de seguridad</a:t>
            </a:r>
          </a:p>
          <a:p>
            <a:r>
              <a:rPr sz="1600">
                <a:solidFill>
                  <a:srgbClr val="2E8B57"/>
                </a:solidFill>
              </a:rPr>
              <a:t>parte 17 profundizacion para certificaciones</a:t>
            </a:r>
          </a:p>
          <a:p>
            <a:r>
              <a:rPr sz="1200">
                <a:solidFill>
                  <a:srgbClr val="22282E"/>
                </a:solidFill>
              </a:rPr>
              <a:t>Programa de Ciberseguridad Moderna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Objetivo</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Encontrar y corregir vulnerabilidades en el código antes de que lleguen a producción, y hacerlo de forma automatizada y repetible. Esta clase cubre la revisión de código segura (manual, guiada por…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Resultados de aprendizaje</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Al finalizar, el alumno podrá:</a:t>
            </a:r>
          </a:p>
          <a:p>
            <a:pPr>
              <a:spcAft>
                <a:spcPts val="600"/>
              </a:spcAft>
            </a:pPr>
            <a:r>
              <a:rPr sz="1500">
                <a:solidFill>
                  <a:srgbClr val="22282E"/>
                </a:solidFill>
              </a:rPr>
              <a:t>•  Realizar una revisión de código segura guiada por checklist (OWASP Code Review / ASVS) sobre un fragmento vulnerable.</a:t>
            </a:r>
          </a:p>
          <a:p>
            <a:pPr>
              <a:spcAft>
                <a:spcPts val="600"/>
              </a:spcAft>
            </a:pPr>
            <a:r>
              <a:rPr sz="1500">
                <a:solidFill>
                  <a:srgbClr val="22282E"/>
                </a:solidFill>
              </a:rPr>
              <a:t>•  Distinguir SAST, DAST, IAST y SCA por lo que ven, cuándo se ejecutan y qué falsos positivos/negativos aportan.</a:t>
            </a:r>
          </a:p>
          <a:p>
            <a:pPr>
              <a:spcAft>
                <a:spcPts val="600"/>
              </a:spcAft>
            </a:pPr>
            <a:r>
              <a:rPr sz="1500">
                <a:solidFill>
                  <a:srgbClr val="22282E"/>
                </a:solidFill>
              </a:rPr>
              <a:t>•  Integrar SAST y SCA en un pipeline de CI (GitHub Actions) que falle ante hallazgos por encima de un umbral.</a:t>
            </a:r>
          </a:p>
          <a:p>
            <a:pPr>
              <a:spcAft>
                <a:spcPts val="600"/>
              </a:spcAft>
            </a:pPr>
            <a:r>
              <a:rPr sz="1500">
                <a:solidFill>
                  <a:srgbClr val="22282E"/>
                </a:solidFill>
              </a:rPr>
              <a:t>•  Triar hallazgos por severidad y explotabilidad, separando verdaderos positivos de ruido y gestionando excepciones.</a:t>
            </a:r>
          </a:p>
          <a:p>
            <a:pPr>
              <a:spcAft>
                <a:spcPts val="600"/>
              </a:spcAft>
            </a:pPr>
            <a:r>
              <a:rPr sz="1500">
                <a:solidFill>
                  <a:srgbClr val="22282E"/>
                </a:solidFill>
              </a:rPr>
              <a:t>•  Escribir un script de automatización que ejecute análisis, normalice resultados y genere un informe accionable.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Temas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1 — Revisión de código segura (manual)</a:t>
            </a:r>
          </a:p>
          <a:p>
            <a:pPr>
              <a:spcAft>
                <a:spcPts val="600"/>
              </a:spcAft>
            </a:pPr>
            <a:r>
              <a:rPr sz="1500">
                <a:solidFill>
                  <a:srgbClr val="22282E"/>
                </a:solidFill>
              </a:rPr>
              <a:t>•  2 — SAST (análisis estático)</a:t>
            </a:r>
          </a:p>
          <a:p>
            <a:pPr>
              <a:spcAft>
                <a:spcPts val="600"/>
              </a:spcAft>
            </a:pPr>
            <a:r>
              <a:rPr sz="1500">
                <a:solidFill>
                  <a:srgbClr val="22282E"/>
                </a:solidFill>
              </a:rPr>
              <a:t>•  3 — DAST (análisis dinámico)</a:t>
            </a:r>
          </a:p>
          <a:p>
            <a:pPr>
              <a:spcAft>
                <a:spcPts val="600"/>
              </a:spcAft>
            </a:pPr>
            <a:r>
              <a:rPr sz="1500">
                <a:solidFill>
                  <a:srgbClr val="22282E"/>
                </a:solidFill>
              </a:rPr>
              <a:t>•  4 — IAST (instrumentado)</a:t>
            </a:r>
          </a:p>
          <a:p>
            <a:pPr>
              <a:spcAft>
                <a:spcPts val="600"/>
              </a:spcAft>
            </a:pPr>
            <a:r>
              <a:rPr sz="1500">
                <a:solidFill>
                  <a:srgbClr val="22282E"/>
                </a:solidFill>
              </a:rPr>
              <a:t>•  5 — SCA (composición/dependencias)</a:t>
            </a:r>
          </a:p>
          <a:p>
            <a:pPr>
              <a:spcAft>
                <a:spcPts val="600"/>
              </a:spcAft>
            </a:pPr>
            <a:r>
              <a:rPr sz="1500">
                <a:solidFill>
                  <a:srgbClr val="22282E"/>
                </a:solidFill>
              </a:rPr>
              <a:t>•  6 — Integración en CI (shift-left)</a:t>
            </a:r>
          </a:p>
          <a:p>
            <a:pPr>
              <a:spcAft>
                <a:spcPts val="600"/>
              </a:spcAft>
            </a:pPr>
            <a:r>
              <a:rPr sz="1500">
                <a:solidFill>
                  <a:srgbClr val="22282E"/>
                </a:solidFill>
              </a:rPr>
              <a:t>•  7 — Triaje de hallazgos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Modelo mental y caso de decisión</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Automatizar seguridad exige entradas confiables, idempotencia, límites, logging y rollback; un script con privilegios es parte de la superficie.</a:t>
            </a:r>
          </a:p>
          <a:p>
            <a:pPr>
              <a:spcAft>
                <a:spcPts val="600"/>
              </a:spcAft>
            </a:pPr>
            <a:r>
              <a:rPr sz="1500">
                <a:solidFill>
                  <a:srgbClr val="22282E"/>
                </a:solidFill>
              </a:rPr>
              <a:t>•  Caso razonado. Una remediación masiva corrige el síntoma y rompe servicio; el modo simulación y rollback limitan daño.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Glosario operativo complementario</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Término — Definición</a:t>
            </a:r>
          </a:p>
          <a:p>
            <a:pPr>
              <a:spcAft>
                <a:spcPts val="600"/>
              </a:spcAft>
            </a:pPr>
            <a:r>
              <a:rPr sz="1500">
                <a:solidFill>
                  <a:srgbClr val="22282E"/>
                </a:solidFill>
              </a:rPr>
              <a:t>•  Evidencia — Información cuya procedencia y relación con un criterio pueden revisarse.</a:t>
            </a:r>
          </a:p>
          <a:p>
            <a:pPr>
              <a:spcAft>
                <a:spcPts val="600"/>
              </a:spcAft>
            </a:pPr>
            <a:r>
              <a:rPr sz="1500">
                <a:solidFill>
                  <a:srgbClr val="22282E"/>
                </a:solidFill>
              </a:rPr>
              <a:t>•  Supuesto — Condición declarada de la que depende una conclusión.</a:t>
            </a:r>
          </a:p>
          <a:p>
            <a:pPr>
              <a:spcAft>
                <a:spcPts val="600"/>
              </a:spcAft>
            </a:pPr>
            <a:r>
              <a:rPr sz="1500">
                <a:solidFill>
                  <a:srgbClr val="22282E"/>
                </a:solidFill>
              </a:rPr>
              <a:t>•  Riesgo residual — Exposición que permanece después del tratamiento.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Criterio de dominio</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El alumno demuestra dominio cuando explica el diagrama, resuelve el caso con evidencia, declara límites y puede defender por qué su decisión cambia si cambia un supuesto.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Definiciones y características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Revisión de código segura: lectura estructurada del código buscando defectos de seguridad (validación, authz, manejo de secretos, criptografía). Característica clave: capta fallos de lógica de…</a:t>
            </a:r>
          </a:p>
          <a:p>
            <a:pPr>
              <a:spcAft>
                <a:spcPts val="600"/>
              </a:spcAft>
            </a:pPr>
            <a:r>
              <a:rPr sz="1500">
                <a:solidFill>
                  <a:srgbClr val="22282E"/>
                </a:solidFill>
              </a:rPr>
              <a:t>•  SAST (Static Application Security Testing): analiza el código fuente o binario sin ejecutarlo, buscando patrones inseguros y flujos de datos peligrosos (taint). Característica clave: temprano y con…</a:t>
            </a:r>
          </a:p>
          <a:p>
            <a:pPr>
              <a:spcAft>
                <a:spcPts val="600"/>
              </a:spcAft>
            </a:pPr>
            <a:r>
              <a:rPr sz="1500">
                <a:solidFill>
                  <a:srgbClr val="22282E"/>
                </a:solidFill>
              </a:rPr>
              <a:t>•  DAST (Dynamic Application Security Testing): prueba la aplicación en ejecución desde fuera, sin ver el código (caja negra). Característica clave: baja tasa de falsos positivos en lo que encuentra…</a:t>
            </a:r>
          </a:p>
          <a:p>
            <a:pPr>
              <a:spcAft>
                <a:spcPts val="600"/>
              </a:spcAft>
            </a:pPr>
            <a:r>
              <a:rPr sz="1500">
                <a:solidFill>
                  <a:srgbClr val="22282E"/>
                </a:solidFill>
              </a:rPr>
              <a:t>•  IAST (Interactive AST): instrumenta la app en ejecución (agente) para observar el código desde dentro mientras corren las pruebas. Característica clave: combina precisión de contexto con validación…</a:t>
            </a:r>
          </a:p>
          <a:p>
            <a:pPr>
              <a:spcAft>
                <a:spcPts val="600"/>
              </a:spcAft>
            </a:pPr>
            <a:r>
              <a:rPr sz="1500">
                <a:solidFill>
                  <a:srgbClr val="22282E"/>
                </a:solidFill>
              </a:rPr>
              <a:t>•  SCA (Software Composition Analysis): identifica dependencias de terceros y las cruza con bases de vulnerabilidades (CVE/GHSA) y licencias. Característica clave: cubre el riesgo de la cadena de…</a:t>
            </a:r>
          </a:p>
          <a:p>
            <a:pPr>
              <a:spcAft>
                <a:spcPts val="600"/>
              </a:spcAft>
            </a:pPr>
            <a:r>
              <a:rPr sz="1500">
                <a:solidFill>
                  <a:srgbClr val="22282E"/>
                </a:solidFill>
              </a:rPr>
              <a:t>•  Shift-left: desplazar las pruebas de seguridad lo más temprano posible en el ciclo (IDE, commit, PR). Característica clave: cuanto antes se detecta, más barato es corregir.</a:t>
            </a:r>
          </a:p>
          <a:p>
            <a:pPr>
              <a:spcAft>
                <a:spcPts val="600"/>
              </a:spcAft>
            </a:pPr>
            <a:r>
              <a:rPr sz="1500">
                <a:solidFill>
                  <a:srgbClr val="22282E"/>
                </a:solidFill>
              </a:rPr>
              <a:t>•  Triaje de hallazgos: proceso de clasificar cada hallazgo (verdadero/falso positivo, severidad, explotabilidad, acción). Característica clave: sin triaje, el ruido entierra lo importante y el equipo…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Herramientas y preparación</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Entorno de laboratorio propio con una app deliberadamente vulnerable (para practicar detección, no ataque a terceros):</a:t>
            </a:r>
          </a:p>
          <a:p>
            <a:pPr>
              <a:spcAft>
                <a:spcPts val="600"/>
              </a:spcAft>
            </a:pPr>
            <a:r>
              <a:rPr sz="1500">
                <a:solidFill>
                  <a:srgbClr val="22282E"/>
                </a:solidFill>
              </a:rPr>
              <a:t>•  App objetivo: OWASP Juice Shop o WebGoat, o un repo de ejemplo con vulnerabilidades conocidas (todo en tu máquina/laboratorio).</a:t>
            </a:r>
          </a:p>
          <a:p>
            <a:pPr>
              <a:spcAft>
                <a:spcPts val="600"/>
              </a:spcAft>
            </a:pPr>
            <a:r>
              <a:rPr sz="1500">
                <a:solidFill>
                  <a:srgbClr val="22282E"/>
                </a:solidFill>
              </a:rPr>
              <a:t>•  SAST: Semgrep (reglas open source p/owasp-top-ten), Bandit (Python) o CodeQL (GitHub).</a:t>
            </a:r>
          </a:p>
          <a:p>
            <a:pPr>
              <a:spcAft>
                <a:spcPts val="600"/>
              </a:spcAft>
            </a:pPr>
            <a:r>
              <a:rPr sz="1500">
                <a:solidFill>
                  <a:srgbClr val="22282E"/>
                </a:solidFill>
              </a:rPr>
              <a:t>•  SCA: OWASP Dependency-Check, Trivy (trivy fs) o pip-audit/npm audit.</a:t>
            </a:r>
          </a:p>
          <a:p>
            <a:pPr>
              <a:spcAft>
                <a:spcPts val="600"/>
              </a:spcAft>
            </a:pPr>
            <a:r>
              <a:rPr sz="1500">
                <a:solidFill>
                  <a:srgbClr val="22282E"/>
                </a:solidFill>
              </a:rPr>
              <a:t>•  DAST: OWASP ZAP (modo baseline/automation framework) contra la app en tu laboratorio.</a:t>
            </a:r>
          </a:p>
          <a:p>
            <a:pPr>
              <a:spcAft>
                <a:spcPts val="600"/>
              </a:spcAft>
            </a:pPr>
            <a:r>
              <a:rPr sz="1500">
                <a:solidFill>
                  <a:srgbClr val="22282E"/>
                </a:solidFill>
              </a:rPr>
              <a:t>•  Secretos: gitleaks o detect-secrets para credenciales filtradas en el histórico.</a:t>
            </a:r>
          </a:p>
          <a:p>
            <a:pPr>
              <a:spcAft>
                <a:spcPts val="600"/>
              </a:spcAft>
            </a:pPr>
            <a:r>
              <a:rPr sz="1500">
                <a:solidFill>
                  <a:srgbClr val="22282E"/>
                </a:solidFill>
              </a:rPr>
              <a:t>•  CI: repositorio con GitHub Actions (o GitLab CI) para orquestar los análisis en cada PR.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Laboratorio guiado — Revisión de código + SAST/SCA en CI con triaje</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Ejercicio aplicado: revisas código manualmente, montas análisis automatizado en CI, triras los hallazgos y automatizas el informe.</a:t>
            </a:r>
          </a:p>
          <a:p>
            <a:pPr>
              <a:spcAft>
                <a:spcPts val="600"/>
              </a:spcAft>
            </a:pPr>
            <a:r>
              <a:rPr sz="1500">
                <a:solidFill>
                  <a:srgbClr val="22282E"/>
                </a:solidFill>
              </a:rPr>
              <a:t>•  Revisión manual. Toma un endpoint vulnerable (p. ej. una consulta SQL construida por concatenación) y, con el checklist de OWASP Code Review / ASVS, identifica el fallo, su categoría (inyección) y la…</a:t>
            </a:r>
          </a:p>
          <a:p>
            <a:pPr>
              <a:spcAft>
                <a:spcPts val="600"/>
              </a:spcAft>
            </a:pPr>
            <a:r>
              <a:rPr sz="1500">
                <a:solidFill>
                  <a:srgbClr val="22282E"/>
                </a:solidFill>
              </a:rPr>
              <a:t>•  Ejecuta SAST local. Corre semgrep --config p/owasp-top-ten . (o Bandit) y localiza el mismo hallazgo. Observa además algún falso positivo y anótalo.</a:t>
            </a:r>
          </a:p>
          <a:p>
            <a:pPr>
              <a:spcAft>
                <a:spcPts val="600"/>
              </a:spcAft>
            </a:pPr>
            <a:r>
              <a:rPr sz="1500">
                <a:solidFill>
                  <a:srgbClr val="22282E"/>
                </a:solidFill>
              </a:rPr>
              <a:t>•  Ejecuta SCA. Corre trivy fs . o dependency-check sobre las dependencias; identifica una librería con CVE y su versión corregida.</a:t>
            </a:r>
          </a:p>
          <a:p>
            <a:pPr>
              <a:spcAft>
                <a:spcPts val="600"/>
              </a:spcAft>
            </a:pPr>
            <a:r>
              <a:rPr sz="1500">
                <a:solidFill>
                  <a:srgbClr val="22282E"/>
                </a:solidFill>
              </a:rPr>
              <a:t>•  Ejecuta DAST en laboratorio. Lanza zap-baseline contra tu instancia local de Juice Shop y compara: ¿qué encontró DAST que SAST no, y viceversa? Explica por qué (dentro vs fuera).</a:t>
            </a:r>
          </a:p>
          <a:p>
            <a:pPr>
              <a:spcAft>
                <a:spcPts val="600"/>
              </a:spcAft>
            </a:pPr>
            <a:r>
              <a:rPr sz="1500">
                <a:solidFill>
                  <a:srgbClr val="22282E"/>
                </a:solidFill>
              </a:rPr>
              <a:t>•  Integra en CI. Crea un workflow de GitHub Actions que, en cada PR, ejecute SAST (Semgrep con salida SARIF) y SCA, suba los resultados a Code Scanning y falle el build si hay hallazgos de severidad…</a:t>
            </a:r>
          </a:p>
          <a:p>
            <a:pPr>
              <a:spcAft>
                <a:spcPts val="600"/>
              </a:spcAft>
            </a:pPr>
            <a:r>
              <a:rPr sz="1500">
                <a:solidFill>
                  <a:srgbClr val="22282E"/>
                </a:solidFill>
              </a:rPr>
              <a:t>•  Define el umbral (quality gate). Configura qué severidad rompe el pipeline y qué queda como aviso; justifica el umbral para no bloquear al equipo con ruido.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Ejercicios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Revisa un fragmento con concatenación SQL y reescríbelo con consulta parametrizada; nombra la regla ASVS aplicable.</a:t>
            </a:r>
          </a:p>
          <a:p>
            <a:pPr>
              <a:spcAft>
                <a:spcPts val="600"/>
              </a:spcAft>
            </a:pPr>
            <a:r>
              <a:rPr sz="1500">
                <a:solidFill>
                  <a:srgbClr val="22282E"/>
                </a:solidFill>
              </a:rPr>
              <a:t>•  Construye una tabla que compare SAST/DAST/IAST/SCA por: qué ven, cuándo corren, falsos positivos y falsos negativos típicos.</a:t>
            </a:r>
          </a:p>
          <a:p>
            <a:pPr>
              <a:spcAft>
                <a:spcPts val="600"/>
              </a:spcAft>
            </a:pPr>
            <a:r>
              <a:rPr sz="1500">
                <a:solidFill>
                  <a:srgbClr val="22282E"/>
                </a:solidFill>
              </a:rPr>
              <a:t>•  Escribe un workflow de GitHub Actions que ejecute Semgrep y falle si hay hallazgos ERROR.</a:t>
            </a:r>
          </a:p>
          <a:p>
            <a:pPr>
              <a:spcAft>
                <a:spcPts val="600"/>
              </a:spcAft>
            </a:pPr>
            <a:r>
              <a:rPr sz="1500">
                <a:solidFill>
                  <a:srgbClr val="22282E"/>
                </a:solidFill>
              </a:rPr>
              <a:t>•  Tría cinco hallazgos dados: marca verdadero/falso positivo, severidad y acción, con justificación.</a:t>
            </a:r>
          </a:p>
          <a:p>
            <a:pPr>
              <a:spcAft>
                <a:spcPts val="600"/>
              </a:spcAft>
            </a:pPr>
            <a:r>
              <a:rPr sz="1500">
                <a:solidFill>
                  <a:srgbClr val="22282E"/>
                </a:solidFill>
              </a:rPr>
              <a:t>•  Suprime un falso positivo de forma trazable (comentario nosemgrep o baseline) y explica por qué no es "ignorar".</a:t>
            </a:r>
          </a:p>
          <a:p>
            <a:pPr>
              <a:spcAft>
                <a:spcPts val="600"/>
              </a:spcAft>
            </a:pPr>
            <a:r>
              <a:rPr sz="1500">
                <a:solidFill>
                  <a:srgbClr val="22282E"/>
                </a:solidFill>
              </a:rPr>
              <a:t>•  Escribe un script que parsee un SARIF y cuente hallazgos por severidad y por regla.</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Reto verificable</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Reto: entrega un pipeline de análisis de código que detecte, triñe y verifique la corrección de vulnerabilidades reales en una app de laboratorio propia.</a:t>
            </a:r>
          </a:p>
          <a:p>
            <a:pPr>
              <a:spcAft>
                <a:spcPts val="600"/>
              </a:spcAft>
            </a:pPr>
            <a:r>
              <a:rPr sz="1500">
                <a:solidFill>
                  <a:srgbClr val="22282E"/>
                </a:solidFill>
              </a:rPr>
              <a:t>•  Criterio de aceptación:</a:t>
            </a:r>
          </a:p>
          <a:p>
            <a:pPr>
              <a:spcAft>
                <a:spcPts val="600"/>
              </a:spcAft>
            </a:pPr>
            <a:r>
              <a:rPr sz="1500">
                <a:solidFill>
                  <a:srgbClr val="22282E"/>
                </a:solidFill>
              </a:rPr>
              <a:t>•  Hay una revisión de código manual documentada (antes/después) guiada por OWASP Code Review/ASVS, con al menos un fallo de lógica corregido.</a:t>
            </a:r>
          </a:p>
          <a:p>
            <a:pPr>
              <a:spcAft>
                <a:spcPts val="600"/>
              </a:spcAft>
            </a:pPr>
            <a:r>
              <a:rPr sz="1500">
                <a:solidFill>
                  <a:srgbClr val="22282E"/>
                </a:solidFill>
              </a:rPr>
              <a:t>•  El pipeline de CI ejecuta SAST y SCA en cada PR, emite SARIF y falla el build por encima de un umbral de severidad justificado.</a:t>
            </a:r>
          </a:p>
          <a:p>
            <a:pPr>
              <a:spcAft>
                <a:spcPts val="600"/>
              </a:spcAft>
            </a:pPr>
            <a:r>
              <a:rPr sz="1500">
                <a:solidFill>
                  <a:srgbClr val="22282E"/>
                </a:solidFill>
              </a:rPr>
              <a:t>•  Cada hallazgo pasa por triaje con decisión explícita (corregir / falso positivo suprimido de forma trazable / riesgo aceptado con caducidad).</a:t>
            </a:r>
          </a:p>
          <a:p>
            <a:pPr>
              <a:spcAft>
                <a:spcPts val="600"/>
              </a:spcAft>
            </a:pPr>
            <a:r>
              <a:rPr sz="1500">
                <a:solidFill>
                  <a:srgbClr val="22282E"/>
                </a:solidFill>
              </a:rPr>
              <a:t>•  Al menos una inyección y una dependencia vulnerable quedan corregidas y verificadas (el hallazgo desaparece por arreglo, no por supresión).</a:t>
            </a:r>
          </a:p>
          <a:p>
            <a:pPr>
              <a:spcAft>
                <a:spcPts val="600"/>
              </a:spcAft>
            </a:pPr>
            <a:r>
              <a:rPr sz="1500">
                <a:solidFill>
                  <a:srgbClr val="22282E"/>
                </a:solidFill>
              </a:rPr>
              <a:t>•  Existe un script de automatización que normaliza y deduplica resultados y produce un informe accionable.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Errores comunes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"SAST tira 400 hallazgos y nadie los mira" — Sin triaje ni umbral, el ruido mata la adopción. Prioriza por severidad×explotabilidad y ajusta reglas.</a:t>
            </a:r>
          </a:p>
          <a:p>
            <a:pPr>
              <a:spcAft>
                <a:spcPts val="600"/>
              </a:spcAft>
            </a:pPr>
            <a:r>
              <a:rPr sz="1500">
                <a:solidFill>
                  <a:srgbClr val="22282E"/>
                </a:solidFill>
              </a:rPr>
              <a:t>•  "DAST no encontró la SQLi que SAST sí vio" — DAST solo prueba lo que se ejercita. Cubre rutas con pruebas o combínalo con SAST/IAST.</a:t>
            </a:r>
          </a:p>
          <a:p>
            <a:pPr>
              <a:spcAft>
                <a:spcPts val="600"/>
              </a:spcAft>
            </a:pPr>
            <a:r>
              <a:rPr sz="1500">
                <a:solidFill>
                  <a:srgbClr val="22282E"/>
                </a:solidFill>
              </a:rPr>
              <a:t>•  "Suprimí el hallazgo para que pasara el build" — Suprimir ≠ corregir. Solo se suprime un falso positivo justificado; los reales se arreglan.</a:t>
            </a:r>
          </a:p>
          <a:p>
            <a:pPr>
              <a:spcAft>
                <a:spcPts val="600"/>
              </a:spcAft>
            </a:pPr>
            <a:r>
              <a:rPr sz="1500">
                <a:solidFill>
                  <a:srgbClr val="22282E"/>
                </a:solidFill>
              </a:rPr>
              <a:t>•  "El SCA marca un CVE en una dependencia que no uso" — Falso positivo por dependencia transitiva no alcanzable. Verifica el alcance real y documenta la excepción.</a:t>
            </a:r>
          </a:p>
          <a:p>
            <a:pPr>
              <a:spcAft>
                <a:spcPts val="600"/>
              </a:spcAft>
            </a:pPr>
            <a:r>
              <a:rPr sz="1500">
                <a:solidFill>
                  <a:srgbClr val="22282E"/>
                </a:solidFill>
              </a:rPr>
              <a:t>•  "Metí secretos en el repo y ya los borré del último commit" — Siguen en el histórico. Usa gitleaks sobre todo el historial y rota la credencial expuesta.</a:t>
            </a:r>
          </a:p>
          <a:p>
            <a:pPr>
              <a:spcAft>
                <a:spcPts val="600"/>
              </a:spcAft>
            </a:pPr>
            <a:r>
              <a:rPr sz="1500">
                <a:solidFill>
                  <a:srgbClr val="22282E"/>
                </a:solidFill>
              </a:rPr>
              <a:t>•  "El pipeline tarda 40 min y bloquea todo" — Análisis pesado en cada push. Usa escaneo incremental/diff-aware y reserva el completo para nightly.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Preguntas frecuentes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 ¿SAST o DAST? ¿Cuál elijo?</a:t>
            </a:r>
          </a:p>
          <a:p>
            <a:pPr>
              <a:spcAft>
                <a:spcPts val="600"/>
              </a:spcAft>
            </a:pPr>
            <a:r>
              <a:rPr sz="1500">
                <a:solidFill>
                  <a:srgbClr val="22282E"/>
                </a:solidFill>
              </a:rPr>
              <a:t>•  Ambos: son complementarios. SAST ve el código (temprano, amplio, con ruido) y encuentra fallos en rutas no ejecutadas; DAST ve la app corriendo (preciso, tardío) y valida lo explotable de verdad. Un…</a:t>
            </a:r>
          </a:p>
          <a:p>
            <a:pPr>
              <a:spcAft>
                <a:spcPts val="600"/>
              </a:spcAft>
            </a:pPr>
            <a:r>
              <a:rPr sz="1500">
                <a:solidFill>
                  <a:srgbClr val="22282E"/>
                </a:solidFill>
              </a:rPr>
              <a:t>•  ❓ ¿Por qué importa tanto el SCA si mi código está limpio?</a:t>
            </a:r>
          </a:p>
          <a:p>
            <a:pPr>
              <a:spcAft>
                <a:spcPts val="600"/>
              </a:spcAft>
            </a:pPr>
            <a:r>
              <a:rPr sz="1500">
                <a:solidFill>
                  <a:srgbClr val="22282E"/>
                </a:solidFill>
              </a:rPr>
              <a:t>•  Porque la mayor parte de una aplicación moderna es código de terceros. Una dependencia con un CVE crítico te vuelve vulnerable aunque tu código sea impecable. El SCA vigila esa cadena de suministro y…</a:t>
            </a:r>
          </a:p>
          <a:p>
            <a:pPr>
              <a:spcAft>
                <a:spcPts val="600"/>
              </a:spcAft>
            </a:pPr>
            <a:r>
              <a:rPr sz="1500">
                <a:solidFill>
                  <a:srgbClr val="22282E"/>
                </a:solidFill>
              </a:rPr>
              <a:t>•  ❓ ¿Cómo evito que las herramientas frenen al equipo de desarrollo?</a:t>
            </a:r>
          </a:p>
          <a:p>
            <a:pPr>
              <a:spcAft>
                <a:spcPts val="600"/>
              </a:spcAft>
            </a:pPr>
            <a:r>
              <a:rPr sz="1500">
                <a:solidFill>
                  <a:srgbClr val="22282E"/>
                </a:solidFill>
              </a:rPr>
              <a:t>•  Con shift-left bien calibrado: reglas curadas, escaneo incremental sobre el diff, un quality gate que solo rompe por severidad alta y triaje ágil de falsos positivos. La seguridad que ralentiza sin…</a:t>
            </a:r>
          </a:p>
          <a:p>
            <a:pPr>
              <a:spcAft>
                <a:spcPts val="600"/>
              </a:spcAft>
            </a:pPr>
            <a:r>
              <a:rPr sz="1500">
                <a:solidFill>
                  <a:srgbClr val="22282E"/>
                </a:solidFill>
              </a:rPr>
              <a:t>•  ❓ ¿Este contenido no es "ofensivo"?</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Referencias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OWASP. Code Review Guide — owasp.org/www-project-code-review-guide.</a:t>
            </a:r>
          </a:p>
          <a:p>
            <a:pPr>
              <a:spcAft>
                <a:spcPts val="600"/>
              </a:spcAft>
            </a:pPr>
            <a:r>
              <a:rPr sz="1500">
                <a:solidFill>
                  <a:srgbClr val="22282E"/>
                </a:solidFill>
              </a:rPr>
              <a:t>•  OWASP. Application Security Verification Standard (ASVS) — owasp.org/www-project-application-security-verification-standard.</a:t>
            </a:r>
          </a:p>
          <a:p>
            <a:pPr>
              <a:spcAft>
                <a:spcPts val="600"/>
              </a:spcAft>
            </a:pPr>
            <a:r>
              <a:rPr sz="1500">
                <a:solidFill>
                  <a:srgbClr val="22282E"/>
                </a:solidFill>
              </a:rPr>
              <a:t>•  CompTIA. PenTest+ (PT0-002/PT0-003) Exam Objectives — dominio Tools and Code Analysis.</a:t>
            </a:r>
          </a:p>
          <a:p>
            <a:pPr>
              <a:spcAft>
                <a:spcPts val="600"/>
              </a:spcAft>
            </a:pPr>
            <a:r>
              <a:rPr sz="1500">
                <a:solidFill>
                  <a:srgbClr val="22282E"/>
                </a:solidFill>
              </a:rPr>
              <a:t>•  Chapple, Stewart &amp; Gibson. (ISC)² CISSP Official Study Guide, 9.ª ed., Sybex — Software Development Security.</a:t>
            </a:r>
          </a:p>
          <a:p>
            <a:pPr>
              <a:spcAft>
                <a:spcPts val="600"/>
              </a:spcAft>
            </a:pPr>
            <a:r>
              <a:rPr sz="1500">
                <a:solidFill>
                  <a:srgbClr val="22282E"/>
                </a:solidFill>
              </a:rPr>
              <a:t>•  OASIS. SARIF v2.1.0 — docs.oasis-open.org/sarif · Semgrep — semgrep.dev.</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square">
            <a:spAutoFit/>
          </a:bodyPr>
          <a:lstStyle/>
          <a:p>
            <a:r>
              <a:rPr sz="2200" b="1">
                <a:solidFill>
                  <a:srgbClr val="0B3D2E"/>
                </a:solidFill>
              </a:rPr>
              <a:t>Diagrama de la clase</a:t>
            </a:r>
          </a:p>
        </p:txBody>
      </p:sp>
      <p:pic>
        <p:nvPicPr>
          <p:cNvPr id="3" name="Picture 2" descr="3f3695c2a0a0e717.png"/>
          <p:cNvPicPr>
            <a:picLocks noChangeAspect="1"/>
          </p:cNvPicPr>
          <p:nvPr/>
        </p:nvPicPr>
        <p:blipFill>
          <a:blip r:embed="rId2"/>
          <a:stretch>
            <a:fillRect/>
          </a:stretch>
        </p:blipFill>
        <p:spPr>
          <a:xfrm>
            <a:off x="457200" y="3294725"/>
            <a:ext cx="8229600" cy="90863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