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329 — Arquitectura de seguridad empresarial y Zero Trust</a:t>
            </a:r>
          </a:p>
          <a:p>
            <a:r>
              <a:rPr sz="1600">
                <a:solidFill>
                  <a:srgbClr val="2E8B57"/>
                </a:solidFill>
              </a:rPr>
              <a:t>parte 17 profundizacion para certificaciones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Diseñar seguridad a nivel de empresa, no controles sueltos. Esta clase enseña a usar marcos de arquitectura de seguridad empresarial —SABSA (matriz por capas y trazabilidad al negocio) y la seguridad…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Trazar requisitos de negocio hasta controles técnicos usando las capas de SABSA.</a:t>
            </a:r>
          </a:p>
          <a:p>
            <a:pPr>
              <a:spcAft>
                <a:spcPts val="600"/>
              </a:spcAft>
            </a:pPr>
            <a:r>
              <a:rPr sz="1500">
                <a:solidFill>
                  <a:srgbClr val="22282E"/>
                </a:solidFill>
              </a:rPr>
              <a:t>•  Aplicar defensa en profundidad y segmentación (macro y micro) a una arquitectura de referencia.</a:t>
            </a:r>
          </a:p>
          <a:p>
            <a:pPr>
              <a:spcAft>
                <a:spcPts val="600"/>
              </a:spcAft>
            </a:pPr>
            <a:r>
              <a:rPr sz="1500">
                <a:solidFill>
                  <a:srgbClr val="22282E"/>
                </a:solidFill>
              </a:rPr>
              <a:t>•  Explicar los siete principios y los componentes lógicos (PE/PA/PEP) de Zero Trust de NIST SP 800-207.</a:t>
            </a:r>
          </a:p>
          <a:p>
            <a:pPr>
              <a:spcAft>
                <a:spcPts val="600"/>
              </a:spcAft>
            </a:pPr>
            <a:r>
              <a:rPr sz="1500">
                <a:solidFill>
                  <a:srgbClr val="22282E"/>
                </a:solidFill>
              </a:rPr>
              <a:t>•  Diseñar un flujo de acceso Zero Trust para una aplicación, con punto de decisión y punto de aplicación de política.</a:t>
            </a:r>
          </a:p>
          <a:p>
            <a:pPr>
              <a:spcAft>
                <a:spcPts val="600"/>
              </a:spcAft>
            </a:pPr>
            <a:r>
              <a:rPr sz="1500">
                <a:solidFill>
                  <a:srgbClr val="22282E"/>
                </a:solidFill>
              </a:rPr>
              <a:t>•  Situar SASE (SD-WAN + SWG + CASB + ZTNA + FWaaS) como convergencia de red y seguridad en el borde.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Arquitectura empresarial de seguridad</a:t>
            </a:r>
          </a:p>
          <a:p>
            <a:pPr>
              <a:spcAft>
                <a:spcPts val="600"/>
              </a:spcAft>
            </a:pPr>
            <a:r>
              <a:rPr sz="1500">
                <a:solidFill>
                  <a:srgbClr val="22282E"/>
                </a:solidFill>
              </a:rPr>
              <a:t>•  2 — SABSA (matriz por capas)</a:t>
            </a:r>
          </a:p>
          <a:p>
            <a:pPr>
              <a:spcAft>
                <a:spcPts val="600"/>
              </a:spcAft>
            </a:pPr>
            <a:r>
              <a:rPr sz="1500">
                <a:solidFill>
                  <a:srgbClr val="22282E"/>
                </a:solidFill>
              </a:rPr>
              <a:t>•  3 — TOGAF y la vista de seguridad</a:t>
            </a:r>
          </a:p>
          <a:p>
            <a:pPr>
              <a:spcAft>
                <a:spcPts val="600"/>
              </a:spcAft>
            </a:pPr>
            <a:r>
              <a:rPr sz="1500">
                <a:solidFill>
                  <a:srgbClr val="22282E"/>
                </a:solidFill>
              </a:rPr>
              <a:t>•  4 — Defensa en profundidad</a:t>
            </a:r>
          </a:p>
          <a:p>
            <a:pPr>
              <a:spcAft>
                <a:spcPts val="600"/>
              </a:spcAft>
            </a:pPr>
            <a:r>
              <a:rPr sz="1500">
                <a:solidFill>
                  <a:srgbClr val="22282E"/>
                </a:solidFill>
              </a:rPr>
              <a:t>•  5 — Segmentación macro/micro</a:t>
            </a:r>
          </a:p>
          <a:p>
            <a:pPr>
              <a:spcAft>
                <a:spcPts val="600"/>
              </a:spcAft>
            </a:pPr>
            <a:r>
              <a:rPr sz="1500">
                <a:solidFill>
                  <a:srgbClr val="22282E"/>
                </a:solidFill>
              </a:rPr>
              <a:t>•  6 — Zero Trust — principios (SP 800-207)</a:t>
            </a:r>
          </a:p>
          <a:p>
            <a:pPr>
              <a:spcAft>
                <a:spcPts val="600"/>
              </a:spcAft>
            </a:pPr>
            <a:r>
              <a:rPr sz="1500">
                <a:solidFill>
                  <a:srgbClr val="22282E"/>
                </a:solidFill>
              </a:rPr>
              <a:t>•  7 — Componentes ZT: PE, PA, PEP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Modelo mental y caso de decisión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Zero Trust evalúa cada acceso con identidad, dispositivo, recurso y contexto; no significa ausencia de redes ni confianza cero literal.</a:t>
            </a:r>
          </a:p>
          <a:p>
            <a:pPr>
              <a:spcAft>
                <a:spcPts val="600"/>
              </a:spcAft>
            </a:pPr>
            <a:r>
              <a:rPr sz="1500">
                <a:solidFill>
                  <a:srgbClr val="22282E"/>
                </a:solidFill>
              </a:rPr>
              <a:t>•  Caso razonado. MFA fuerte no compensa dispositivo sin gestión que descarga datos sensibles.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 operativo complementario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a:t>
            </a:r>
          </a:p>
          <a:p>
            <a:pPr>
              <a:spcAft>
                <a:spcPts val="600"/>
              </a:spcAft>
            </a:pPr>
            <a:r>
              <a:rPr sz="1500">
                <a:solidFill>
                  <a:srgbClr val="22282E"/>
                </a:solidFill>
              </a:rPr>
              <a:t>•  Evidencia — Información cuya procedencia y relación con un criterio pueden revisarse.</a:t>
            </a:r>
          </a:p>
          <a:p>
            <a:pPr>
              <a:spcAft>
                <a:spcPts val="600"/>
              </a:spcAft>
            </a:pPr>
            <a:r>
              <a:rPr sz="1500">
                <a:solidFill>
                  <a:srgbClr val="22282E"/>
                </a:solidFill>
              </a:rPr>
              <a:t>•  Supuesto — Condición declarada de la que depende una conclusión.</a:t>
            </a:r>
          </a:p>
          <a:p>
            <a:pPr>
              <a:spcAft>
                <a:spcPts val="600"/>
              </a:spcAft>
            </a:pPr>
            <a:r>
              <a:rPr sz="1500">
                <a:solidFill>
                  <a:srgbClr val="22282E"/>
                </a:solidFill>
              </a:rPr>
              <a:t>•  Riesgo residual — Exposición que permanece después del tratamiento.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demuestra dominio cuando explica el diagrama, resuelve el caso con evidencia, declara límites y puede defender por qué su decisión cambia si cambia un supuesto.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Arquitectura de seguridad empresarial (ESA): disciplina que estructura los controles de seguridad de toda la organización de forma coherente y alineada al negocio. Característica clave: piensa en…</a:t>
            </a:r>
          </a:p>
          <a:p>
            <a:pPr>
              <a:spcAft>
                <a:spcPts val="600"/>
              </a:spcAft>
            </a:pPr>
            <a:r>
              <a:rPr sz="1500">
                <a:solidFill>
                  <a:srgbClr val="22282E"/>
                </a:solidFill>
              </a:rPr>
              <a:t>•  SABSA: marco cuya matriz cruza seis capas (contextual, conceptual, lógica, física, de componentes y operacional) con las preguntas qué, por qué, cómo, quién, dónde, cuándo. Característica clave…</a:t>
            </a:r>
          </a:p>
          <a:p>
            <a:pPr>
              <a:spcAft>
                <a:spcPts val="600"/>
              </a:spcAft>
            </a:pPr>
            <a:r>
              <a:rPr sz="1500">
                <a:solidFill>
                  <a:srgbClr val="22282E"/>
                </a:solidFill>
              </a:rPr>
              <a:t>•  TOGAF (seguridad): método de arquitectura empresarial (ADM) en el que la seguridad es una preocupación transversal a las arquitecturas de negocio, datos, aplicación y tecnología. Característica…</a:t>
            </a:r>
          </a:p>
          <a:p>
            <a:pPr>
              <a:spcAft>
                <a:spcPts val="600"/>
              </a:spcAft>
            </a:pPr>
            <a:r>
              <a:rPr sz="1500">
                <a:solidFill>
                  <a:srgbClr val="22282E"/>
                </a:solidFill>
              </a:rPr>
              <a:t>•  Defensa en profundidad: aplicación de múltiples capas de controles independientes (perímetro, red, host, aplicación, datos, identidad) para que el fallo de una no comprometa el conjunto.…</a:t>
            </a:r>
          </a:p>
          <a:p>
            <a:pPr>
              <a:spcAft>
                <a:spcPts val="600"/>
              </a:spcAft>
            </a:pPr>
            <a:r>
              <a:rPr sz="1500">
                <a:solidFill>
                  <a:srgbClr val="22282E"/>
                </a:solidFill>
              </a:rPr>
              <a:t>•  Segmentación: división de la red/recursos en zonas con control de tráfico entre ellas. Macrosegmentación (zonas/VLAN) y microsegmentación (política por carga de trabajo). Característica clave…</a:t>
            </a:r>
          </a:p>
          <a:p>
            <a:pPr>
              <a:spcAft>
                <a:spcPts val="600"/>
              </a:spcAft>
            </a:pPr>
            <a:r>
              <a:rPr sz="1500">
                <a:solidFill>
                  <a:srgbClr val="22282E"/>
                </a:solidFill>
              </a:rPr>
              <a:t>•  Zero Trust (ZT): modelo que elimina la confianza implícita: cada solicitud de acceso se autentica, autoriza y cifra por sesión, según identidad, estado del dispositivo y contexto. Característica…</a:t>
            </a:r>
          </a:p>
          <a:p>
            <a:pPr>
              <a:spcAft>
                <a:spcPts val="600"/>
              </a:spcAft>
            </a:pPr>
            <a:r>
              <a:rPr sz="1500">
                <a:solidFill>
                  <a:srgbClr val="22282E"/>
                </a:solidFill>
              </a:rPr>
              <a:t>•  PDP/PEP (PE, PA, PEP): en SP 800-207, el Policy Engine (PE) decide, el Policy Administrator (PA) establece/termina la sesión y el Policy Enforcement Point (PEP) aplica el acceso frente al recurso.…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de diseño/arquitectura — se trabaja con diagramas y políticas, no con explotación:</a:t>
            </a:r>
          </a:p>
          <a:p>
            <a:pPr>
              <a:spcAft>
                <a:spcPts val="600"/>
              </a:spcAft>
            </a:pPr>
            <a:r>
              <a:rPr sz="1500">
                <a:solidFill>
                  <a:srgbClr val="22282E"/>
                </a:solidFill>
              </a:rPr>
              <a:t>•  Herramienta de diagramación: draw.io/diagrams.net, Excalidraw o Visio para la arquitectura de referencia y los flujos de acceso.</a:t>
            </a:r>
          </a:p>
          <a:p>
            <a:pPr>
              <a:spcAft>
                <a:spcPts val="600"/>
              </a:spcAft>
            </a:pPr>
            <a:r>
              <a:rPr sz="1500">
                <a:solidFill>
                  <a:srgbClr val="22282E"/>
                </a:solidFill>
              </a:rPr>
              <a:t>•  Plantilla SABSA: hoja con la matriz de seis capas para trazar un requisito de negocio hasta controles.</a:t>
            </a:r>
          </a:p>
          <a:p>
            <a:pPr>
              <a:spcAft>
                <a:spcPts val="600"/>
              </a:spcAft>
            </a:pPr>
            <a:r>
              <a:rPr sz="1500">
                <a:solidFill>
                  <a:srgbClr val="22282E"/>
                </a:solidFill>
              </a:rPr>
              <a:t>•  Documentos base: NIST SP 800-207 (ZTA) y, como complemento, la guía de migración NIST SP 1800-35; el modelo de madurez CISA Zero Trust Maturity Model.</a:t>
            </a:r>
          </a:p>
          <a:p>
            <a:pPr>
              <a:spcAft>
                <a:spcPts val="600"/>
              </a:spcAft>
            </a:pPr>
            <a:r>
              <a:rPr sz="1500">
                <a:solidFill>
                  <a:srgbClr val="22282E"/>
                </a:solidFill>
              </a:rPr>
              <a:t>•  Laboratorio opcional (identidad): un IdP (Keycloak/Entra ID de pruebas) para modelar autenticación basada en políticas y acceso condicional.</a:t>
            </a:r>
          </a:p>
          <a:p>
            <a:pPr>
              <a:spcAft>
                <a:spcPts val="600"/>
              </a:spcAft>
            </a:pPr>
            <a:r>
              <a:rPr sz="1500">
                <a:solidFill>
                  <a:srgbClr val="22282E"/>
                </a:solidFill>
              </a:rPr>
              <a:t>•  Laboratorio opcional (segmentación): reglas de firewall/nftables o etiquetas de microsegmentación en un entorno de laboratorio propio.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 Diseñar una arquitectura Zero Trust para una aplicación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aplicado: partes de una app corporativa expuesta con VPN clásica y la rediseñas bajo Zero Trust, con trazabilidad SABSA.</a:t>
            </a:r>
          </a:p>
          <a:p>
            <a:pPr>
              <a:spcAft>
                <a:spcPts val="600"/>
              </a:spcAft>
            </a:pPr>
            <a:r>
              <a:rPr sz="1500">
                <a:solidFill>
                  <a:srgbClr val="22282E"/>
                </a:solidFill>
              </a:rPr>
              <a:t>•  Levanta el contexto (SABSA capa contextual). Describe el negocio: qué app, quién la usa (empleados, terceros), qué datos maneja y qué riesgo importa. Anota el requisito de negocio en una frase.</a:t>
            </a:r>
          </a:p>
          <a:p>
            <a:pPr>
              <a:spcAft>
                <a:spcPts val="600"/>
              </a:spcAft>
            </a:pPr>
            <a:r>
              <a:rPr sz="1500">
                <a:solidFill>
                  <a:srgbClr val="22282E"/>
                </a:solidFill>
              </a:rPr>
              <a:t>•  Dibuja la arquitectura actual. Diagrama el estado "castillo y foso": VPN → red plana → app. Marca dónde hay confianza implícita (todo el que entra a la VPN alcanza todo).</a:t>
            </a:r>
          </a:p>
          <a:p>
            <a:pPr>
              <a:spcAft>
                <a:spcPts val="600"/>
              </a:spcAft>
            </a:pPr>
            <a:r>
              <a:rPr sz="1500">
                <a:solidFill>
                  <a:srgbClr val="22282E"/>
                </a:solidFill>
              </a:rPr>
              <a:t>•  Aplica defensa en profundidad. Identifica las capas de control faltantes (identidad, dispositivo, red, aplicación, datos) y qué control pondrías en cada una.</a:t>
            </a:r>
          </a:p>
          <a:p>
            <a:pPr>
              <a:spcAft>
                <a:spcPts val="600"/>
              </a:spcAft>
            </a:pPr>
            <a:r>
              <a:rPr sz="1500">
                <a:solidFill>
                  <a:srgbClr val="22282E"/>
                </a:solidFill>
              </a:rPr>
              <a:t>•  Segmenta. Propón macrosegmentación (separar la app de la red general) y microsegmentación (aislar la carga de trabajo de su base de datos). Define qué tráfico se permite explícitamente; el resto se…</a:t>
            </a:r>
          </a:p>
          <a:p>
            <a:pPr>
              <a:spcAft>
                <a:spcPts val="600"/>
              </a:spcAft>
            </a:pPr>
            <a:r>
              <a:rPr sz="1500">
                <a:solidFill>
                  <a:srgbClr val="22282E"/>
                </a:solidFill>
              </a:rPr>
              <a:t>•  Modela el flujo Zero Trust (SP 800-207). Dibuja el acceso: sujeto + dispositivo → PEP → consulta al PE/PA que evalúa política (identidad, MFA, postura del dispositivo, contexto) → concede sesión por…</a:t>
            </a:r>
          </a:p>
          <a:p>
            <a:pPr>
              <a:spcAft>
                <a:spcPts val="600"/>
              </a:spcAft>
            </a:pPr>
            <a:r>
              <a:rPr sz="1500">
                <a:solidFill>
                  <a:srgbClr val="22282E"/>
                </a:solidFill>
              </a:rPr>
              <a:t>•  Escribe la política. Redacta 4–6 reglas de acceso basadas en atributos (p. ej. "usuario del grupo Finanzas + dispositivo gestionado + MFA reciente → acceso solo a la app de facturación por 8 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Rellena una fila de la matriz SABSA para el requisito "proteger los datos de clientes en la app web".</a:t>
            </a:r>
          </a:p>
          <a:p>
            <a:pPr>
              <a:spcAft>
                <a:spcPts val="600"/>
              </a:spcAft>
            </a:pPr>
            <a:r>
              <a:rPr sz="1500">
                <a:solidFill>
                  <a:srgbClr val="22282E"/>
                </a:solidFill>
              </a:rPr>
              <a:t>•  Explica, con un ejemplo, la diferencia entre macrosegmentación y microsegmentación.</a:t>
            </a:r>
          </a:p>
          <a:p>
            <a:pPr>
              <a:spcAft>
                <a:spcPts val="600"/>
              </a:spcAft>
            </a:pPr>
            <a:r>
              <a:rPr sz="1500">
                <a:solidFill>
                  <a:srgbClr val="22282E"/>
                </a:solidFill>
              </a:rPr>
              <a:t>•  Enumera los siete principios de Zero Trust de SP 800-207 y da un control que materialice cada uno.</a:t>
            </a:r>
          </a:p>
          <a:p>
            <a:pPr>
              <a:spcAft>
                <a:spcPts val="600"/>
              </a:spcAft>
            </a:pPr>
            <a:r>
              <a:rPr sz="1500">
                <a:solidFill>
                  <a:srgbClr val="22282E"/>
                </a:solidFill>
              </a:rPr>
              <a:t>•  Dibuja el flujo PE/PA/PEP para el acceso a una API interna y marca dónde se decide y dónde se aplica.</a:t>
            </a:r>
          </a:p>
          <a:p>
            <a:pPr>
              <a:spcAft>
                <a:spcPts val="600"/>
              </a:spcAft>
            </a:pPr>
            <a:r>
              <a:rPr sz="1500">
                <a:solidFill>
                  <a:srgbClr val="22282E"/>
                </a:solidFill>
              </a:rPr>
              <a:t>•  Compara VPN tradicional vs ZTNA en exposición de red, granularidad y experiencia de usuario.</a:t>
            </a:r>
          </a:p>
          <a:p>
            <a:pPr>
              <a:spcAft>
                <a:spcPts val="600"/>
              </a:spcAft>
            </a:pPr>
            <a:r>
              <a:rPr sz="1500">
                <a:solidFill>
                  <a:srgbClr val="22282E"/>
                </a:solidFill>
              </a:rPr>
              <a:t>•  Mapea los cinco componentes de SASE a los problemas concretos que resuelve cada uno.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entrega el rediseño Zero Trust de una aplicación, trazable al negocio y con política de acceso concreta.</a:t>
            </a:r>
          </a:p>
          <a:p>
            <a:pPr>
              <a:spcAft>
                <a:spcPts val="600"/>
              </a:spcAft>
            </a:pPr>
            <a:r>
              <a:rPr sz="1500">
                <a:solidFill>
                  <a:srgbClr val="22282E"/>
                </a:solidFill>
              </a:rPr>
              <a:t>•  Criterio de aceptación:</a:t>
            </a:r>
          </a:p>
          <a:p>
            <a:pPr>
              <a:spcAft>
                <a:spcPts val="600"/>
              </a:spcAft>
            </a:pPr>
            <a:r>
              <a:rPr sz="1500">
                <a:solidFill>
                  <a:srgbClr val="22282E"/>
                </a:solidFill>
              </a:rPr>
              <a:t>•  Hay un diagrama antes/después que elimina la confianza implícita de la red plana/VPN.</a:t>
            </a:r>
          </a:p>
          <a:p>
            <a:pPr>
              <a:spcAft>
                <a:spcPts val="600"/>
              </a:spcAft>
            </a:pPr>
            <a:r>
              <a:rPr sz="1500">
                <a:solidFill>
                  <a:srgbClr val="22282E"/>
                </a:solidFill>
              </a:rPr>
              <a:t>•  El diseño aplica defensa en profundidad (capas de identidad, dispositivo, red, app y datos) y segmentación (macro y micro).</a:t>
            </a:r>
          </a:p>
          <a:p>
            <a:pPr>
              <a:spcAft>
                <a:spcPts val="600"/>
              </a:spcAft>
            </a:pPr>
            <a:r>
              <a:rPr sz="1500">
                <a:solidFill>
                  <a:srgbClr val="22282E"/>
                </a:solidFill>
              </a:rPr>
              <a:t>•  El flujo Zero Trust identifica explícitamente PE, PA y PEP conforme a SP 800-207 y concede acceso por recurso y por sesión.</a:t>
            </a:r>
          </a:p>
          <a:p>
            <a:pPr>
              <a:spcAft>
                <a:spcPts val="600"/>
              </a:spcAft>
            </a:pPr>
            <a:r>
              <a:rPr sz="1500">
                <a:solidFill>
                  <a:srgbClr val="22282E"/>
                </a:solidFill>
              </a:rPr>
              <a:t>•  Existe un conjunto de políticas basadas en atributos (identidad + postura del dispositivo + contexto), no reglas por IP.</a:t>
            </a:r>
          </a:p>
          <a:p>
            <a:pPr>
              <a:spcAft>
                <a:spcPts val="600"/>
              </a:spcAft>
            </a:pPr>
            <a:r>
              <a:rPr sz="1500">
                <a:solidFill>
                  <a:srgbClr val="22282E"/>
                </a:solidFill>
              </a:rPr>
              <a:t>•  Se justifica la sustitución de VPN por ZTNA y se ubica el conjunto en un modelo SASE, con una fila SABSA que da trazabilidad al requisito de negocio.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"Compramos un producto 'Zero Trust' y ya está" — ZT es una arquitectura, no un producto. Rediseña el flujo de acceso y las políticas, no solo la caja.</a:t>
            </a:r>
          </a:p>
          <a:p>
            <a:pPr>
              <a:spcAft>
                <a:spcPts val="600"/>
              </a:spcAft>
            </a:pPr>
            <a:r>
              <a:rPr sz="1500">
                <a:solidFill>
                  <a:srgbClr val="22282E"/>
                </a:solidFill>
              </a:rPr>
              <a:t>•  "La VPN ya es Zero Trust" — La VPN da acceso a la red entera. ZTNA da acceso al recurso con política por sesión; no son lo mismo.</a:t>
            </a:r>
          </a:p>
          <a:p>
            <a:pPr>
              <a:spcAft>
                <a:spcPts val="600"/>
              </a:spcAft>
            </a:pPr>
            <a:r>
              <a:rPr sz="1500">
                <a:solidFill>
                  <a:srgbClr val="22282E"/>
                </a:solidFill>
              </a:rPr>
              <a:t>•  "Segmentamos por VLAN y basta" — La macrosegmentación no frena el lateral dentro de la zona. Añade microsegmentación por carga de trabajo.</a:t>
            </a:r>
          </a:p>
          <a:p>
            <a:pPr>
              <a:spcAft>
                <a:spcPts val="600"/>
              </a:spcAft>
            </a:pPr>
            <a:r>
              <a:rPr sz="1500">
                <a:solidFill>
                  <a:srgbClr val="22282E"/>
                </a:solidFill>
              </a:rPr>
              <a:t>•  "Las políticas son por IP de origen" — La IP no identifica al sujeto ni su postura. Basa la política en identidad + dispositivo + contexto.</a:t>
            </a:r>
          </a:p>
          <a:p>
            <a:pPr>
              <a:spcAft>
                <a:spcPts val="600"/>
              </a:spcAft>
            </a:pPr>
            <a:r>
              <a:rPr sz="1500">
                <a:solidFill>
                  <a:srgbClr val="22282E"/>
                </a:solidFill>
              </a:rPr>
              <a:t>•  "El diseño no se conecta con ningún requisito" — Falta trazabilidad. Usa la matriz SABSA para ligar cada control a un objetivo de negocio.</a:t>
            </a:r>
          </a:p>
          <a:p>
            <a:pPr>
              <a:spcAft>
                <a:spcPts val="600"/>
              </a:spcAft>
            </a:pPr>
            <a:r>
              <a:rPr sz="1500">
                <a:solidFill>
                  <a:srgbClr val="22282E"/>
                </a:solidFill>
              </a:rPr>
              <a:t>•  "Aplicamos ZT solo a usuarios remotos" — El modelo aplica a todo acceso, también interno. La confianza implícita interna es el vector clásico de lateral.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¿Zero Trust reemplaza a la defensa en profundidad?</a:t>
            </a:r>
          </a:p>
          <a:p>
            <a:pPr>
              <a:spcAft>
                <a:spcPts val="600"/>
              </a:spcAft>
            </a:pPr>
            <a:r>
              <a:rPr sz="1500">
                <a:solidFill>
                  <a:srgbClr val="22282E"/>
                </a:solidFill>
              </a:rPr>
              <a:t>•  No; la asume y la refina. Zero Trust sigue usando capas de control, pero elimina la suposición de que "dentro" es de fiar. Cada capa verifica la solicitud en lugar de confiar por ubicación de red. Es…</a:t>
            </a:r>
          </a:p>
          <a:p>
            <a:pPr>
              <a:spcAft>
                <a:spcPts val="600"/>
              </a:spcAft>
            </a:pPr>
            <a:r>
              <a:rPr sz="1500">
                <a:solidFill>
                  <a:srgbClr val="22282E"/>
                </a:solidFill>
              </a:rPr>
              <a:t>•  ❓ ¿Qué diferencia hay entre SABSA y TOGAF?</a:t>
            </a:r>
          </a:p>
          <a:p>
            <a:pPr>
              <a:spcAft>
                <a:spcPts val="600"/>
              </a:spcAft>
            </a:pPr>
            <a:r>
              <a:rPr sz="1500">
                <a:solidFill>
                  <a:srgbClr val="22282E"/>
                </a:solidFill>
              </a:rPr>
              <a:t>•  TOGAF es un método general de arquitectura empresarial (el ciclo ADM) donde la seguridad es transversal. SABSA es un marco específico de seguridad con su matriz por capas y su fuerte énfasis en la…</a:t>
            </a:r>
          </a:p>
          <a:p>
            <a:pPr>
              <a:spcAft>
                <a:spcPts val="600"/>
              </a:spcAft>
            </a:pPr>
            <a:r>
              <a:rPr sz="1500">
                <a:solidFill>
                  <a:srgbClr val="22282E"/>
                </a:solidFill>
              </a:rPr>
              <a:t>•  ❓ ¿SASE y Zero Trust son lo mismo?</a:t>
            </a:r>
          </a:p>
          <a:p>
            <a:pPr>
              <a:spcAft>
                <a:spcPts val="600"/>
              </a:spcAft>
            </a:pPr>
            <a:r>
              <a:rPr sz="1500">
                <a:solidFill>
                  <a:srgbClr val="22282E"/>
                </a:solidFill>
              </a:rPr>
              <a:t>•  No. Zero Trust es el modelo de confianza (cómo se decide el acceso). SASE es una arquitectura de entrega que combina red y seguridad en la nube e incluye ZTNA como uno de sus componentes. Puedes…</a:t>
            </a:r>
          </a:p>
          <a:p>
            <a:pPr>
              <a:spcAft>
                <a:spcPts val="600"/>
              </a:spcAft>
            </a:pPr>
            <a:r>
              <a:rPr sz="1500">
                <a:solidFill>
                  <a:srgbClr val="22282E"/>
                </a:solidFill>
              </a:rPr>
              <a:t>•  ❓ ¿Por dónde se empieza a implantar Zero Trust?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Zero Trust Architecture — SP 800-207.</a:t>
            </a:r>
          </a:p>
          <a:p>
            <a:pPr>
              <a:spcAft>
                <a:spcPts val="600"/>
              </a:spcAft>
            </a:pPr>
            <a:r>
              <a:rPr sz="1500">
                <a:solidFill>
                  <a:srgbClr val="22282E"/>
                </a:solidFill>
              </a:rPr>
              <a:t>•  NIST NCCoE. Implementing a Zero Trust Architecture — SP 1800-35.</a:t>
            </a:r>
          </a:p>
          <a:p>
            <a:pPr>
              <a:spcAft>
                <a:spcPts val="600"/>
              </a:spcAft>
            </a:pPr>
            <a:r>
              <a:rPr sz="1500">
                <a:solidFill>
                  <a:srgbClr val="22282E"/>
                </a:solidFill>
              </a:rPr>
              <a:t>•  The SABSA Institute. SABSA — Enterprise Security Architecture — sabsa.org.</a:t>
            </a:r>
          </a:p>
          <a:p>
            <a:pPr>
              <a:spcAft>
                <a:spcPts val="600"/>
              </a:spcAft>
            </a:pPr>
            <a:r>
              <a:rPr sz="1500">
                <a:solidFill>
                  <a:srgbClr val="22282E"/>
                </a:solidFill>
              </a:rPr>
              <a:t>•  Chapple, Stewart &amp; Gibson. (ISC)² CISSP Official Study Guide, 9.ª ed., Sybex — Security Architecture and Engineering.</a:t>
            </a:r>
          </a:p>
          <a:p>
            <a:pPr>
              <a:spcAft>
                <a:spcPts val="600"/>
              </a:spcAft>
            </a:pPr>
            <a:r>
              <a:rPr sz="1500">
                <a:solidFill>
                  <a:srgbClr val="22282E"/>
                </a:solidFill>
              </a:rPr>
              <a:t>•  CISA. Zero Trust Maturity Model v2.0 — cisa.gov/zero-trust-maturity-model.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Aplicación transversal</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Haz una architecture review del diseño objetivo de custodia:</a:t>
            </a:r>
          </a:p>
          <a:p>
            <a:pPr>
              <a:spcAft>
                <a:spcPts val="600"/>
              </a:spcAft>
            </a:pPr>
            <a:r>
              <a:rPr sz="1500">
                <a:solidFill>
                  <a:srgbClr val="22282E"/>
                </a:solidFill>
              </a:rPr>
              <a:t>•  identifica policy enforcement points, señales continuas, dominios administrativos y</a:t>
            </a:r>
          </a:p>
          <a:p>
            <a:pPr>
              <a:spcAft>
                <a:spcPts val="600"/>
              </a:spcAft>
            </a:pPr>
            <a:r>
              <a:rPr sz="1500">
                <a:solidFill>
                  <a:srgbClr val="22282E"/>
                </a:solidFill>
              </a:rPr>
              <a:t>•  dos fallos comunes capaces de derrotar simultáneamente aprobación y auditoría.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2088b8266722338b.png"/>
          <p:cNvPicPr>
            <a:picLocks noChangeAspect="1"/>
          </p:cNvPicPr>
          <p:nvPr/>
        </p:nvPicPr>
        <p:blipFill>
          <a:blip r:embed="rId2"/>
          <a:stretch>
            <a:fillRect/>
          </a:stretch>
        </p:blipFill>
        <p:spPr>
          <a:xfrm>
            <a:off x="457200" y="3304540"/>
            <a:ext cx="8229600" cy="889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