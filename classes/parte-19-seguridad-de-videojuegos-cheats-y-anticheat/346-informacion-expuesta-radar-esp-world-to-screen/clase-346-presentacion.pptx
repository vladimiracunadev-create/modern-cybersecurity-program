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346 — Información expuesta, radar, ESP y world-to-screen</a:t>
            </a:r>
          </a:p>
          <a:p>
            <a:r>
              <a:rPr sz="1600">
                <a:solidFill>
                  <a:srgbClr val="2E8B57"/>
                </a:solidFill>
              </a:rPr>
              <a:t>parte 19 seguridad de videojuegos cheats y anticheat</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Comprender y verificar información expuesta, radar, esp y world-to-screen sobre el Game Security Range, conectando vulnerabilidad, abuso controlado, telemetría, evidencia, causa raíz, mitigación 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Explicar entidades y coordenadas desde la arquitectura y no solo desde la herramienta.</a:t>
            </a:r>
          </a:p>
          <a:p>
            <a:pPr>
              <a:spcAft>
                <a:spcPts val="600"/>
              </a:spcAft>
            </a:pPr>
            <a:r>
              <a:rPr sz="1500">
                <a:solidFill>
                  <a:srgbClr val="22282E"/>
                </a:solidFill>
              </a:rPr>
              <a:t>•  Relacionar world→view→projection→screen con una frontera de confianza concreta.</a:t>
            </a:r>
          </a:p>
          <a:p>
            <a:pPr>
              <a:spcAft>
                <a:spcPts val="600"/>
              </a:spcAft>
            </a:pPr>
            <a:r>
              <a:rPr sz="1500">
                <a:solidFill>
                  <a:srgbClr val="22282E"/>
                </a:solidFill>
              </a:rPr>
              <a:t>•  Producir evidencia reproducible sobre bounding boxes y visibilidad.</a:t>
            </a:r>
          </a:p>
          <a:p>
            <a:pPr>
              <a:spcAft>
                <a:spcPts val="600"/>
              </a:spcAft>
            </a:pPr>
            <a:r>
              <a:rPr sz="1500">
                <a:solidFill>
                  <a:srgbClr val="22282E"/>
                </a:solidFill>
              </a:rPr>
              <a:t>•  Evaluar límites, falsos positivos y consecuencias de minimización de información.</a:t>
            </a:r>
          </a:p>
          <a:p>
            <a:pPr>
              <a:spcAft>
                <a:spcPts val="600"/>
              </a:spcAft>
            </a:pPr>
            <a:r>
              <a:rPr sz="1500">
                <a:solidFill>
                  <a:srgbClr val="22282E"/>
                </a:solidFill>
              </a:rPr>
              <a:t>•  Verificar una mitigación mediante un caso legítimo y uno adversarial.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Entidades y coordenadas</a:t>
            </a:r>
          </a:p>
          <a:p>
            <a:pPr>
              <a:spcAft>
                <a:spcPts val="600"/>
              </a:spcAft>
            </a:pPr>
            <a:r>
              <a:rPr sz="1500">
                <a:solidFill>
                  <a:srgbClr val="22282E"/>
                </a:solidFill>
              </a:rPr>
              <a:t>•  2 — WORLD→VIEW→PROJECTION→SCREEN</a:t>
            </a:r>
          </a:p>
          <a:p>
            <a:pPr>
              <a:spcAft>
                <a:spcPts val="600"/>
              </a:spcAft>
            </a:pPr>
            <a:r>
              <a:rPr sz="1500">
                <a:solidFill>
                  <a:srgbClr val="22282E"/>
                </a:solidFill>
              </a:rPr>
              <a:t>•  3 — Bounding boxes y visibilidad</a:t>
            </a:r>
          </a:p>
          <a:p>
            <a:pPr>
              <a:spcAft>
                <a:spcPts val="600"/>
              </a:spcAft>
            </a:pPr>
            <a:r>
              <a:rPr sz="1500">
                <a:solidFill>
                  <a:srgbClr val="22282E"/>
                </a:solidFill>
              </a:rPr>
              <a:t>•  4 — Minimización de información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Un radar necesita posición relativa; un ESP añade atributos como distancia, salud o equipo; un overlay proyecta geometría 3D a píxeles. El pipeline usa coordenadas homogéneas: un punto WORLD se lleva…</a:t>
            </a:r>
          </a:p>
          <a:p>
            <a:pPr>
              <a:spcAft>
                <a:spcPts val="600"/>
              </a:spcAft>
            </a:pPr>
            <a:r>
              <a:rPr sz="1500">
                <a:solidFill>
                  <a:srgbClr val="22282E"/>
                </a:solidFill>
              </a:rPr>
              <a:t>•  El overlay es el síntoma visible. La causa decisiva puede ser que el servidor replicó entidades que el jugador no necesita conocer. Cifrar el tráfico no ayuda cuando el cliente legítimo debe…</a:t>
            </a:r>
          </a:p>
          <a:p>
            <a:pPr>
              <a:spcAft>
                <a:spcPts val="600"/>
              </a:spcAft>
            </a:pPr>
            <a:r>
              <a:rPr sz="1500">
                <a:solidFill>
                  <a:srgbClr val="22282E"/>
                </a:solidFill>
              </a:rPr>
              <a:t>•  El diagrama se lee como un bucle de ingeniería, no como una cadena de sanción. El supuesto habilita un abuso dentro del target propio; la señal solo permite formular una hipótesis; la decisión…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Señal: medida observable; característica clave: no prueba por sí sola intención.</a:t>
            </a:r>
          </a:p>
          <a:p>
            <a:pPr>
              <a:spcAft>
                <a:spcPts val="600"/>
              </a:spcAft>
            </a:pPr>
            <a:r>
              <a:rPr sz="1500">
                <a:solidFill>
                  <a:srgbClr val="22282E"/>
                </a:solidFill>
              </a:rPr>
              <a:t>•  Evidencia: señal contextualizada y reproducible; característica clave: trazabilidad.</a:t>
            </a:r>
          </a:p>
          <a:p>
            <a:pPr>
              <a:spcAft>
                <a:spcPts val="600"/>
              </a:spcAft>
            </a:pPr>
            <a:r>
              <a:rPr sz="1500">
                <a:solidFill>
                  <a:srgbClr val="22282E"/>
                </a:solidFill>
              </a:rPr>
              <a:t>•  Autoridad: componente que decide el estado canónico; característica clave: valida intenciones.</a:t>
            </a:r>
          </a:p>
          <a:p>
            <a:pPr>
              <a:spcAft>
                <a:spcPts val="600"/>
              </a:spcAft>
            </a:pPr>
            <a:r>
              <a:rPr sz="1500">
                <a:solidFill>
                  <a:srgbClr val="22282E"/>
                </a:solidFill>
              </a:rPr>
              <a:t>•  Causa raíz: condición sistémica que permitió el incidente; característica clave: su corrección evita recurrencia.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en contexto</a:t>
            </a:r>
          </a:p>
          <a:p>
            <a:pPr>
              <a:spcAft>
                <a:spcPts val="600"/>
              </a:spcAft>
            </a:pPr>
            <a:r>
              <a:rPr sz="1500">
                <a:solidFill>
                  <a:srgbClr val="22282E"/>
                </a:solidFill>
              </a:rPr>
              <a:t>•  Entidades — Concepto de esta clase aplicado al Game Security Range y a su frontera de confianza.</a:t>
            </a:r>
          </a:p>
          <a:p>
            <a:pPr>
              <a:spcAft>
                <a:spcPts val="600"/>
              </a:spcAft>
            </a:pPr>
            <a:r>
              <a:rPr sz="1500">
                <a:solidFill>
                  <a:srgbClr val="22282E"/>
                </a:solidFill>
              </a:rPr>
              <a:t>•  WORLD→VIEW→PROJECTION→SCREEN — Concepto de esta clase aplicado al Game Security Range y a su frontera de confianza.</a:t>
            </a:r>
          </a:p>
          <a:p>
            <a:pPr>
              <a:spcAft>
                <a:spcPts val="600"/>
              </a:spcAft>
            </a:pPr>
            <a:r>
              <a:rPr sz="1500">
                <a:solidFill>
                  <a:srgbClr val="22282E"/>
                </a:solidFill>
              </a:rPr>
              <a:t>•  Bounding — Concepto de esta clase aplicado al Game Security Range y a su frontera de confianza.</a:t>
            </a:r>
          </a:p>
          <a:p>
            <a:pPr>
              <a:spcAft>
                <a:spcPts val="600"/>
              </a:spcAft>
            </a:pPr>
            <a:r>
              <a:rPr sz="1500">
                <a:solidFill>
                  <a:srgbClr val="22282E"/>
                </a:solidFill>
              </a:rPr>
              <a:t>•  Minimización — Concepto de esta clase aplicado al Game Security Range y a su frontera de confianza.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Python 3.12 y el Game Security Range.</a:t>
            </a:r>
          </a:p>
          <a:p>
            <a:pPr>
              <a:spcAft>
                <a:spcPts val="600"/>
              </a:spcAft>
            </a:pPr>
            <a:r>
              <a:rPr sz="1500">
                <a:solidFill>
                  <a:srgbClr val="22282E"/>
                </a:solidFill>
              </a:rPr>
              <a:t>•  Escenario correspondiente de SCENARIOS.md.</a:t>
            </a:r>
          </a:p>
          <a:p>
            <a:pPr>
              <a:spcAft>
                <a:spcPts val="600"/>
              </a:spcAft>
            </a:pPr>
            <a:r>
              <a:rPr sz="1500">
                <a:solidFill>
                  <a:srgbClr val="22282E"/>
                </a:solidFill>
              </a:rPr>
              <a:t>•  Dataset sintético documentado; nunca datos personales ni procesos de terceros.</a:t>
            </a:r>
          </a:p>
          <a:p>
            <a:pPr>
              <a:spcAft>
                <a:spcPts val="600"/>
              </a:spcAft>
            </a:pPr>
            <a:r>
              <a:rPr sz="1500">
                <a:solidFill>
                  <a:srgbClr val="22282E"/>
                </a:solidFill>
              </a:rPr>
              <a:t>•  Prerrequisitos: clases 023–024 (procesos/memoria), 130–134 (RE/debugging), 182/199 (telemetría/detección) y 217 (RCA).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Ejecuta python -m unittest discover -s tests -v desde labs/game-security y conserva la línea base.</a:t>
            </a:r>
          </a:p>
          <a:p>
            <a:pPr>
              <a:spcAft>
                <a:spcPts val="600"/>
              </a:spcAft>
            </a:pPr>
            <a:r>
              <a:rPr sz="1500">
                <a:solidFill>
                  <a:srgbClr val="22282E"/>
                </a:solidFill>
              </a:rPr>
              <a:t>•  Prueba worldtoscreen con la matriz identidad, puntos fuera de NDC y w no positivo. Diseña un filtro de relevancia y documenta qué gameplay podría romper.</a:t>
            </a:r>
          </a:p>
          <a:p>
            <a:pPr>
              <a:spcAft>
                <a:spcPts val="600"/>
              </a:spcAft>
            </a:pPr>
            <a:r>
              <a:rPr sz="1500">
                <a:solidFill>
                  <a:srgbClr val="22282E"/>
                </a:solidFill>
              </a:rPr>
              <a:t>•  Registra modo, comando, decisión, señal, umbral o invariante, semilla y resultado esperado.</a:t>
            </a:r>
          </a:p>
          <a:p>
            <a:pPr>
              <a:spcAft>
                <a:spcPts val="600"/>
              </a:spcAft>
            </a:pPr>
            <a:r>
              <a:rPr sz="1500">
                <a:solidFill>
                  <a:srgbClr val="22282E"/>
                </a:solidFill>
              </a:rPr>
              <a:t>•  Formula al menos una explicación legítima alternativa antes de atribuir abuso.</a:t>
            </a:r>
          </a:p>
          <a:p>
            <a:pPr>
              <a:spcAft>
                <a:spcPts val="600"/>
              </a:spcAft>
            </a:pPr>
            <a:r>
              <a:rPr sz="1500">
                <a:solidFill>
                  <a:srgbClr val="22282E"/>
                </a:solidFill>
              </a:rPr>
              <a:t>•  Aplica o diseña la mitigación y repite el caso adversarial y un caso normal.</a:t>
            </a:r>
          </a:p>
          <a:p>
            <a:pPr>
              <a:spcAft>
                <a:spcPts val="600"/>
              </a:spcAft>
            </a:pPr>
            <a:r>
              <a:rPr sz="1500">
                <a:solidFill>
                  <a:srgbClr val="22282E"/>
                </a:solidFill>
              </a:rPr>
              <a:t>•  Redacta la cadena síntoma → timeline → evidencia → hipótesis → causa raíz → fix → regresión.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qué cambia si el cliente controla el dato frente a si solo solicita una acción.</a:t>
            </a:r>
          </a:p>
          <a:p>
            <a:pPr>
              <a:spcAft>
                <a:spcPts val="600"/>
              </a:spcAft>
            </a:pPr>
            <a:r>
              <a:rPr sz="1500">
                <a:solidFill>
                  <a:srgbClr val="22282E"/>
                </a:solidFill>
              </a:rPr>
              <a:t>•  Identifica una señal débil y combínala con otra fuente independiente.</a:t>
            </a:r>
          </a:p>
          <a:p>
            <a:pPr>
              <a:spcAft>
                <a:spcPts val="600"/>
              </a:spcAft>
            </a:pPr>
            <a:r>
              <a:rPr sz="1500">
                <a:solidFill>
                  <a:srgbClr val="22282E"/>
                </a:solidFill>
              </a:rPr>
              <a:t>•  Diseña un caso límite de latencia, FPS, dispositivo o accesibilidad.</a:t>
            </a:r>
          </a:p>
          <a:p>
            <a:pPr>
              <a:spcAft>
                <a:spcPts val="600"/>
              </a:spcAft>
            </a:pPr>
            <a:r>
              <a:rPr sz="1500">
                <a:solidFill>
                  <a:srgbClr val="22282E"/>
                </a:solidFill>
              </a:rPr>
              <a:t>•  Separa prevención, detección, respuesta y gobernanza para este tema.</a:t>
            </a:r>
          </a:p>
          <a:p>
            <a:pPr>
              <a:spcAft>
                <a:spcPts val="600"/>
              </a:spcAft>
            </a:pPr>
            <a:r>
              <a:rPr sz="1500">
                <a:solidFill>
                  <a:srgbClr val="22282E"/>
                </a:solidFill>
              </a:rPr>
              <a:t>•  Explica qué información no necesitas recoger y por qué.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Entrega una ficha con threat boundary, reproducción en el rango, evento de telemetría, decisión explicada, alternativa legítima, causa raíz, mitigación y prueba de regresión.</a:t>
            </a:r>
          </a:p>
          <a:p>
            <a:pPr>
              <a:spcAft>
                <a:spcPts val="600"/>
              </a:spcAft>
            </a:pPr>
            <a:r>
              <a:rPr sz="1500">
                <a:solidFill>
                  <a:srgbClr val="22282E"/>
                </a:solidFill>
              </a:rPr>
              <a:t>•  Criterio de aceptación: otra persona puede ejecutar los comandos con la misma semilla, obtener la evidencia citada y comprobar que la mitigación bloquea el caso adversarial sin romper el caso normal.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anomalía se trata como culpabilidad — Falta contexto; correlaciona y revisa alternativas legítimas.</a:t>
            </a:r>
          </a:p>
          <a:p>
            <a:pPr>
              <a:spcAft>
                <a:spcPts val="600"/>
              </a:spcAft>
            </a:pPr>
            <a:r>
              <a:rPr sz="1500">
                <a:solidFill>
                  <a:srgbClr val="22282E"/>
                </a:solidFill>
              </a:rPr>
              <a:t>•  El control solo oculta un valor — La autoridad no cambió; valida o deriva el estado en servidor.</a:t>
            </a:r>
          </a:p>
          <a:p>
            <a:pPr>
              <a:spcAft>
                <a:spcPts val="600"/>
              </a:spcAft>
            </a:pPr>
            <a:r>
              <a:rPr sz="1500">
                <a:solidFill>
                  <a:srgbClr val="22282E"/>
                </a:solidFill>
              </a:rPr>
              <a:t>•  El experimento no se reproduce — Faltan semilla, versión, unidades o configuración; regístralas.</a:t>
            </a:r>
          </a:p>
          <a:p>
            <a:pPr>
              <a:spcAft>
                <a:spcPts val="600"/>
              </a:spcAft>
            </a:pPr>
            <a:r>
              <a:rPr sz="1500">
                <a:solidFill>
                  <a:srgbClr val="22282E"/>
                </a:solidFill>
              </a:rPr>
              <a:t>•  El detector castiga lag/FPS — El dataset no estratifica condiciones; evalúa por subpoblación.</a:t>
            </a:r>
          </a:p>
          <a:p>
            <a:pPr>
              <a:spcAft>
                <a:spcPts val="600"/>
              </a:spcAft>
            </a:pPr>
            <a:r>
              <a:rPr sz="1500">
                <a:solidFill>
                  <a:srgbClr val="22282E"/>
                </a:solidFill>
              </a:rPr>
              <a:t>•  Se propone instrumentar terceros — Fuera del alcance; usa exclusivamente el target educativo.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¿Una alerta basta para sancionar? No. Es una hipótesis con un nivel de confianza; la consecuencia exige evidencia proporcional, política, auditabilidad y apelación.</a:t>
            </a:r>
          </a:p>
          <a:p>
            <a:pPr>
              <a:spcAft>
                <a:spcPts val="600"/>
              </a:spcAft>
            </a:pPr>
            <a:r>
              <a:rPr sz="1500">
                <a:solidFill>
                  <a:srgbClr val="22282E"/>
                </a:solidFill>
              </a:rPr>
              <a:t>•  ¿Ofuscar el cliente resuelve el problema? Puede elevar costo, pero no reemplaza autoridad, invariantes ni minimización de información.</a:t>
            </a:r>
          </a:p>
          <a:p>
            <a:pPr>
              <a:spcAft>
                <a:spcPts val="600"/>
              </a:spcAft>
            </a:pPr>
            <a:r>
              <a:rPr sz="1500">
                <a:solidFill>
                  <a:srgbClr val="22282E"/>
                </a:solidFill>
              </a:rPr>
              <a:t>•  ¿Por qué el laboratorio es sintético? Permite controlar verdad, semilla y falsos positivos sin invadir jugadores ni construir una herramienta reutilizable contra terceros.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Epic Games, Networking Overview — autoridad y replicación aplicadas a WORLD→VIEW→PROJECTION→SCREEN. &lt;https://dev.epicgames.com/documentation/unreal-engine/networking-overview-for-unreal-engine&gt;</a:t>
            </a:r>
          </a:p>
          <a:p>
            <a:pPr>
              <a:spcAft>
                <a:spcPts val="600"/>
              </a:spcAft>
            </a:pPr>
            <a:r>
              <a:rPr sz="1500">
                <a:solidFill>
                  <a:srgbClr val="22282E"/>
                </a:solidFill>
              </a:rPr>
              <a:t>•  Valve, Latency Compensating Methods — predicción, interpolación y límites usados para Minimización de información.…</a:t>
            </a:r>
          </a:p>
          <a:p>
            <a:pPr>
              <a:spcAft>
                <a:spcPts val="600"/>
              </a:spcAft>
            </a:pPr>
            <a:r>
              <a:rPr sz="1500">
                <a:solidFill>
                  <a:srgbClr val="22282E"/>
                </a:solidFill>
              </a:rPr>
              <a:t>•  Montero et al., Anticheat System Based on Reinforcement Learning Agents in Unity — ejemplo académico para contrastar prevención y detección en la clase 346. &lt;https://doi.org/10.3390/info13040173&gt;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6eb630f3f80e6c25.png"/>
          <p:cNvPicPr>
            <a:picLocks noChangeAspect="1"/>
          </p:cNvPicPr>
          <p:nvPr/>
        </p:nvPicPr>
        <p:blipFill>
          <a:blip r:embed="rId2"/>
          <a:stretch>
            <a:fillRect/>
          </a:stretch>
        </p:blipFill>
        <p:spPr>
          <a:xfrm>
            <a:off x="457200" y="3330869"/>
            <a:ext cx="8229600" cy="83634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