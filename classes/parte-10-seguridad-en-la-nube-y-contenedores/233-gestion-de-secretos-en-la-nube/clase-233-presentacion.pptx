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233 — Gestión de secretos en la nube</a:t>
            </a:r>
          </a:p>
          <a:p>
            <a:r>
              <a:rPr sz="1600">
                <a:solidFill>
                  <a:srgbClr val="2E8B57"/>
                </a:solidFill>
              </a:rPr>
              <a:t>parte 10 seguridad en la nube y contenedores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Diseñar una gestión de secretos robusta en la nube: almacenamiento cifrado, acceso por identidad y no</a:t>
            </a:r>
          </a:p>
          <a:p>
            <a:pPr>
              <a:spcAft>
                <a:spcPts val="600"/>
              </a:spcAft>
            </a:pPr>
            <a:r>
              <a:rPr sz="1500">
                <a:solidFill>
                  <a:srgbClr val="22282E"/>
                </a:solidFill>
              </a:rPr>
              <a:t>•  por credencial compartida, rotación automática, secretos dinámicos y detección de filtraciones. El</a:t>
            </a:r>
          </a:p>
          <a:p>
            <a:pPr>
              <a:spcAft>
                <a:spcPts val="600"/>
              </a:spcAft>
            </a:pPr>
            <a:r>
              <a:rPr sz="1500">
                <a:solidFill>
                  <a:srgbClr val="22282E"/>
                </a:solidFill>
              </a:rPr>
              <a:t>•  alumno usará un gestor de secretos (Vault o el nativo del proveedor) e integrará el patrón de</a:t>
            </a:r>
          </a:p>
          <a:p>
            <a:pPr>
              <a:spcAft>
                <a:spcPts val="600"/>
              </a:spcAft>
            </a:pPr>
            <a:r>
              <a:rPr sz="1500">
                <a:solidFill>
                  <a:srgbClr val="22282E"/>
                </a:solidFill>
              </a:rPr>
              <a:t>•  inyección segura en aplicaciones y contenedores.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por qué los secretos no deben vivir en código, imágenes ni variables en claro.</a:t>
            </a:r>
          </a:p>
          <a:p>
            <a:pPr>
              <a:spcAft>
                <a:spcPts val="600"/>
              </a:spcAft>
            </a:pPr>
            <a:r>
              <a:rPr sz="1500">
                <a:solidFill>
                  <a:srgbClr val="22282E"/>
                </a:solidFill>
              </a:rPr>
              <a:t>•  Almacenar y recuperar secretos con un gestor (Vault / Secrets Manager / Key Vault / Secret Manager).</a:t>
            </a:r>
          </a:p>
          <a:p>
            <a:pPr>
              <a:spcAft>
                <a:spcPts val="600"/>
              </a:spcAft>
            </a:pPr>
            <a:r>
              <a:rPr sz="1500">
                <a:solidFill>
                  <a:srgbClr val="22282E"/>
                </a:solidFill>
              </a:rPr>
              <a:t>•  Configurar rotación automática y secretos dinámicos de corta vida.</a:t>
            </a:r>
          </a:p>
          <a:p>
            <a:pPr>
              <a:spcAft>
                <a:spcPts val="600"/>
              </a:spcAft>
            </a:pPr>
            <a:r>
              <a:rPr sz="1500">
                <a:solidFill>
                  <a:srgbClr val="22282E"/>
                </a:solidFill>
              </a:rPr>
              <a:t>•  Inyectar secretos en apps y contenedores con acceso por identidad.</a:t>
            </a:r>
          </a:p>
          <a:p>
            <a:pPr>
              <a:spcAft>
                <a:spcPts val="600"/>
              </a:spcAft>
            </a:pPr>
            <a:r>
              <a:rPr sz="1500">
                <a:solidFill>
                  <a:srgbClr val="22282E"/>
                </a:solidFill>
              </a:rPr>
              <a:t>•  Detectar secretos filtrados en repositorios con escáneres.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El problema de los secretos</a:t>
            </a:r>
          </a:p>
          <a:p>
            <a:pPr>
              <a:spcAft>
                <a:spcPts val="600"/>
              </a:spcAft>
            </a:pPr>
            <a:r>
              <a:rPr sz="1500">
                <a:solidFill>
                  <a:srgbClr val="22282E"/>
                </a:solidFill>
              </a:rPr>
              <a:t>•  2 — Gestores de secretos</a:t>
            </a:r>
          </a:p>
          <a:p>
            <a:pPr>
              <a:spcAft>
                <a:spcPts val="600"/>
              </a:spcAft>
            </a:pPr>
            <a:r>
              <a:rPr sz="1500">
                <a:solidFill>
                  <a:srgbClr val="22282E"/>
                </a:solidFill>
              </a:rPr>
              <a:t>•  3 — Rotación automática</a:t>
            </a:r>
          </a:p>
          <a:p>
            <a:pPr>
              <a:spcAft>
                <a:spcPts val="600"/>
              </a:spcAft>
            </a:pPr>
            <a:r>
              <a:rPr sz="1500">
                <a:solidFill>
                  <a:srgbClr val="22282E"/>
                </a:solidFill>
              </a:rPr>
              <a:t>•  4 — Secretos dinámicos</a:t>
            </a:r>
          </a:p>
          <a:p>
            <a:pPr>
              <a:spcAft>
                <a:spcPts val="600"/>
              </a:spcAft>
            </a:pPr>
            <a:r>
              <a:rPr sz="1500">
                <a:solidFill>
                  <a:srgbClr val="22282E"/>
                </a:solidFill>
              </a:rPr>
              <a:t>•  5 — Entrega en runtime</a:t>
            </a:r>
          </a:p>
          <a:p>
            <a:pPr>
              <a:spcAft>
                <a:spcPts val="600"/>
              </a:spcAft>
            </a:pPr>
            <a:r>
              <a:rPr sz="1500">
                <a:solidFill>
                  <a:srgbClr val="22282E"/>
                </a:solidFill>
              </a:rPr>
              <a:t>•  6 — Cifrado y KMS/envelope</a:t>
            </a:r>
          </a:p>
          <a:p>
            <a:pPr>
              <a:spcAft>
                <a:spcPts val="600"/>
              </a:spcAft>
            </a:pPr>
            <a:r>
              <a:rPr sz="1500">
                <a:solidFill>
                  <a:srgbClr val="22282E"/>
                </a:solidFill>
              </a:rPr>
              <a:t>•  7 — Detección de filtraciones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 secreto es información cuya posesión permite autenticar o autorizar: contraseña, token, clave API o material privado. No todo dato sensible es un secreto y no toda clave criptográfica se gestiona…</a:t>
            </a:r>
          </a:p>
          <a:p>
            <a:pPr>
              <a:spcAft>
                <a:spcPts val="600"/>
              </a:spcAft>
            </a:pPr>
            <a:r>
              <a:rPr sz="1500">
                <a:solidFill>
                  <a:srgbClr val="22282E"/>
                </a:solidFill>
              </a:rPr>
              <a:t>•  El objetivo del diagrama no es «guardar todo en Vault», sino evitar que la aplicación necesite una credencial raíz para pedir otra credencial. La identidad inicial debe venir de la plataforma cuando…</a:t>
            </a:r>
          </a:p>
          <a:p>
            <a:pPr>
              <a:spcAft>
                <a:spcPts val="600"/>
              </a:spcAft>
            </a:pPr>
            <a:r>
              <a:rPr sz="1500">
                <a:solidFill>
                  <a:srgbClr val="22282E"/>
                </a:solidFill>
              </a:rPr>
              <a:t>•  Un secreto estático puede rotarse periódicamente o ante compromiso. La rotación necesita coordinación entre emisor, gestor y consumidores; durante una ventana pueden coexistir versiones. Un secreto…</a:t>
            </a:r>
          </a:p>
          <a:p>
            <a:pPr>
              <a:spcAft>
                <a:spcPts val="600"/>
              </a:spcAft>
            </a:pPr>
            <a:r>
              <a:rPr sz="1500">
                <a:solidFill>
                  <a:srgbClr val="22282E"/>
                </a:solidFill>
              </a:rPr>
              <a:t>•  Rotar cada 90 días no es una ley universal. Frecuencia depende de capacidad de revocación, exposición, privilegio, automatización y requisitos. Una credencial corta que se imprime en logs sigue…</a:t>
            </a:r>
          </a:p>
          <a:p>
            <a:pPr>
              <a:spcAft>
                <a:spcPts val="600"/>
              </a:spcAft>
            </a:pPr>
            <a:r>
              <a:rPr sz="1500">
                <a:solidFill>
                  <a:srgbClr val="22282E"/>
                </a:solidFill>
              </a:rPr>
              <a:t>•  Inyectar en runtime evita capas de imagen y repositorio, pero el secreto puede aparecer en variables, /proc, crash dumps, comandos, telemetría o archivos temporales. Un volumen en memoria con…</a:t>
            </a:r>
          </a:p>
          <a:p>
            <a:pPr>
              <a:spcAft>
                <a:spcPts val="600"/>
              </a:spcAft>
            </a:pPr>
            <a:r>
              <a:rPr sz="1500">
                <a:solidFill>
                  <a:srgbClr val="22282E"/>
                </a:solidFill>
              </a:rPr>
              <a:t>•  Envelope encryption usa una data key para el contenido y una key-encryption key administrada por KMS; facilita escalabilidad y separación, pero la aplicación que descifra necesita autorización. El…</a:t>
            </a:r>
          </a:p>
          <a:p>
            <a:pPr>
              <a:spcAft>
                <a:spcPts val="600"/>
              </a:spcAft>
            </a:pPr>
            <a:r>
              <a:rPr sz="1500">
                <a:solidFill>
                  <a:srgbClr val="22282E"/>
                </a:solidFill>
              </a:rPr>
              <a:t>•  Un escáner usa patrones, entropía y validación opcional. Puede omitir formatos propios y señalar datos falsos. Los escaneos pre-commit, CI e historial se complementan. Al hallar un secreto, borrarlo…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Gestor de secretos: servicio que almacena secretos cifrados con control de acceso y auditoría. Clave: acceso por identidad, no por secreto compartido.</a:t>
            </a:r>
          </a:p>
          <a:p>
            <a:pPr>
              <a:spcAft>
                <a:spcPts val="600"/>
              </a:spcAft>
            </a:pPr>
            <a:r>
              <a:rPr sz="1500">
                <a:solidFill>
                  <a:srgbClr val="22282E"/>
                </a:solidFill>
              </a:rPr>
              <a:t>•  Rotación: emisión de una versión nueva y retiro coordinado de la anterior. Clave: reduce ventana solo si consumidores migran y la versión expuesta se revoca.</a:t>
            </a:r>
          </a:p>
          <a:p>
            <a:pPr>
              <a:spcAft>
                <a:spcPts val="600"/>
              </a:spcAft>
            </a:pPr>
            <a:r>
              <a:rPr sz="1500">
                <a:solidFill>
                  <a:srgbClr val="22282E"/>
                </a:solidFill>
              </a:rPr>
              <a:t>•  Secreto dinámico: credencial generada bajo demanda con TTL corto (p. ej. Vault crea un usuario de BD temporal). Clave: nada persistente que robar.</a:t>
            </a:r>
          </a:p>
          <a:p>
            <a:pPr>
              <a:spcAft>
                <a:spcPts val="600"/>
              </a:spcAft>
            </a:pPr>
            <a:r>
              <a:rPr sz="1500">
                <a:solidFill>
                  <a:srgbClr val="22282E"/>
                </a:solidFill>
              </a:rPr>
              <a:t>•  Envelope encryption: cifrar datos con una clave de datos, y esa clave con una clave maestra (KMS). Clave: base del cifrado escalable.</a:t>
            </a:r>
          </a:p>
          <a:p>
            <a:pPr>
              <a:spcAft>
                <a:spcPts val="600"/>
              </a:spcAft>
            </a:pPr>
            <a:r>
              <a:rPr sz="1500">
                <a:solidFill>
                  <a:srgbClr val="22282E"/>
                </a:solidFill>
              </a:rPr>
              <a:t>•  Entrega en runtime: el secreto se obtiene durante la ejecución. Clave: evita incorporarlo al build, pero debe controlar variables, archivos, memoria, logs y caché.</a:t>
            </a:r>
          </a:p>
          <a:p>
            <a:pPr>
              <a:spcAft>
                <a:spcPts val="600"/>
              </a:spcAft>
            </a:pPr>
            <a:r>
              <a:rPr sz="1500">
                <a:solidFill>
                  <a:srgbClr val="22282E"/>
                </a:solidFill>
              </a:rPr>
              <a:t>•  Sidecar de secretos (Vault Agent): proceso que obtiene y renueva secretos junto a la app. Clave: mantiene el secreto fuera del código.</a:t>
            </a:r>
          </a:p>
          <a:p>
            <a:pPr>
              <a:spcAft>
                <a:spcPts val="600"/>
              </a:spcAft>
            </a:pPr>
            <a:r>
              <a:rPr sz="1500">
                <a:solidFill>
                  <a:srgbClr val="22282E"/>
                </a:solidFill>
              </a:rPr>
              <a:t>•  Escáner de secretos: herramienta que busca secretos en el código/historial. Clave: prevención en el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Caso razonado — secreto eliminado de Git pero todavía válido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 token aparece en un commit y luego se borra. El equipo lo revoca inmediatamente, consulta logs del proveedor desde la primera exposición, emite un reemplazo con alcance menor y migra el pipeline a…</a:t>
            </a:r>
          </a:p>
          <a:p>
            <a:pPr>
              <a:spcAft>
                <a:spcPts val="600"/>
              </a:spcAft>
            </a:pPr>
            <a:r>
              <a:rPr sz="1500">
                <a:solidFill>
                  <a:srgbClr val="22282E"/>
                </a:solidFill>
              </a:rPr>
              <a:t>•  Gitleaks se configura con una regla para el formato interno y una prueba sintética. La aplicación recibe el nuevo secreto desde el gestor mediante identidad de carga y no lo registra. El criterio 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Criterio de dominio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Dominas la clase cuando modelas el ciclo completo, eliges secreto estático/dinámico con justificación, demuestras entrega sin código o imagen, pruebas rotación sin caída y ejecutas una respuesta 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HashiCorp Vault (modo dev para laboratorio) o el gestor nativo del proveedor.</a:t>
            </a:r>
          </a:p>
          <a:p>
            <a:pPr>
              <a:spcAft>
                <a:spcPts val="600"/>
              </a:spcAft>
            </a:pPr>
            <a:r>
              <a:rPr sz="1500">
                <a:solidFill>
                  <a:srgbClr val="22282E"/>
                </a:solidFill>
              </a:rPr>
              <a:t>•  gitleaks / trufflehog para detección de secretos en repos.</a:t>
            </a:r>
          </a:p>
          <a:p>
            <a:pPr>
              <a:spcAft>
                <a:spcPts val="600"/>
              </a:spcAft>
            </a:pPr>
            <a:r>
              <a:rPr sz="1500">
                <a:solidFill>
                  <a:srgbClr val="22282E"/>
                </a:solidFill>
              </a:rPr>
              <a:t>•  KMS del proveedor para envelope encryption.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Arranca Vault en modo dev (solo laboratorio) y habilita el motor KV; guarda un secreto y recupéralo con vault kv get.</a:t>
            </a:r>
          </a:p>
          <a:p>
            <a:pPr>
              <a:spcAft>
                <a:spcPts val="600"/>
              </a:spcAft>
            </a:pPr>
            <a:r>
              <a:rPr sz="1500">
                <a:solidFill>
                  <a:srgbClr val="22282E"/>
                </a:solidFill>
              </a:rPr>
              <a:t>•  Configura una política de Vault que permita a una identidad leer solo secret/miapp y verifica que no puede leer otros paths.</a:t>
            </a:r>
          </a:p>
          <a:p>
            <a:pPr>
              <a:spcAft>
                <a:spcPts val="600"/>
              </a:spcAft>
            </a:pPr>
            <a:r>
              <a:rPr sz="1500">
                <a:solidFill>
                  <a:srgbClr val="22282E"/>
                </a:solidFill>
              </a:rPr>
              <a:t>•  Habilita secretos dinámicos de base de datos: configura el motor database para que Vault cree credenciales temporales con TTL corto; genera unas y observa su expiración.</a:t>
            </a:r>
          </a:p>
          <a:p>
            <a:pPr>
              <a:spcAft>
                <a:spcPts val="600"/>
              </a:spcAft>
            </a:pPr>
            <a:r>
              <a:rPr sz="1500">
                <a:solidFill>
                  <a:srgbClr val="22282E"/>
                </a:solidFill>
              </a:rPr>
              <a:t>•  Integra el patrón de inyección: una app/contenedor obtiene el secreto en runtime con su identidad (AppRole/Kubernetes auth), sin secretos en la imagen.</a:t>
            </a:r>
          </a:p>
          <a:p>
            <a:pPr>
              <a:spcAft>
                <a:spcPts val="600"/>
              </a:spcAft>
            </a:pPr>
            <a:r>
              <a:rPr sz="1500">
                <a:solidFill>
                  <a:srgbClr val="22282E"/>
                </a:solidFill>
              </a:rPr>
              <a:t>•  Configura rotación automática de un secreto estático y comprueba que cambia sin intervención.</a:t>
            </a:r>
          </a:p>
          <a:p>
            <a:pPr>
              <a:spcAft>
                <a:spcPts val="600"/>
              </a:spcAft>
            </a:pPr>
            <a:r>
              <a:rPr sz="1500">
                <a:solidFill>
                  <a:srgbClr val="22282E"/>
                </a:solidFill>
              </a:rPr>
              <a:t>•  Introduce a propósito un secreto en un commit y detéctalo con gitleaks; luego elimínalo del historial y añade el escaneo como hook/paso de CI.</a:t>
            </a:r>
          </a:p>
          <a:p>
            <a:pPr>
              <a:spcAft>
                <a:spcPts val="600"/>
              </a:spcAft>
            </a:pPr>
            <a:r>
              <a:rPr sz="1500">
                <a:solidFill>
                  <a:srgbClr val="22282E"/>
                </a:solidFill>
              </a:rPr>
              <a:t>•  Verifica el cifrado en reposo (envelope con KMS) del almacén y revisa el log de auditoría de accesos a secretos.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Escribe una política de Vault con acceso mínimo a un único path de secretos.</a:t>
            </a:r>
          </a:p>
          <a:p>
            <a:pPr>
              <a:spcAft>
                <a:spcPts val="600"/>
              </a:spcAft>
            </a:pPr>
            <a:r>
              <a:rPr sz="1500">
                <a:solidFill>
                  <a:srgbClr val="22282E"/>
                </a:solidFill>
              </a:rPr>
              <a:t>•  Configura rotación automática de una credencial de base de datos.</a:t>
            </a:r>
          </a:p>
          <a:p>
            <a:pPr>
              <a:spcAft>
                <a:spcPts val="600"/>
              </a:spcAft>
            </a:pPr>
            <a:r>
              <a:rPr sz="1500">
                <a:solidFill>
                  <a:srgbClr val="22282E"/>
                </a:solidFill>
              </a:rPr>
              <a:t>•  Genera credenciales dinámicas y demuestra que expiran solas.</a:t>
            </a:r>
          </a:p>
          <a:p>
            <a:pPr>
              <a:spcAft>
                <a:spcPts val="600"/>
              </a:spcAft>
            </a:pPr>
            <a:r>
              <a:rPr sz="1500">
                <a:solidFill>
                  <a:srgbClr val="22282E"/>
                </a:solidFill>
              </a:rPr>
              <a:t>•  Integra la obtención de un secreto en una app sin escribirlo en el código.</a:t>
            </a:r>
          </a:p>
          <a:p>
            <a:pPr>
              <a:spcAft>
                <a:spcPts val="600"/>
              </a:spcAft>
            </a:pPr>
            <a:r>
              <a:rPr sz="1500">
                <a:solidFill>
                  <a:srgbClr val="22282E"/>
                </a:solidFill>
              </a:rPr>
              <a:t>•  Añade gitleaks como paso obligatorio de CI y falla el build si detecta un secreto.</a:t>
            </a:r>
          </a:p>
          <a:p>
            <a:pPr>
              <a:spcAft>
                <a:spcPts val="600"/>
              </a:spcAft>
            </a:pPr>
            <a:r>
              <a:rPr sz="1500">
                <a:solidFill>
                  <a:srgbClr val="22282E"/>
                </a:solidFill>
              </a:rPr>
              <a:t>•  Explica el flujo de envelope encryption con KMS paso a paso.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Elimina todos los secretos en claro de una app de laboratorio y su repo: muévelos a un gestor,</a:t>
            </a:r>
          </a:p>
          <a:p>
            <a:pPr>
              <a:spcAft>
                <a:spcPts val="600"/>
              </a:spcAft>
            </a:pPr>
            <a:r>
              <a:rPr sz="1500">
                <a:solidFill>
                  <a:srgbClr val="22282E"/>
                </a:solidFill>
              </a:rPr>
              <a:t>•  configura rotación (o secretos dinámicos), inyéctalos en runtime por identidad y añade detección en CI.</a:t>
            </a:r>
          </a:p>
          <a:p>
            <a:pPr>
              <a:spcAft>
                <a:spcPts val="600"/>
              </a:spcAft>
            </a:pPr>
            <a:r>
              <a:rPr sz="1500">
                <a:solidFill>
                  <a:srgbClr val="22282E"/>
                </a:solidFill>
              </a:rPr>
              <a:t>•  Criterio de aceptación: gitleaks detect no reporta secretos en el repo ni en el historial, la</a:t>
            </a:r>
          </a:p>
          <a:p>
            <a:pPr>
              <a:spcAft>
                <a:spcPts val="600"/>
              </a:spcAft>
            </a:pPr>
            <a:r>
              <a:rPr sz="1500">
                <a:solidFill>
                  <a:srgbClr val="22282E"/>
                </a:solidFill>
              </a:rPr>
              <a:t>•  app obtiene sus credenciales del gestor en runtime (no hay secretos en la imagen ni en variables en</a:t>
            </a:r>
          </a:p>
          <a:p>
            <a:pPr>
              <a:spcAft>
                <a:spcPts val="600"/>
              </a:spcAft>
            </a:pPr>
            <a:r>
              <a:rPr sz="1500">
                <a:solidFill>
                  <a:srgbClr val="22282E"/>
                </a:solidFill>
              </a:rPr>
              <a:t>•  claro), y al menos un secreto rota automáticamente o se emite de forma dinámica con TTL.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Secreto sigue en el historial de git tras borrarlo del último commit — Persiste en commits anteriores; reescribe el historial y rota el secreto igualmente.</a:t>
            </a:r>
          </a:p>
          <a:p>
            <a:pPr>
              <a:spcAft>
                <a:spcPts val="600"/>
              </a:spcAft>
            </a:pPr>
            <a:r>
              <a:rPr sz="1500">
                <a:solidFill>
                  <a:srgbClr val="22282E"/>
                </a:solidFill>
              </a:rPr>
              <a:t>•  App no puede leer el secreto — Política del gestor demasiado restrictiva o identidad mal configurada; ajusta el binding.</a:t>
            </a:r>
          </a:p>
          <a:p>
            <a:pPr>
              <a:spcAft>
                <a:spcPts val="600"/>
              </a:spcAft>
            </a:pPr>
            <a:r>
              <a:rPr sz="1500">
                <a:solidFill>
                  <a:srgbClr val="22282E"/>
                </a:solidFill>
              </a:rPr>
              <a:t>•  Secreto en la imagen de contenedor — Se copió en build; muévelo a inyección en runtime y reconstruye.</a:t>
            </a:r>
          </a:p>
          <a:p>
            <a:pPr>
              <a:spcAft>
                <a:spcPts val="600"/>
              </a:spcAft>
            </a:pPr>
            <a:r>
              <a:rPr sz="1500">
                <a:solidFill>
                  <a:srgbClr val="22282E"/>
                </a:solidFill>
              </a:rPr>
              <a:t>•  Rotación rompe la app — La app cachea el secreto viejo; implementa recarga o usa el sidecar que renueva.</a:t>
            </a:r>
          </a:p>
          <a:p>
            <a:pPr>
              <a:spcAft>
                <a:spcPts val="600"/>
              </a:spcAft>
            </a:pPr>
            <a:r>
              <a:rPr sz="1500">
                <a:solidFill>
                  <a:srgbClr val="22282E"/>
                </a:solidFill>
              </a:rPr>
              <a:t>•  Token de Vault de larga vida — Riesgo si se filtra; usa tokens de corta vida y auth por identidad.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Si borro el secreto del código, ¿ya estoy seguro?</a:t>
            </a:r>
          </a:p>
          <a:p>
            <a:pPr>
              <a:spcAft>
                <a:spcPts val="600"/>
              </a:spcAft>
            </a:pPr>
            <a:r>
              <a:rPr sz="1500">
                <a:solidFill>
                  <a:srgbClr val="22282E"/>
                </a:solidFill>
              </a:rPr>
              <a:t>•  No basta. Si el secreto estuvo alguna vez en el repositorio, sigue en el historial de git y probablemente ya se copió. Rótalo/revócalo siempre, además de eliminarlo, y reescribe el historial si hace…</a:t>
            </a:r>
          </a:p>
          <a:p>
            <a:pPr>
              <a:spcAft>
                <a:spcPts val="600"/>
              </a:spcAft>
            </a:pPr>
            <a:r>
              <a:rPr sz="1500">
                <a:solidFill>
                  <a:srgbClr val="22282E"/>
                </a:solidFill>
              </a:rPr>
              <a:t>•  ❓ ¿Secretos estáticos con rotación o secretos dinámicos?</a:t>
            </a:r>
          </a:p>
          <a:p>
            <a:pPr>
              <a:spcAft>
                <a:spcPts val="600"/>
              </a:spcAft>
            </a:pPr>
            <a:r>
              <a:rPr sz="1500">
                <a:solidFill>
                  <a:srgbClr val="22282E"/>
                </a:solidFill>
              </a:rPr>
              <a:t>•  Los dinámicos son superiores cuando el sistema los soporta: se crean bajo demanda con TTL corto y no hay nada persistente que robar. Para sistemas que no lo permiten, usa secretos estáticos con…</a:t>
            </a:r>
          </a:p>
          <a:p>
            <a:pPr>
              <a:spcAft>
                <a:spcPts val="600"/>
              </a:spcAft>
            </a:pPr>
            <a:r>
              <a:rPr sz="1500">
                <a:solidFill>
                  <a:srgbClr val="22282E"/>
                </a:solidFill>
              </a:rPr>
              <a:t>•  ❓ ¿Vault o el gestor nativo del proveedor?</a:t>
            </a:r>
          </a:p>
          <a:p>
            <a:pPr>
              <a:spcAft>
                <a:spcPts val="600"/>
              </a:spcAft>
            </a:pPr>
            <a:r>
              <a:rPr sz="1500">
                <a:solidFill>
                  <a:srgbClr val="22282E"/>
                </a:solidFill>
              </a:rPr>
              <a:t>•  Ambos válidos. El nativo (Secrets Manager, Key Vault, Secret Manager) se integra sin desplegar nada y con IAM del proveedor. Vault brilla en multi-cloud, secretos dinámicos avanzados y control fino…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 verificables y alcance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HashiCorp Vault. &lt;https://developer.hashicorp.com/vault/docs&gt; — motores, auth, policies, leases y auditoría oficiales.</a:t>
            </a:r>
          </a:p>
          <a:p>
            <a:pPr>
              <a:spcAft>
                <a:spcPts val="600"/>
              </a:spcAft>
            </a:pPr>
            <a:r>
              <a:rPr sz="1500">
                <a:solidFill>
                  <a:srgbClr val="22282E"/>
                </a:solidFill>
              </a:rPr>
              <a:t>•  Vault programmatic best practices. &lt;https://developer.hashicorp.com/vault/docs/configuration/programmatic-best-practices&gt; — advierte sobre secretos de Vault que persisten en state Terraform.</a:t>
            </a:r>
          </a:p>
          <a:p>
            <a:pPr>
              <a:spcAft>
                <a:spcPts val="600"/>
              </a:spcAft>
            </a:pPr>
            <a:r>
              <a:rPr sz="1500">
                <a:solidFill>
                  <a:srgbClr val="22282E"/>
                </a:solidFill>
              </a:rPr>
              <a:t>•  AWS Secrets Manager. &lt;https://docs.aws.amazon.com/secretsmanager/&gt; y Google Secret Manager. &lt;https://cloud.google.com/secret-manager/docs&gt; — capacidades oficiales; revisar rotadores, replicación y…</a:t>
            </a:r>
          </a:p>
          <a:p>
            <a:pPr>
              <a:spcAft>
                <a:spcPts val="600"/>
              </a:spcAft>
            </a:pPr>
            <a:r>
              <a:rPr sz="1500">
                <a:solidFill>
                  <a:srgbClr val="22282E"/>
                </a:solidFill>
              </a:rPr>
              <a:t>•  OWASP Secrets Management Cheat Sheet. &lt;https://cheatsheetseries.owasp.org/cheatsheets/SecretsManagementCheatSheet.html&gt; — guía de ciclo de vida y patrones complementarios.</a:t>
            </a:r>
          </a:p>
          <a:p>
            <a:pPr>
              <a:spcAft>
                <a:spcPts val="600"/>
              </a:spcAft>
            </a:pPr>
            <a:r>
              <a:rPr sz="1500">
                <a:solidFill>
                  <a:srgbClr val="22282E"/>
                </a:solidFill>
              </a:rPr>
              <a:t>•  Gitleaks. &lt;https://github.com/gitleaks/gitleaks&gt; — proyecto primario; documentar reglas, versión y validación de hallazgos.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26d69560b433969d.png"/>
          <p:cNvPicPr>
            <a:picLocks noChangeAspect="1"/>
          </p:cNvPicPr>
          <p:nvPr/>
        </p:nvPicPr>
        <p:blipFill>
          <a:blip r:embed="rId2"/>
          <a:stretch>
            <a:fillRect/>
          </a:stretch>
        </p:blipFill>
        <p:spPr>
          <a:xfrm>
            <a:off x="457200" y="3419856"/>
            <a:ext cx="8229600" cy="658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