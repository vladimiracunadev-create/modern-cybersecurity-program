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194560"/>
            <a:ext cx="8046720" cy="2286000"/>
          </a:xfrm>
          <a:prstGeom prst="rect">
            <a:avLst/>
          </a:prstGeom>
          <a:noFill/>
        </p:spPr>
        <p:txBody>
          <a:bodyPr wrap="square">
            <a:spAutoFit/>
          </a:bodyPr>
          <a:lstStyle/>
          <a:p>
            <a:r>
              <a:rPr sz="3200" b="1">
                <a:solidFill>
                  <a:srgbClr val="0B3D2E"/>
                </a:solidFill>
              </a:rPr>
              <a:t>Clase 182 — Logging y fuentes de telemetría</a:t>
            </a:r>
          </a:p>
          <a:p>
            <a:r>
              <a:rPr sz="1600">
                <a:solidFill>
                  <a:srgbClr val="2E8B57"/>
                </a:solidFill>
              </a:rPr>
              <a:t>parte 8 blue team deteccion y soc</a:t>
            </a:r>
          </a:p>
          <a:p>
            <a:r>
              <a:rPr sz="1200">
                <a:solidFill>
                  <a:srgbClr val="22282E"/>
                </a:solidFill>
              </a:rPr>
              <a:t>Programa de Ciberseguridad Moderna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Objetivo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Aprender qué telemetría existe, cómo se clasifica y cómo diseñar una estrategia de recolección que no deje puntos ciegos críticos. Sin buenos datos, la mejor detección es inútil: esta clase construye…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Resultados de aprendizaje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Al finalizar, el alumno podrá:</a:t>
            </a:r>
          </a:p>
          <a:p>
            <a:pPr>
              <a:spcAft>
                <a:spcPts val="600"/>
              </a:spcAft>
            </a:pPr>
            <a:r>
              <a:rPr sz="1500">
                <a:solidFill>
                  <a:srgbClr val="22282E"/>
                </a:solidFill>
              </a:rPr>
              <a:t>•  Clasificar fuentes de telemetría (host, red, identidad, nube, aplicación).</a:t>
            </a:r>
          </a:p>
          <a:p>
            <a:pPr>
              <a:spcAft>
                <a:spcPts val="600"/>
              </a:spcAft>
            </a:pPr>
            <a:r>
              <a:rPr sz="1500">
                <a:solidFill>
                  <a:srgbClr val="22282E"/>
                </a:solidFill>
              </a:rPr>
              <a:t>•  Distinguir datos de sesión, transacción, alerta, estadística y contenido completo (taxonomía NSM).</a:t>
            </a:r>
          </a:p>
          <a:p>
            <a:pPr>
              <a:spcAft>
                <a:spcPts val="600"/>
              </a:spcAft>
            </a:pPr>
            <a:r>
              <a:rPr sz="1500">
                <a:solidFill>
                  <a:srgbClr val="22282E"/>
                </a:solidFill>
              </a:rPr>
              <a:t>•  Priorizar qué registrar según valor de detección y coste de almacenamiento.</a:t>
            </a:r>
          </a:p>
          <a:p>
            <a:pPr>
              <a:spcAft>
                <a:spcPts val="600"/>
              </a:spcAft>
            </a:pPr>
            <a:r>
              <a:rPr sz="1500">
                <a:solidFill>
                  <a:srgbClr val="22282E"/>
                </a:solidFill>
              </a:rPr>
              <a:t>•  Configurar reenvío de logs con agentes y syslog hacia un colector central.</a:t>
            </a:r>
          </a:p>
          <a:p>
            <a:pPr>
              <a:spcAft>
                <a:spcPts val="600"/>
              </a:spcAft>
            </a:pPr>
            <a:r>
              <a:rPr sz="1500">
                <a:solidFill>
                  <a:srgbClr val="22282E"/>
                </a:solidFill>
              </a:rPr>
              <a:t>•  Detectar puntos ciegos en la cobertura de logging de una 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Temas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1 — Taxonomía de datos NSM</a:t>
            </a:r>
          </a:p>
          <a:p>
            <a:pPr>
              <a:spcAft>
                <a:spcPts val="600"/>
              </a:spcAft>
            </a:pPr>
            <a:r>
              <a:rPr sz="1500">
                <a:solidFill>
                  <a:srgbClr val="22282E"/>
                </a:solidFill>
              </a:rPr>
              <a:t>•  2 — Fuentes de endpoint (Event Logs, Sysmon, EDR)</a:t>
            </a:r>
          </a:p>
          <a:p>
            <a:pPr>
              <a:spcAft>
                <a:spcPts val="600"/>
              </a:spcAft>
            </a:pPr>
            <a:r>
              <a:rPr sz="1500">
                <a:solidFill>
                  <a:srgbClr val="22282E"/>
                </a:solidFill>
              </a:rPr>
              <a:t>•  3 — Fuentes de red (flujo, PCAP, DNS, proxy)</a:t>
            </a:r>
          </a:p>
          <a:p>
            <a:pPr>
              <a:spcAft>
                <a:spcPts val="600"/>
              </a:spcAft>
            </a:pPr>
            <a:r>
              <a:rPr sz="1500">
                <a:solidFill>
                  <a:srgbClr val="22282E"/>
                </a:solidFill>
              </a:rPr>
              <a:t>•  4 — Identidad y autenticación (AD, IdP, VPN)</a:t>
            </a:r>
          </a:p>
          <a:p>
            <a:pPr>
              <a:spcAft>
                <a:spcPts val="600"/>
              </a:spcAft>
            </a:pPr>
            <a:r>
              <a:rPr sz="1500">
                <a:solidFill>
                  <a:srgbClr val="22282E"/>
                </a:solidFill>
              </a:rPr>
              <a:t>•  5 — Nube y SaaS (CloudTrail, M365 audit)</a:t>
            </a:r>
          </a:p>
          <a:p>
            <a:pPr>
              <a:spcAft>
                <a:spcPts val="600"/>
              </a:spcAft>
            </a:pPr>
            <a:r>
              <a:rPr sz="1500">
                <a:solidFill>
                  <a:srgbClr val="22282E"/>
                </a:solidFill>
              </a:rPr>
              <a:t>•  6 — Normalización y marcas de tiempo (UTC, NTP)</a:t>
            </a:r>
          </a:p>
          <a:p>
            <a:pPr>
              <a:spcAft>
                <a:spcPts val="600"/>
              </a:spcAft>
            </a:pPr>
            <a:r>
              <a:rPr sz="1500">
                <a:solidFill>
                  <a:srgbClr val="22282E"/>
                </a:solidFill>
              </a:rPr>
              <a:t>•  7 — Retención y coste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Explicación en profundidad</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La telemetría defensiva debe tratarse como un producto de datos con propósito, no como una acumulación indiscriminada. Cada fuente debe responder qué comportamiento permite observar, con qué campos…</a:t>
            </a:r>
          </a:p>
          <a:p>
            <a:pPr>
              <a:spcAft>
                <a:spcPts val="600"/>
              </a:spcAft>
            </a:pPr>
            <a:r>
              <a:rPr sz="1500">
                <a:solidFill>
                  <a:srgbClr val="22282E"/>
                </a:solidFill>
              </a:rPr>
              <a:t>•  Conviene conservar el evento original y producir, además, una representación normalizada. El original permite revisar errores del parser; el esquema común permite correlacionar fuentes. Deben…</a:t>
            </a:r>
          </a:p>
          <a:p>
            <a:pPr>
              <a:spcAft>
                <a:spcPts val="600"/>
              </a:spcAft>
            </a:pPr>
            <a:r>
              <a:rPr sz="1500">
                <a:solidFill>
                  <a:srgbClr val="22282E"/>
                </a:solidFill>
              </a:rPr>
              <a:t>•  La retención se decide por caso de uso, riesgo, obligación legal, privacidad y coste. «Guardar todo» puede aumentar exposición y ruido. Para cada fuente se valida completitud, puntualidad, fidelidad…</a:t>
            </a:r>
          </a:p>
          <a:p>
            <a:pPr>
              <a:spcAft>
                <a:spcPts val="600"/>
              </a:spcAft>
            </a:pPr>
            <a:r>
              <a:rPr sz="1500">
                <a:solidFill>
                  <a:srgbClr val="22282E"/>
                </a:solidFill>
              </a:rPr>
              <a:t>•  Para detectar una cuenta que usa RDP por primera vez no basta pedir «logs de Windows». La hipótesis necesita, como mínimo, identidad, host origen, host destino, tipo de inicio de sesión y tiempo…</a:t>
            </a:r>
          </a:p>
          <a:p>
            <a:pPr>
              <a:spcAft>
                <a:spcPts val="600"/>
              </a:spcAft>
            </a:pPr>
            <a:r>
              <a:rPr sz="1500">
                <a:solidFill>
                  <a:srgbClr val="22282E"/>
                </a:solidFill>
              </a:rPr>
              <a:t>•  La normalización tampoco consiste en renombrar columnas mecánicamente. Dos productos pueden usar user para la cuenta solicitante y la cuenta afectada. Antes de mapear se define la semántica y se…</a:t>
            </a:r>
          </a:p>
          <a:p>
            <a:pPr>
              <a:spcAft>
                <a:spcPts val="600"/>
              </a:spcAft>
            </a:pPr>
            <a:r>
              <a:rPr sz="1500">
                <a:solidFill>
                  <a:srgbClr val="22282E"/>
                </a:solidFill>
              </a:rPr>
              <a:t>•  Lee el diagrama de izquierda a derecha y prueba cada frontera. En la fuente se pregunta si el evento se genera; en el colector, si se pierde al desconectarse; en el parser, si los tipos y tiempos son…</a:t>
            </a:r>
          </a:p>
          <a:p>
            <a:pPr>
              <a:spcAft>
                <a:spcPts val="600"/>
              </a:spcAft>
            </a:pPr>
            <a:r>
              <a:rPr sz="1500">
                <a:solidFill>
                  <a:srgbClr val="22282E"/>
                </a:solidFill>
              </a:rPr>
              <a:t>•  Para investigar ejecución sospechosa se necesitan proceso, línea de comandos, identidad, linaje y, según la pregunta, firma o hash. Para abuso de identidad hacen falta autenticación, resultado…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Glosario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Fuente: sistema que origina registros.</a:t>
            </a:r>
          </a:p>
          <a:p>
            <a:pPr>
              <a:spcAft>
                <a:spcPts val="600"/>
              </a:spcAft>
            </a:pPr>
            <a:r>
              <a:rPr sz="1500">
                <a:solidFill>
                  <a:srgbClr val="22282E"/>
                </a:solidFill>
              </a:rPr>
              <a:t>•  Colector: componente que recibe o extrae eventos.</a:t>
            </a:r>
          </a:p>
          <a:p>
            <a:pPr>
              <a:spcAft>
                <a:spcPts val="600"/>
              </a:spcAft>
            </a:pPr>
            <a:r>
              <a:rPr sz="1500">
                <a:solidFill>
                  <a:srgbClr val="22282E"/>
                </a:solidFill>
              </a:rPr>
              <a:t>•  Parser: lógica que convierte texto o estructura de origen en campos.</a:t>
            </a:r>
          </a:p>
          <a:p>
            <a:pPr>
              <a:spcAft>
                <a:spcPts val="600"/>
              </a:spcAft>
            </a:pPr>
            <a:r>
              <a:rPr sz="1500">
                <a:solidFill>
                  <a:srgbClr val="22282E"/>
                </a:solidFill>
              </a:rPr>
              <a:t>•  Normalización: mapeo a nombres y tipos comunes sin borrar el original.</a:t>
            </a:r>
          </a:p>
          <a:p>
            <a:pPr>
              <a:spcAft>
                <a:spcPts val="600"/>
              </a:spcAft>
            </a:pPr>
            <a:r>
              <a:rPr sz="1500">
                <a:solidFill>
                  <a:srgbClr val="22282E"/>
                </a:solidFill>
              </a:rPr>
              <a:t>•  Latencia de ingesta: diferencia entre ocurrencia y disponibilidad para consulta.</a:t>
            </a:r>
          </a:p>
          <a:p>
            <a:pPr>
              <a:spcAft>
                <a:spcPts val="600"/>
              </a:spcAft>
            </a:pPr>
            <a:r>
              <a:rPr sz="1500">
                <a:solidFill>
                  <a:srgbClr val="22282E"/>
                </a:solidFill>
              </a:rPr>
              <a:t>•  Retención: periodo y nivel de almacenamiento de los datos.</a:t>
            </a:r>
          </a:p>
          <a:p>
            <a:pPr>
              <a:spcAft>
                <a:spcPts val="600"/>
              </a:spcAft>
            </a:pPr>
            <a:r>
              <a:rPr sz="1500">
                <a:solidFill>
                  <a:srgbClr val="22282E"/>
                </a:solidFill>
              </a:rPr>
              <a:t>•  Dato caliente: telemetría optimizada para consulta inmediata.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Definiciones y características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Datos de sesión (flow): metadatos de conexiones (IP origen/destino, puertos, bytes, duración). Característica: baratos y de larga retención; ideales para hunting histórico.</a:t>
            </a:r>
          </a:p>
          <a:p>
            <a:pPr>
              <a:spcAft>
                <a:spcPts val="600"/>
              </a:spcAft>
            </a:pPr>
            <a:r>
              <a:rPr sz="1500">
                <a:solidFill>
                  <a:srgbClr val="22282E"/>
                </a:solidFill>
              </a:rPr>
              <a:t>•  Contenido completo (full packet capture): PCAP con la carga útil. Característica: máxima fidelidad, alto coste de almacenamiento; se retiene poco tiempo.</a:t>
            </a:r>
          </a:p>
          <a:p>
            <a:pPr>
              <a:spcAft>
                <a:spcPts val="600"/>
              </a:spcAft>
            </a:pPr>
            <a:r>
              <a:rPr sz="1500">
                <a:solidFill>
                  <a:srgbClr val="22282E"/>
                </a:solidFill>
              </a:rPr>
              <a:t>•  Datos de alerta: salidas de IDS/EDR (Suricata, Snort). Característica: ya interpretados, propensos a falsos positivos.</a:t>
            </a:r>
          </a:p>
          <a:p>
            <a:pPr>
              <a:spcAft>
                <a:spcPts val="600"/>
              </a:spcAft>
            </a:pPr>
            <a:r>
              <a:rPr sz="1500">
                <a:solidFill>
                  <a:srgbClr val="22282E"/>
                </a:solidFill>
              </a:rPr>
              <a:t>•  Datos estadísticos: agregados (top talkers, volúmenes). Característica: útiles para anomalías y línea base.</a:t>
            </a:r>
          </a:p>
          <a:p>
            <a:pPr>
              <a:spcAft>
                <a:spcPts val="600"/>
              </a:spcAft>
            </a:pPr>
            <a:r>
              <a:rPr sz="1500">
                <a:solidFill>
                  <a:srgbClr val="22282E"/>
                </a:solidFill>
              </a:rPr>
              <a:t>•  Log de endpoint: eventos del SO y aplicaciones (Security.evtx, Sysmon). Característica: granularidad de proceso, línea de comandos, red por proceso.</a:t>
            </a:r>
          </a:p>
          <a:p>
            <a:pPr>
              <a:spcAft>
                <a:spcPts val="600"/>
              </a:spcAft>
            </a:pPr>
            <a:r>
              <a:rPr sz="1500">
                <a:solidFill>
                  <a:srgbClr val="22282E"/>
                </a:solidFill>
              </a:rPr>
              <a:t>•  Normalización: llevar campos heterogéneos a un esquema común (ej. ECS de Elastic). Característica: habilita correlación entre fuentes.</a:t>
            </a:r>
          </a:p>
          <a:p>
            <a:pPr>
              <a:spcAft>
                <a:spcPts val="600"/>
              </a:spcAft>
            </a:pPr>
            <a:r>
              <a:rPr sz="1500">
                <a:solidFill>
                  <a:srgbClr val="22282E"/>
                </a:solidFill>
              </a:rPr>
              <a:t>•  Sincronización temporal: los sistemas mantienen una referencia de tiempo coherente y documentada, normalmente UTC con NTP. Característica: reduce ambigüedades al correlacionar eventos; el desfase…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Ejemplo trabajado — contrato de datos para RDP anómalo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La hipótesis es: «una cuenta de servicio que no usa sesiones interactivas inicia RDP desde un origen no administrativo». Se transforma en requisitos verificables:</a:t>
            </a:r>
          </a:p>
          <a:p>
            <a:pPr>
              <a:spcAft>
                <a:spcPts val="600"/>
              </a:spcAft>
            </a:pPr>
            <a:r>
              <a:rPr sz="1500">
                <a:solidFill>
                  <a:srgbClr val="22282E"/>
                </a:solidFill>
              </a:rPr>
              <a:t>•  Pregunta — Campo o contexto</a:t>
            </a:r>
          </a:p>
          <a:p>
            <a:pPr>
              <a:spcAft>
                <a:spcPts val="600"/>
              </a:spcAft>
            </a:pPr>
            <a:r>
              <a:rPr sz="1500">
                <a:solidFill>
                  <a:srgbClr val="22282E"/>
                </a:solidFill>
              </a:rPr>
              <a:t>•  ¿Qué identidad inició la sesión? — cuenta y dominio normalizados</a:t>
            </a:r>
          </a:p>
          <a:p>
            <a:pPr>
              <a:spcAft>
                <a:spcPts val="600"/>
              </a:spcAft>
            </a:pPr>
            <a:r>
              <a:rPr sz="1500">
                <a:solidFill>
                  <a:srgbClr val="22282E"/>
                </a:solidFill>
              </a:rPr>
              <a:t>•  ¿Desde dónde? — host/IP origen y traducciones conocidas</a:t>
            </a:r>
          </a:p>
          <a:p>
            <a:pPr>
              <a:spcAft>
                <a:spcPts val="600"/>
              </a:spcAft>
            </a:pPr>
            <a:r>
              <a:rPr sz="1500">
                <a:solidFill>
                  <a:srgbClr val="22282E"/>
                </a:solidFill>
              </a:rPr>
              <a:t>•  ¿Hacia qué activo? — host destino y criticidad</a:t>
            </a:r>
          </a:p>
          <a:p>
            <a:pPr>
              <a:spcAft>
                <a:spcPts val="600"/>
              </a:spcAft>
            </a:pPr>
            <a:r>
              <a:rPr sz="1500">
                <a:solidFill>
                  <a:srgbClr val="22282E"/>
                </a:solidFill>
              </a:rPr>
              <a:t>•  ¿Qué clase de sesión? — tipo de logon o evento de RDP</a:t>
            </a:r>
          </a:p>
          <a:p>
            <a:pPr>
              <a:spcAft>
                <a:spcPts val="600"/>
              </a:spcAft>
            </a:pPr>
            <a:r>
              <a:rPr sz="1500">
                <a:solidFill>
                  <a:srgbClr val="22282E"/>
                </a:solidFill>
              </a:rPr>
              <a:t>•  ¿Era esperable? — inventario de cuentas y grafo administrativo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Criterio de dominio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La estrategia es válida cuando cada fuente tiene propósito, propietario, campos críticos, latencia, retención y control de salud; el alumno puede explicar qué fuente confirma cada afirmación y qué…</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Herramientas y preparación</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Monta un laboratorio aislado con:</a:t>
            </a:r>
          </a:p>
          <a:p>
            <a:pPr>
              <a:spcAft>
                <a:spcPts val="600"/>
              </a:spcAft>
            </a:pPr>
            <a:r>
              <a:rPr sz="1500">
                <a:solidFill>
                  <a:srgbClr val="22282E"/>
                </a:solidFill>
              </a:rPr>
              <a:t>•  Sysmon (Sysinternals) en un Windows de pruebas, con una configuración base (p. ej. la de SwiftOnSecurity como punto de partida).</a:t>
            </a:r>
          </a:p>
          <a:p>
            <a:pPr>
              <a:spcAft>
                <a:spcPts val="600"/>
              </a:spcAft>
            </a:pPr>
            <a:r>
              <a:rPr sz="1500">
                <a:solidFill>
                  <a:srgbClr val="22282E"/>
                </a:solidFill>
              </a:rPr>
              <a:t>•  Winlogbeat o NXLog para reenviar Event Logs.</a:t>
            </a:r>
          </a:p>
          <a:p>
            <a:pPr>
              <a:spcAft>
                <a:spcPts val="600"/>
              </a:spcAft>
            </a:pPr>
            <a:r>
              <a:rPr sz="1500">
                <a:solidFill>
                  <a:srgbClr val="22282E"/>
                </a:solidFill>
              </a:rPr>
              <a:t>•  rsyslog/syslog-ng en un Linux como colector central.</a:t>
            </a:r>
          </a:p>
          <a:p>
            <a:pPr>
              <a:spcAft>
                <a:spcPts val="600"/>
              </a:spcAft>
            </a:pPr>
            <a:r>
              <a:rPr sz="1500">
                <a:solidFill>
                  <a:srgbClr val="22282E"/>
                </a:solidFill>
              </a:rPr>
              <a:t>•  Zeek (antes Bro) para telemetría de red rica (conn.log, dns.log, http.log).</a:t>
            </a:r>
          </a:p>
          <a:p>
            <a:pPr>
              <a:spcAft>
                <a:spcPts val="600"/>
              </a:spcAft>
            </a:pPr>
            <a:r>
              <a:rPr sz="1500">
                <a:solidFill>
                  <a:srgbClr val="22282E"/>
                </a:solidFill>
              </a:rPr>
              <a:t>•  Un servidor NTP interno o chrony/w32tm apuntando a una fuente confiable.</a:t>
            </a:r>
          </a:p>
          <a:p>
            <a:pPr>
              <a:spcAft>
                <a:spcPts val="600"/>
              </a:spcAft>
            </a:pPr>
            <a:r>
              <a:rPr sz="1500">
                <a:solidFill>
                  <a:srgbClr val="22282E"/>
                </a:solidFill>
              </a:rPr>
              <a:t>•  Todo en tu red de laboratorio; no captures tráfico de redes que no te pertenecen.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Laboratorio guiado — Centraliza y cubre puntos ciegos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Instala Sysmon en el Windows de laboratorio:</a:t>
            </a:r>
          </a:p>
          <a:p>
            <a:pPr>
              <a:spcAft>
                <a:spcPts val="600"/>
              </a:spcAft>
            </a:pPr>
            <a:r>
              <a:rPr sz="1500">
                <a:solidFill>
                  <a:srgbClr val="22282E"/>
                </a:solidFill>
              </a:rPr>
              <a:t>•  sysmon64.exe -accepteula -i sysmonconfig.xml</a:t>
            </a:r>
          </a:p>
          <a:p>
            <a:pPr>
              <a:spcAft>
                <a:spcPts val="600"/>
              </a:spcAft>
            </a:pPr>
            <a:r>
              <a:rPr sz="1500">
                <a:solidFill>
                  <a:srgbClr val="22282E"/>
                </a:solidFill>
              </a:rPr>
              <a:t>•  Verifica en Visor de eventos: Applications and Services Logs &gt; Microsoft &gt; Windows &gt; Sysmon/Operational.</a:t>
            </a:r>
          </a:p>
          <a:p>
            <a:pPr>
              <a:spcAft>
                <a:spcPts val="600"/>
              </a:spcAft>
            </a:pPr>
            <a:r>
              <a:rPr sz="1500">
                <a:solidFill>
                  <a:srgbClr val="22282E"/>
                </a:solidFill>
              </a:rPr>
              <a:t>•  Reenvía Event Logs. Configura Winlogbeat (winlogbeat.yml) para enviar los canales Security y Sysmon/Operational hacia tu colector.</a:t>
            </a:r>
          </a:p>
          <a:p>
            <a:pPr>
              <a:spcAft>
                <a:spcPts val="600"/>
              </a:spcAft>
            </a:pPr>
            <a:r>
              <a:rPr sz="1500">
                <a:solidFill>
                  <a:srgbClr val="22282E"/>
                </a:solidFill>
              </a:rPr>
              <a:t>•  Levanta el colector. En Linux, habilita recepción syslog en rsyslog (module(load="imudp") y input(type="imudp" port="514")).</a:t>
            </a:r>
          </a:p>
          <a:p>
            <a:pPr>
              <a:spcAft>
                <a:spcPts val="600"/>
              </a:spcAft>
            </a:pPr>
            <a:r>
              <a:rPr sz="1500">
                <a:solidFill>
                  <a:srgbClr val="22282E"/>
                </a:solidFill>
              </a:rPr>
              <a:t>•  Añade telemetría de red. Instala Zeek en un tap/mirror del laboratorio: zeek -i eth0 local. Revisa conn.log y dns.log.</a:t>
            </a:r>
          </a:p>
          <a:p>
            <a:pPr>
              <a:spcAft>
                <a:spcPts val="600"/>
              </a:spcAft>
            </a:pPr>
            <a:r>
              <a:rPr sz="1500">
                <a:solidFill>
                  <a:srgbClr val="22282E"/>
                </a:solidFill>
              </a:rPr>
              <a:t>•  Sincroniza el tiempo. Configura NTP en todas las máquinas y confirma con w32tm /query /status (Windows) y chronyc tracking (Linux). Todo en UTC.</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Ejercicios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Clasifica 8 fuentes de tu laboratorio según la taxonomía NSM.</a:t>
            </a:r>
          </a:p>
          <a:p>
            <a:pPr>
              <a:spcAft>
                <a:spcPts val="600"/>
              </a:spcAft>
            </a:pPr>
            <a:r>
              <a:rPr sz="1500">
                <a:solidFill>
                  <a:srgbClr val="22282E"/>
                </a:solidFill>
              </a:rPr>
              <a:t>•  Calcula el coste aproximado de retener 30 días de PCAP para un enlace de 100 Mbps al 20% de uso.</a:t>
            </a:r>
          </a:p>
          <a:p>
            <a:pPr>
              <a:spcAft>
                <a:spcPts val="600"/>
              </a:spcAft>
            </a:pPr>
            <a:r>
              <a:rPr sz="1500">
                <a:solidFill>
                  <a:srgbClr val="22282E"/>
                </a:solidFill>
              </a:rPr>
              <a:t>•  Diseña una política de retención por tipo de dato (flow, alerta, endpoint, PCAP).</a:t>
            </a:r>
          </a:p>
          <a:p>
            <a:pPr>
              <a:spcAft>
                <a:spcPts val="600"/>
              </a:spcAft>
            </a:pPr>
            <a:r>
              <a:rPr sz="1500">
                <a:solidFill>
                  <a:srgbClr val="22282E"/>
                </a:solidFill>
              </a:rPr>
              <a:t>•  Identifica 3 puntos ciegos típicos en una pyme y cómo cerrarlos.</a:t>
            </a:r>
          </a:p>
          <a:p>
            <a:pPr>
              <a:spcAft>
                <a:spcPts val="600"/>
              </a:spcAft>
            </a:pPr>
            <a:r>
              <a:rPr sz="1500">
                <a:solidFill>
                  <a:srgbClr val="22282E"/>
                </a:solidFill>
              </a:rPr>
              <a:t>•  Explica por qué el log de PowerShell (ScriptBlock) merece prioridad alta.</a:t>
            </a:r>
          </a:p>
          <a:p>
            <a:pPr>
              <a:spcAft>
                <a:spcPts val="600"/>
              </a:spcAft>
            </a:pPr>
            <a:r>
              <a:rPr sz="1500">
                <a:solidFill>
                  <a:srgbClr val="22282E"/>
                </a:solidFill>
              </a:rPr>
              <a:t>•  Propón qué recolectar de M365/Azure AD y por qué.</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Reto verificable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Entrega un plan de logging de una página con: matriz activo×fuente, prioridad (alta/media/baja) por fuente, política de retención y 3 puntos ciegos con su remediación. Criterio de aceptación: en tu…</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Errores comunes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Eventos con horas descuadradas — NTP no configurado; sincroniza todo a UTC</a:t>
            </a:r>
          </a:p>
          <a:p>
            <a:pPr>
              <a:spcAft>
                <a:spcPts val="600"/>
              </a:spcAft>
            </a:pPr>
            <a:r>
              <a:rPr sz="1500">
                <a:solidFill>
                  <a:srgbClr val="22282E"/>
                </a:solidFill>
              </a:rPr>
              <a:t>•  El SIEM no recibe Sysmon — Canal no incluido en Winlogbeat; añade Microsoft-Windows-Sysmon/Operational</a:t>
            </a:r>
          </a:p>
          <a:p>
            <a:pPr>
              <a:spcAft>
                <a:spcPts val="600"/>
              </a:spcAft>
            </a:pPr>
            <a:r>
              <a:rPr sz="1500">
                <a:solidFill>
                  <a:srgbClr val="22282E"/>
                </a:solidFill>
              </a:rPr>
              <a:t>•  Volumen de logs dispara el coste — Registras todo sin filtrar; filtra ruido (ej. eventos 4688 irrelevantes)</a:t>
            </a:r>
          </a:p>
          <a:p>
            <a:pPr>
              <a:spcAft>
                <a:spcPts val="600"/>
              </a:spcAft>
            </a:pPr>
            <a:r>
              <a:rPr sz="1500">
                <a:solidFill>
                  <a:srgbClr val="22282E"/>
                </a:solidFill>
              </a:rPr>
              <a:t>•  No hay rastro de un ataque conocido — Punto ciego; faltaba PowerShell/DNS logging</a:t>
            </a:r>
          </a:p>
          <a:p>
            <a:pPr>
              <a:spcAft>
                <a:spcPts val="600"/>
              </a:spcAft>
            </a:pPr>
            <a:r>
              <a:rPr sz="1500">
                <a:solidFill>
                  <a:srgbClr val="22282E"/>
                </a:solidFill>
              </a:rPr>
              <a:t>•  Campos incomparables entre fuentes — Sin normalización; adopta un esquema común (ECS)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Preguntas frecuentes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 ¿Registro todo o filtro?</a:t>
            </a:r>
          </a:p>
          <a:p>
            <a:pPr>
              <a:spcAft>
                <a:spcPts val="600"/>
              </a:spcAft>
            </a:pPr>
            <a:r>
              <a:rPr sz="1500">
                <a:solidFill>
                  <a:srgbClr val="22282E"/>
                </a:solidFill>
              </a:rPr>
              <a:t>•  No existe una respuesta universal. Conserva las fuentes y campos que sostienen casos de uso, investigación, obligaciones y auditoría; mide volumen, privacidad y coste antes de excluir. Un filtro debe…</a:t>
            </a:r>
          </a:p>
          <a:p>
            <a:pPr>
              <a:spcAft>
                <a:spcPts val="600"/>
              </a:spcAft>
            </a:pPr>
            <a:r>
              <a:rPr sz="1500">
                <a:solidFill>
                  <a:srgbClr val="22282E"/>
                </a:solidFill>
              </a:rPr>
              <a:t>•  ❓ ¿Event Logs nativos o Sysmon?</a:t>
            </a:r>
          </a:p>
          <a:p>
            <a:pPr>
              <a:spcAft>
                <a:spcPts val="600"/>
              </a:spcAft>
            </a:pPr>
            <a:r>
              <a:rPr sz="1500">
                <a:solidFill>
                  <a:srgbClr val="22282E"/>
                </a:solidFill>
              </a:rPr>
              <a:t>•  Ambos. Los nativos dan autenticación y auditoría; Sysmon aporta creación de procesos con hash, línea de comandos y conexiones por proceso.</a:t>
            </a:r>
          </a:p>
          <a:p>
            <a:pPr>
              <a:spcAft>
                <a:spcPts val="600"/>
              </a:spcAft>
            </a:pPr>
            <a:r>
              <a:rPr sz="1500">
                <a:solidFill>
                  <a:srgbClr val="22282E"/>
                </a:solidFill>
              </a:rPr>
              <a:t>•  ❓ ¿Necesito PCAP completo?</a:t>
            </a:r>
          </a:p>
          <a:p>
            <a:pPr>
              <a:spcAft>
                <a:spcPts val="600"/>
              </a:spcAft>
            </a:pPr>
            <a:r>
              <a:rPr sz="1500">
                <a:solidFill>
                  <a:srgbClr val="22282E"/>
                </a:solidFill>
              </a:rPr>
              <a:t>•  Solo en segmentos críticos y con retención corta. Para hunting histórico, los datos de sesión (flow/Zeek) rinden mucho más por byte almacenado.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Referencias verificables y alcance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NIST SP 800-92, Guide to Computer Security Log Management: guía primaria para infraestructura, procesos y ciclo de vida de gestión de logs; sus decisiones deben adaptarse a tecnologías y riesgos…</a:t>
            </a:r>
          </a:p>
          <a:p>
            <a:pPr>
              <a:spcAft>
                <a:spcPts val="600"/>
              </a:spcAft>
            </a:pPr>
            <a:r>
              <a:rPr sz="1500">
                <a:solidFill>
                  <a:srgbClr val="22282E"/>
                </a:solidFill>
              </a:rPr>
              <a:t>•  NIST SP 800-53 Rev. 5, familia AU: fuente primaria para objetivos de auditoría, contenido, protección, revisión y retención; no define por sí sola la configuración de un producto —…</a:t>
            </a:r>
          </a:p>
          <a:p>
            <a:pPr>
              <a:spcAft>
                <a:spcPts val="600"/>
              </a:spcAft>
            </a:pPr>
            <a:r>
              <a:rPr sz="1500">
                <a:solidFill>
                  <a:srgbClr val="22282E"/>
                </a:solidFill>
              </a:rPr>
              <a:t>•  Microsoft Sysmon: documentación oficial de instalación, configuración y capacidades del sensor de Windows — &lt;https://learn.microsoft.com/en-us/sysinternals/downloads/sysmon&gt;</a:t>
            </a:r>
          </a:p>
          <a:p>
            <a:pPr>
              <a:spcAft>
                <a:spcPts val="600"/>
              </a:spcAft>
            </a:pPr>
            <a:r>
              <a:rPr sz="1500">
                <a:solidFill>
                  <a:srgbClr val="22282E"/>
                </a:solidFill>
              </a:rPr>
              <a:t>•  Zeek, documentación oficial: referencia para los metadatos y registros de actividad de red producidos por Zeek — &lt;https://docs.zeek.org/en/current/reference/logs/index.html&gt;</a:t>
            </a:r>
          </a:p>
          <a:p>
            <a:pPr>
              <a:spcAft>
                <a:spcPts val="600"/>
              </a:spcAft>
            </a:pPr>
            <a:r>
              <a:rPr sz="1500">
                <a:solidFill>
                  <a:srgbClr val="22282E"/>
                </a:solidFill>
              </a:rPr>
              <a:t>•  Elastic Common Schema (ECS): especificación oficial del esquema usado como ejemplo de normalización; adoptar ECS no corrige por sí solo errores de origen o parsing —…</a:t>
            </a:r>
          </a:p>
          <a:p>
            <a:pPr>
              <a:spcAft>
                <a:spcPts val="600"/>
              </a:spcAft>
            </a:pPr>
            <a:r>
              <a:rPr sz="1500">
                <a:solidFill>
                  <a:srgbClr val="22282E"/>
                </a:solidFill>
              </a:rPr>
              <a:t>•  Sanders, C. y Smith, J. Applied Network Security Monitoring. Syngress: bibliografía profesional complementaria para el análisis de telemetría de red.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Aplicación transversal</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Aplica el contrato de telemetría a las tres fuentes de verdad del</a:t>
            </a:r>
          </a:p>
          <a:p>
            <a:pPr>
              <a:spcAft>
                <a:spcPts val="600"/>
              </a:spcAft>
            </a:pPr>
            <a:r>
              <a:rPr sz="1500">
                <a:solidFill>
                  <a:srgbClr val="22282E"/>
                </a:solidFill>
              </a:rPr>
              <a:t>•  caso de custodia de activos digitales:</a:t>
            </a:r>
          </a:p>
          <a:p>
            <a:pPr>
              <a:spcAft>
                <a:spcPts val="600"/>
              </a:spcAft>
            </a:pPr>
            <a:r>
              <a:rPr sz="1500">
                <a:solidFill>
                  <a:srgbClr val="22282E"/>
                </a:solidFill>
              </a:rPr>
              <a:t>•  verifica los 20 campos mínimos, correlaciona requestid con txhash y explica</a:t>
            </a:r>
          </a:p>
          <a:p>
            <a:pPr>
              <a:spcAft>
                <a:spcPts val="600"/>
              </a:spcAft>
            </a:pPr>
            <a:r>
              <a:rPr sz="1500">
                <a:solidFill>
                  <a:srgbClr val="22282E"/>
                </a:solidFill>
              </a:rPr>
              <a:t>•  qué conclusión queda impedida si desaparecen los eventos de aprobación.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square">
            <a:spAutoFit/>
          </a:bodyPr>
          <a:lstStyle/>
          <a:p>
            <a:r>
              <a:rPr sz="2200" b="1">
                <a:solidFill>
                  <a:srgbClr val="0B3D2E"/>
                </a:solidFill>
              </a:rPr>
              <a:t>Diagrama de la clase</a:t>
            </a:r>
          </a:p>
        </p:txBody>
      </p:sp>
      <p:pic>
        <p:nvPicPr>
          <p:cNvPr id="3" name="Picture 2" descr="decea5c2f2721916.png"/>
          <p:cNvPicPr>
            <a:picLocks noChangeAspect="1"/>
          </p:cNvPicPr>
          <p:nvPr/>
        </p:nvPicPr>
        <p:blipFill>
          <a:blip r:embed="rId2"/>
          <a:stretch>
            <a:fillRect/>
          </a:stretch>
        </p:blipFill>
        <p:spPr>
          <a:xfrm>
            <a:off x="457200" y="3360420"/>
            <a:ext cx="8229600" cy="7772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