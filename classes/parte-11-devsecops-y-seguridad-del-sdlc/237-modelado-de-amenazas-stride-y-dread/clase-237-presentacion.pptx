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237 — Modelado de amenazas: STRIDE y DREAD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modelar amenazas de forma sistemática antes de escribir código: descomponer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en un diagrama de flujo de datos (DFD), identificar amenazas con STRIDE, priorizarlas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 método de riesgo (DREAD u otro), y traducirlas en requisitos y controles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modelado de amenazas es la práctica shift-left de mayor retorno: previene defectos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 que ninguna herramienta automática detecta.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diagrama de flujo de datos (DFD) con límites de confianza (trust boundaries).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STRIDE a cada elemento del DFD para enumerar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amenazas con DREAD y reconocer sus limitaciones frente a alternativas (CVSS, ábaco de riesgo).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Derivar contramedidas y requisitos de seguridad a partir de las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modelo de forma reutilizable y versionable junto al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Las 4 preguntas de Shostack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Diagramas de flujo de datos (DFD)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Trust boundaries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STRIDE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DREAD y sus críticas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Threat modeling as 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 amenaza a contramedida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modelo de amenazas es una explicación estructurada de qué se protege, de quién, por dónde podría fallar y qué se hará al respecto. No intenta predecir todos los ataques ni reemplaza las pruebas.…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punto de partida no es STRIDE sino el sistema: activos, objetivos de seguridad, actores, componentes, almacenes, flujos y límites de confianza. En un diagrama de flujo de datos, un límite indica…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leer el diagrama se observa que el token cruza desde una zona menos confiable hacia la API; que la API concentra decisiones de autorización; y que la cola crea un flujo asíncrono con identidad…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DREAD popularizó puntuar daño, reproducibilidad, explotabilidad, usuarios afectados y descubribilidad. Puede facilitar una conversación, pero sumar escalas ordinales no convierte el resultado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amenaza se cierra de cuatro maneras documentadas: mitigar, evitar, transferir o aceptar. «Usamos TLS» no cierra una amenaza de suplantación si el atacante puede robar una sesión; «hay logs»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modela un flujo de recuperación de contraseña. Identifica suplantación si el token es predecible, divulgación si aparece en logs o cabeceras de referencia, manipulación si el usuario…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Activo — Información, capacidad o servicio cuyo daño importa al negocio o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Frontera de confianza — Punto donde cambia quién controla o valida una interacción.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DFD — Representación de entidades, procesos, almacenes y flujos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de amenaza — Cadena concreta de precondición, acción, activo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Mitigación — Cambio que reduce probabilidad o impacto y puede verificarse.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técnica cuando puede justificar el alcance de un DFD, encontrar amenazas específicas en sus cruces, evitar duplicados vagos, priorizar sin falsa precisión y convertir cada…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amenazas: representación estructurada de qué puede atacar a un sistema y cómo mitigarlo. Característica: se hace en fase de diseño, es barato y preventivo.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DFD: diagrama con procesos, almacenes de datos, flujos y entidades externas. Característica: los cruces de trust boundary son los puntos calientes.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STRIDE: Spoofing, Tampering, Repudiation, Information disclosure, Denial of service, Elevation of privilege. Característica: cada categoría se opone a una propiedad de seguridad (autenticación…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DREAD: Damage, Reproducibility, Exploitability, Affected users, Discoverability. Característica: scoring 1–10 por eje; útil pero subjetivo, Microsoft lo abandonó por inconsistencia.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Trust boundary: frontera donde datos o control pasan entre niveles de confianza distintos. Característica: internet↔DMZ, usuario↔proceso, contenedor↔host.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Contramedida (mitigación): control que reduce la probabilidad o el impacto de una amenaza. Característica: se traduce en requisito verificable.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Threat Dragon (app de escritorio/web) para dibujar DFD y anotar amenazas STRIDE.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pytm (Python) para modelar amenazas como código y generar el DFD e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Threat Modeling Tool (Windows) como alternativa gráfica.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tabla de amenazas (elemento | STRIDE | descripción | riesgo | mitigación).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 de pytm: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Modelaremos una app web de ejemplo: navegador → API → base de datos, con login.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alcance. Sistema: API REST de una tienda con autenticación por JWT, base de datos PostgreSQL y un servicio de pagos externo.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DFD. Entidades externas (usuario, pasarela de pago), procesos (API, servicio de auth), almacén (DB), flujos entre ellos. Marca trust boundaries: internet↔API, API↔DB, API↔pasarela.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STRIDE por elemento. Para el flujo "usuario → API login": Spoofing (¿se puede suplantar al usuario?), Tampering (¿se puede alterar el request?), etc. Rellena la tabla.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como código con pytm. Ejemplo mínimo: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tm.py --report y --dfd | dot -Tpng -o dfd.png.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Prioriza. Para las 5 amenazas más relevantes, documenta impacto, exposición, viabilidad y controles existentes. Calcula DREAD en paralelo solo para observar cuánto cambia al variar los supuestos.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DFD de un formulario de contacto con almacenamiento en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STRIDE al flujo "API → servicio de pagos externo" y lista 6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 dos amenazas con DREAD y argumenta por qué el scoring es discutible.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tres amenazas en requisitos de seguridad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con pytm un sistema con dos trust boundaries y genera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alternativa a DREAD y justifica cuándo la usarías.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modelo de amenazas completo de un sistema con al menos dos trust boundaries.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incluye (a) un DFD con procesos, almacenes, flujos y límites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confianza; (b) una tabla STRIDE con mínimo 8 amenazas categorizadas; (c) priorización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justificada de al menos 5; y (d) una contramedida/requisito verificable por cada amenaza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priorizada. El modelo debe ser versionable (Threat Dragon JSON o pytm).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DFD tiene 200 elementos y nadie lo entiende — Nivel de detalle excesivo. Modela al nivel de arquitectura, no de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listan amenazas pero no mitigaciones — El modelo no aporta valor sin contramedidas accionables. Cierra el ciclo.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DREAD da puntuaciones incoherentes entre personas — Sus escalas dependen del juicio. Conserva los supuestos y prioriza mediante impacto, exposición, viabilidad y controles; CVSS responde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se hace una vez y se olvida — Debe vivir con el código. Revísalo en cada cambio de arquitectura.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ignora la categoría Repudiation — Falta pensar en logging/no repudio. Añade trazabilidad como requisito.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hago threat modeling: al inicio o continuamente?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inicio del diseño y luego incrementalmente en cada cambio arquitectónico significativo. Es un documento vivo, no un entregable único.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¿STRIDE cubre todas las amenazas posibles?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pero da una cobertura sistemática de las categorías más comunes. Complementa con árboles de ataque o MITRE ATT&amp;CK para escenarios específicos.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la pena DREAD si Microsoft lo abandonó?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Sirve para observar los problemas de un puntaje subjetivo. En un modelo real conviene documentar impacto, exposición, viabilidad y controles con escalas calibradas para la organización. CVSS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automatizar el modelado de amenazas?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Adam Shostack, Threat Modeling: Designing for Security, Wiley 2014.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Threat Modeling Cheat Sheet — &lt;https://cheatsheetseries.owasp.org/cheatsheets/ThreatModelingCheatSheet.html&gt;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Threat Dragon — &lt;https://owasp.org/www-project-threat-dragon/&gt;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pytm — &lt;https://github.com/OWASP/pytm&gt;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STRIDE — &lt;https://learn.microsoft.com/en-us/azure/security/develop/threat-modeling-tool-threats&gt;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9be1291c26b1f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98648"/>
            <a:ext cx="8229600" cy="1700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