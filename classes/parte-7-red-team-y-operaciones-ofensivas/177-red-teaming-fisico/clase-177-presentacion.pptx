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2194560"/>
            <a:ext cx="8046720" cy="2286000"/>
          </a:xfrm>
          <a:prstGeom prst="rect">
            <a:avLst/>
          </a:prstGeom>
          <a:noFill/>
        </p:spPr>
        <p:txBody>
          <a:bodyPr wrap="square">
            <a:spAutoFit/>
          </a:bodyPr>
          <a:lstStyle/>
          <a:p>
            <a:r>
              <a:rPr sz="3200" b="1">
                <a:solidFill>
                  <a:srgbClr val="0B3D2E"/>
                </a:solidFill>
              </a:rPr>
              <a:t>Clase 177 — Red teaming físico</a:t>
            </a:r>
          </a:p>
          <a:p>
            <a:r>
              <a:rPr sz="1600">
                <a:solidFill>
                  <a:srgbClr val="2E8B57"/>
                </a:solidFill>
              </a:rPr>
              <a:t>parte 7 red team y operaciones ofensivas</a:t>
            </a:r>
          </a:p>
          <a:p>
            <a:r>
              <a:rPr sz="1200">
                <a:solidFill>
                  <a:srgbClr val="22282E"/>
                </a:solidFill>
              </a:rPr>
              <a:t>Programa de Ciberseguridad Moderna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Objetivo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Evaluar de forma autorizada cómo el acceso físico, los accesorios USB y los dispositivos compactos de red pueden atravesar o poner a prueba controles técnicos y humanos. La clase desarrolla dos…</a:t>
            </a:r>
          </a:p>
          <a:p>
            <a:pPr>
              <a:spcAft>
                <a:spcPts val="600"/>
              </a:spcAft>
            </a:pPr>
            <a:r>
              <a:rPr sz="1500">
                <a:solidFill>
                  <a:srgbClr val="22282E"/>
                </a:solidFill>
              </a:rPr>
              <a:t>•  El propósito no es demostrar que un producto «hackea» por sí solo. Es construir una cadena causal verificable: qué interfaz presentó, qué aceptó el sistema, qué conducta ocurrió, qué telemetría…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Resultados de aprendizaje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Al finalizar, el alumno podrá:</a:t>
            </a:r>
          </a:p>
          <a:p>
            <a:pPr>
              <a:spcAft>
                <a:spcPts val="600"/>
              </a:spcAft>
            </a:pPr>
            <a:r>
              <a:rPr sz="1500">
                <a:solidFill>
                  <a:srgbClr val="22282E"/>
                </a:solidFill>
              </a:rPr>
              <a:t>•  Delimitar una prueba física mediante autorización, reglas de compromiso, zonas, horarios y condiciones de parada.</a:t>
            </a:r>
          </a:p>
          <a:p>
            <a:pPr>
              <a:spcAft>
                <a:spcPts val="600"/>
              </a:spcAft>
            </a:pPr>
            <a:r>
              <a:rPr sz="1500">
                <a:solidFill>
                  <a:srgbClr val="22282E"/>
                </a:solidFill>
              </a:rPr>
              <a:t>•  Distinguir un cable normal, un dispositivo USB simple y uno compuesto, y explicar enumeración, interfaces HID, almacenamiento, red y serie.</a:t>
            </a:r>
          </a:p>
          <a:p>
            <a:pPr>
              <a:spcAft>
                <a:spcPts val="600"/>
              </a:spcAft>
            </a:pPr>
            <a:r>
              <a:rPr sz="1500">
                <a:solidFill>
                  <a:srgbClr val="22282E"/>
                </a:solidFill>
              </a:rPr>
              <a:t>•  Comparar O.MG Cable, USB Rubber Ducky, Bash Bunny, placas con USB nativo y Cynthion sin atribuir capacidades de un modelo a otro.</a:t>
            </a:r>
          </a:p>
          <a:p>
            <a:pPr>
              <a:spcAft>
                <a:spcPts val="600"/>
              </a:spcAft>
            </a:pPr>
            <a:r>
              <a:rPr sz="1500">
                <a:solidFill>
                  <a:srgbClr val="22282E"/>
                </a:solidFill>
              </a:rPr>
              <a:t>•  Preparar y restaurar un dispositivo de laboratorio sin dejar credenciales, cargas ni datos de la organización.</a:t>
            </a:r>
          </a:p>
          <a:p>
            <a:pPr>
              <a:spcAft>
                <a:spcPts val="600"/>
              </a:spcAft>
            </a:pPr>
            <a:r>
              <a:rPr sz="1500">
                <a:solidFill>
                  <a:srgbClr val="22282E"/>
                </a:solidFill>
              </a:rPr>
              <a:t>•  Ejecutar una demostración HID inocua y medir conexión, conducta y efecto sin abrir shells ni establecer C2.</a:t>
            </a:r>
          </a:p>
          <a:p>
            <a:pPr>
              <a:spcAft>
                <a:spcPts val="600"/>
              </a:spcAft>
            </a:pPr>
            <a:r>
              <a:rPr sz="1500">
                <a:solidFill>
                  <a:srgbClr val="22282E"/>
                </a:solidFill>
              </a:rPr>
              <a:t>•  Observar evidencia de host y red, diferenciando conexión, conducta sospechosa y atribución a un producto.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Temas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1 — Alcance físico y seguridad</a:t>
            </a:r>
          </a:p>
          <a:p>
            <a:pPr>
              <a:spcAft>
                <a:spcPts val="600"/>
              </a:spcAft>
            </a:pPr>
            <a:r>
              <a:rPr sz="1500">
                <a:solidFill>
                  <a:srgbClr val="22282E"/>
                </a:solidFill>
              </a:rPr>
              <a:t>•  2 — Enumeración USB</a:t>
            </a:r>
          </a:p>
          <a:p>
            <a:pPr>
              <a:spcAft>
                <a:spcPts val="600"/>
              </a:spcAft>
            </a:pPr>
            <a:r>
              <a:rPr sz="1500">
                <a:solidFill>
                  <a:srgbClr val="22282E"/>
                </a:solidFill>
              </a:rPr>
              <a:t>•  3 — HID y automatización</a:t>
            </a:r>
          </a:p>
          <a:p>
            <a:pPr>
              <a:spcAft>
                <a:spcPts val="600"/>
              </a:spcAft>
            </a:pPr>
            <a:r>
              <a:rPr sz="1500">
                <a:solidFill>
                  <a:srgbClr val="22282E"/>
                </a:solidFill>
              </a:rPr>
              <a:t>•  4 — Dispositivos compuestos</a:t>
            </a:r>
          </a:p>
          <a:p>
            <a:pPr>
              <a:spcAft>
                <a:spcPts val="600"/>
              </a:spcAft>
            </a:pPr>
            <a:r>
              <a:rPr sz="1500">
                <a:solidFill>
                  <a:srgbClr val="22282E"/>
                </a:solidFill>
              </a:rPr>
              <a:t>•  5 — Cables y accesorios alterados</a:t>
            </a:r>
          </a:p>
          <a:p>
            <a:pPr>
              <a:spcAft>
                <a:spcPts val="600"/>
              </a:spcAft>
            </a:pPr>
            <a:r>
              <a:rPr sz="1500">
                <a:solidFill>
                  <a:srgbClr val="22282E"/>
                </a:solidFill>
              </a:rPr>
              <a:t>•  6 — Instrumentación USB</a:t>
            </a:r>
          </a:p>
          <a:p>
            <a:pPr>
              <a:spcAft>
                <a:spcPts val="600"/>
              </a:spcAft>
            </a:pPr>
            <a:r>
              <a:rPr sz="1500">
                <a:solidFill>
                  <a:srgbClr val="22282E"/>
                </a:solidFill>
              </a:rPr>
              <a:t>•  7 — Dispositivos compactos de red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Explicación en profundidad</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autorización general para «hacer pentest» no basta para acceder a edificios, conectar hardware o involucrar personas. Las reglas de compromiso deben nombrar sedes y zonas, fechas y ventanas…</a:t>
            </a:r>
          </a:p>
          <a:p>
            <a:pPr>
              <a:spcAft>
                <a:spcPts val="600"/>
              </a:spcAft>
            </a:pPr>
            <a:r>
              <a:rPr sz="1500">
                <a:solidFill>
                  <a:srgbClr val="22282E"/>
                </a:solidFill>
              </a:rPr>
              <a:t>•  Esta clase reutiliza el método completo de la Clase 025 — Ética, legalidad, alcance y divulgación responsable. En una prueba física se agregan riesgos que allí no siempre aparecen: lesiones, bloqueo…</a:t>
            </a:r>
          </a:p>
          <a:p>
            <a:pPr>
              <a:spcAft>
                <a:spcPts val="600"/>
              </a:spcAft>
            </a:pPr>
            <a:r>
              <a:rPr sz="1500">
                <a:solidFill>
                  <a:srgbClr val="22282E"/>
                </a:solidFill>
              </a:rPr>
              <a:t>•  Al insertar un dispositivo, el host detecta presencia, restablece el bus, asigna una dirección y solicita descriptores. Esos datos anuncian fabricante y producto, pero, sobre todo, una o más…</a:t>
            </a:r>
          </a:p>
          <a:p>
            <a:pPr>
              <a:spcAft>
                <a:spcPts val="600"/>
              </a:spcAft>
            </a:pPr>
            <a:r>
              <a:rPr sz="1500">
                <a:solidFill>
                  <a:srgbClr val="22282E"/>
                </a:solidFill>
              </a:rPr>
              <a:t>•  Los valores VID, PID, nombre y número de serie ayudan a inventariar, pero son afirmaciones del dispositivo, no identidad criptográfica. Herramientas de emulación pueden cambiarlos. El puerto físico…</a:t>
            </a:r>
          </a:p>
          <a:p>
            <a:pPr>
              <a:spcAft>
                <a:spcPts val="600"/>
              </a:spcAft>
            </a:pPr>
            <a:r>
              <a:rPr sz="1500">
                <a:solidFill>
                  <a:srgbClr val="22282E"/>
                </a:solidFill>
              </a:rPr>
              <a:t>•  El diagrama se lee de izquierda a derecha. La conexión conduce a una declaración de capacidades; cada interfaz abre una ruta distinta y deja evidencia diferente. Solo al correlacionar esas rutas…</a:t>
            </a:r>
          </a:p>
          <a:p>
            <a:pPr>
              <a:spcAft>
                <a:spcPts val="600"/>
              </a:spcAft>
            </a:pPr>
            <a:r>
              <a:rPr sz="1500">
                <a:solidFill>
                  <a:srgbClr val="22282E"/>
                </a:solidFill>
              </a:rPr>
              <a:t>•  USB Rubber Ducky. En el modelo actual, DuckyScript 3 controla modos HID, STORAGE, la combinación de ambos u OFF. Su función pedagógica principal es estudiar automatización de teclado, tiempos de…</a:t>
            </a:r>
          </a:p>
          <a:p>
            <a:pPr>
              <a:spcAft>
                <a:spcPts val="600"/>
              </a:spcAft>
            </a:pPr>
            <a:r>
              <a:rPr sz="1500">
                <a:solidFill>
                  <a:srgbClr val="22282E"/>
                </a:solidFill>
              </a:rPr>
              <a:t>•  Bash Bunny. Es un sistema Linux embebido capaz de declarar combinaciones de HID, almacenamiento, serie y adaptadores Ethernet ECM/RNDIS según firmware y modo. Eso lo hace apropiado para estudiar…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Definiciones y características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Enumeración USB: negociación por la que el host conoce descriptores y configura el dispositivo. Ocurre antes de que la aplicación use la interfaz.</a:t>
            </a:r>
          </a:p>
          <a:p>
            <a:pPr>
              <a:spcAft>
                <a:spcPts val="600"/>
              </a:spcAft>
            </a:pPr>
            <a:r>
              <a:rPr sz="1500">
                <a:solidFill>
                  <a:srgbClr val="22282E"/>
                </a:solidFill>
              </a:rPr>
              <a:t>•  HID: clase USB para interfaces humanas. Ser HID no prueba automatización; teclados legítimos pertenecen a la misma clase.</a:t>
            </a:r>
          </a:p>
          <a:p>
            <a:pPr>
              <a:spcAft>
                <a:spcPts val="600"/>
              </a:spcAft>
            </a:pPr>
            <a:r>
              <a:rPr sz="1500">
                <a:solidFill>
                  <a:srgbClr val="22282E"/>
                </a:solidFill>
              </a:rPr>
              <a:t>•  Dispositivo compuesto: dispositivo con varias interfaces, por ejemplo HID más almacenamiento. Debe evaluarse por el conjunto, no por una función visible.</a:t>
            </a:r>
          </a:p>
          <a:p>
            <a:pPr>
              <a:spcAft>
                <a:spcPts val="600"/>
              </a:spcAft>
            </a:pPr>
            <a:r>
              <a:rPr sz="1500">
                <a:solidFill>
                  <a:srgbClr val="22282E"/>
                </a:solidFill>
              </a:rPr>
              <a:t>•  DuckyScript: lenguaje de automatización compatible con varios productos Hak5, con comandos que varían por dispositivo y versión.</a:t>
            </a:r>
          </a:p>
          <a:p>
            <a:pPr>
              <a:spcAft>
                <a:spcPts val="600"/>
              </a:spcAft>
            </a:pPr>
            <a:r>
              <a:rPr sz="1500">
                <a:solidFill>
                  <a:srgbClr val="22282E"/>
                </a:solidFill>
              </a:rPr>
              <a:t>•  Analizador de protocolo: instrumento que observa transacciones del bus. No equivale a un endpoint ni decide por sí solo si una acción es maliciosa.</a:t>
            </a:r>
          </a:p>
          <a:p>
            <a:pPr>
              <a:spcAft>
                <a:spcPts val="600"/>
              </a:spcAft>
            </a:pPr>
            <a:r>
              <a:rPr sz="1500">
                <a:solidFill>
                  <a:srgbClr val="22282E"/>
                </a:solidFill>
              </a:rPr>
              <a:t>•  Dropbox: equipo inventariado colocado temporalmente para probar acceso a red. Debe tener propietario, tiempo de retiro y método de contención.</a:t>
            </a:r>
          </a:p>
          <a:p>
            <a:pPr>
              <a:spcAft>
                <a:spcPts val="600"/>
              </a:spcAft>
            </a:pPr>
            <a:r>
              <a:rPr sz="1500">
                <a:solidFill>
                  <a:srgbClr val="22282E"/>
                </a:solidFill>
              </a:rPr>
              <a:t>•  TAP: punto de acceso de prueba que replica tráfico para observación. Su valor es medible por cobertura y pérdida, no por invisibilidad prometida.</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Glosario</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Término — Definición útil</a:t>
            </a:r>
          </a:p>
          <a:p>
            <a:pPr>
              <a:spcAft>
                <a:spcPts val="600"/>
              </a:spcAft>
            </a:pPr>
            <a:r>
              <a:rPr sz="1500">
                <a:solidFill>
                  <a:srgbClr val="22282E"/>
                </a:solidFill>
              </a:rPr>
              <a:t>•  VID/PID — Valores declarados por el dispositivo para fabricante/producto; útiles para inventario, falsificables.</a:t>
            </a:r>
          </a:p>
          <a:p>
            <a:pPr>
              <a:spcAft>
                <a:spcPts val="600"/>
              </a:spcAft>
            </a:pPr>
            <a:r>
              <a:rPr sz="1500">
                <a:solidFill>
                  <a:srgbClr val="22282E"/>
                </a:solidFill>
              </a:rPr>
              <a:t>•  Descriptor — Estructura USB que anuncia configuración, interfaces y endpoints.</a:t>
            </a:r>
          </a:p>
          <a:p>
            <a:pPr>
              <a:spcAft>
                <a:spcPts val="600"/>
              </a:spcAft>
            </a:pPr>
            <a:r>
              <a:rPr sz="1500">
                <a:solidFill>
                  <a:srgbClr val="22282E"/>
                </a:solidFill>
              </a:rPr>
              <a:t>•  Interfaz — Función lógica dentro de un dispositivo USB.</a:t>
            </a:r>
          </a:p>
          <a:p>
            <a:pPr>
              <a:spcAft>
                <a:spcPts val="600"/>
              </a:spcAft>
            </a:pPr>
            <a:r>
              <a:rPr sz="1500">
                <a:solidFill>
                  <a:srgbClr val="22282E"/>
                </a:solidFill>
              </a:rPr>
              <a:t>•  ECM/RNDIS — Formas de presentar un adaptador Ethernet por USB en diferentes sistemas.</a:t>
            </a:r>
          </a:p>
          <a:p>
            <a:pPr>
              <a:spcAft>
                <a:spcPts val="600"/>
              </a:spcAft>
            </a:pPr>
            <a:r>
              <a:rPr sz="1500">
                <a:solidFill>
                  <a:srgbClr val="22282E"/>
                </a:solidFill>
              </a:rPr>
              <a:t>•  Allowlist — Política que autoriza solo identidades, interfaces o puertos esperados.</a:t>
            </a:r>
          </a:p>
          <a:p>
            <a:pPr>
              <a:spcAft>
                <a:spcPts val="600"/>
              </a:spcAft>
            </a:pPr>
            <a:r>
              <a:rPr sz="1500">
                <a:solidFill>
                  <a:srgbClr val="22282E"/>
                </a:solidFill>
              </a:rPr>
              <a:t>•  Arming mode — Estado de administración separado de la ejecución en algunos equipos.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Herramientas y preparación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Banco mínimo: portátil de laboratorio sin datos reales, snapshot o imagen recuperable, un teclado normal, una memoria USB y una placa con USB nativo o dispositivo comercial inventariado. Cynthion es…</a:t>
            </a:r>
          </a:p>
          <a:p>
            <a:pPr>
              <a:spcAft>
                <a:spcPts val="600"/>
              </a:spcAft>
            </a:pPr>
            <a:r>
              <a:rPr sz="1500">
                <a:solidFill>
                  <a:srgbClr val="22282E"/>
                </a:solidFill>
              </a:rPr>
              <a:t>•  Topología: dispositivo USB → endpoint de prueba → sensor de host; para red, cliente de prueba → dispositivo intermedio → switch aislado → servicio sintético. No se conecta el banco a la LAN…</a:t>
            </a:r>
          </a:p>
          <a:p>
            <a:pPr>
              <a:spcAft>
                <a:spcPts val="600"/>
              </a:spcAft>
            </a:pPr>
            <a:r>
              <a:rPr sz="1500">
                <a:solidFill>
                  <a:srgbClr val="22282E"/>
                </a:solidFill>
              </a:rPr>
              <a:t>•  Comprobaciones antes de ejecutar:</a:t>
            </a:r>
          </a:p>
          <a:p>
            <a:pPr>
              <a:spcAft>
                <a:spcPts val="600"/>
              </a:spcAft>
            </a:pPr>
            <a:r>
              <a:rPr sz="1500">
                <a:solidFill>
                  <a:srgbClr val="22282E"/>
                </a:solidFill>
              </a:rPr>
              <a:t>•  En USBGuard, una regla como allow with-interface equals { 08:: } significa «solo almacenamiento»: un compuesto que además anuncie HID no coincide. La política debe generarse sobre una VM de prueba…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Laboratorio guiado — HID inocuo y defensa por capas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Objetivo. Observar enumeración y automatización sin abrir una terminal, descargar contenido, elevar privilegios ni comunicarse por red.</a:t>
            </a:r>
          </a:p>
          <a:p>
            <a:pPr>
              <a:spcAft>
                <a:spcPts val="600"/>
              </a:spcAft>
            </a:pPr>
            <a:r>
              <a:rPr sz="1500">
                <a:solidFill>
                  <a:srgbClr val="22282E"/>
                </a:solidFill>
              </a:rPr>
              <a:t>•  Prerrequisitos. Haber completado la Clase 025; máquina desechable con editor de texto abierto; reloj sincronizado; permisos para revisar logs; dispositivo de laboratorio inventariado. No usar un…</a:t>
            </a:r>
          </a:p>
          <a:p>
            <a:pPr>
              <a:spcAft>
                <a:spcPts val="600"/>
              </a:spcAft>
            </a:pPr>
            <a:r>
              <a:rPr sz="1500">
                <a:solidFill>
                  <a:srgbClr val="22282E"/>
                </a:solidFill>
              </a:rPr>
              <a:t>•  Payload inocuo de referencia (DuckyScript 3):</a:t>
            </a:r>
          </a:p>
          <a:p>
            <a:pPr>
              <a:spcAft>
                <a:spcPts val="600"/>
              </a:spcAft>
            </a:pPr>
            <a:r>
              <a:rPr sz="1500">
                <a:solidFill>
                  <a:srgbClr val="22282E"/>
                </a:solidFill>
              </a:rPr>
              <a:t>•  ATTACKMODE HID presenta teclado; DELAY permite completar enumeración; STRINGLN escribe el marcador y Enter; OFF desactiva la interfaz. En una placa distinta, implementa la misma secuencia y documenta…</a:t>
            </a:r>
          </a:p>
          <a:p>
            <a:pPr>
              <a:spcAft>
                <a:spcPts val="600"/>
              </a:spcAft>
            </a:pPr>
            <a:r>
              <a:rPr sz="1500">
                <a:solidFill>
                  <a:srgbClr val="22282E"/>
                </a:solidFill>
              </a:rPr>
              <a:t>•  Procedimiento reproducible.</a:t>
            </a:r>
          </a:p>
          <a:p>
            <a:pPr>
              <a:spcAft>
                <a:spcPts val="600"/>
              </a:spcAft>
            </a:pPr>
            <a:r>
              <a:rPr sz="1500">
                <a:solidFill>
                  <a:srgbClr val="22282E"/>
                </a:solidFill>
              </a:rPr>
              <a:t>•  Crea una hoja de alcance con host, dispositivo, operador, hora, payload, resultado permitido y condición de parada.</a:t>
            </a:r>
          </a:p>
          <a:p>
            <a:pPr>
              <a:spcAft>
                <a:spcPts val="600"/>
              </a:spcAft>
            </a:pPr>
            <a:r>
              <a:rPr sz="1500">
                <a:solidFill>
                  <a:srgbClr val="22282E"/>
                </a:solidFill>
              </a:rPr>
              <a:t>•  Obtén inventario inicial PnP/lsusb, interfaces de red, rutas y hora. Abre un editor vacío y asegúrate de que no tiene privilegios elevados.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Caso integrador — El «adaptador» encontrado en una sala</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 equipo reporta un adaptador USB-Ethernet conectado detrás de un puesto. A los 18 segundos aparece una interfaz RNDIS; el host obtiene otra ruta por DHCP; un sensor registra una consulta DNS…</a:t>
            </a:r>
          </a:p>
          <a:p>
            <a:pPr>
              <a:spcAft>
                <a:spcPts val="600"/>
              </a:spcAft>
            </a:pPr>
            <a:r>
              <a:rPr sz="1500">
                <a:solidFill>
                  <a:srgbClr val="22282E"/>
                </a:solidFill>
              </a:rPr>
              <a:t>•  La respuesta correcta no es etiquetarlo inmediatamente como Bash Bunny o LAN Turtle. El analista fotografía ubicación y conexiones, registra hora y custodio, aísla el host de acuerdo con el playbook…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Ejercicios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Explica por qué bloquear almacenamiento no detiene necesariamente HID ni Ethernet USB.</a:t>
            </a:r>
          </a:p>
          <a:p>
            <a:pPr>
              <a:spcAft>
                <a:spcPts val="600"/>
              </a:spcAft>
            </a:pPr>
            <a:r>
              <a:rPr sz="1500">
                <a:solidFill>
                  <a:srgbClr val="22282E"/>
                </a:solidFill>
              </a:rPr>
              <a:t>•  Compara Rubber Ducky, Bash Bunny, O.MG Cable, una placa USB nativa y Cynthion por función, administración y evidencia.</a:t>
            </a:r>
          </a:p>
          <a:p>
            <a:pPr>
              <a:spcAft>
                <a:spcPts val="600"/>
              </a:spcAft>
            </a:pPr>
            <a:r>
              <a:rPr sz="1500">
                <a:solidFill>
                  <a:srgbClr val="22282E"/>
                </a:solidFill>
              </a:rPr>
              <a:t>•  Diseña una política de compra, préstamo, actualización y borrado para accesorios de auditoría.</a:t>
            </a:r>
          </a:p>
          <a:p>
            <a:pPr>
              <a:spcAft>
                <a:spcPts val="600"/>
              </a:spcAft>
            </a:pPr>
            <a:r>
              <a:rPr sz="1500">
                <a:solidFill>
                  <a:srgbClr val="22282E"/>
                </a:solidFill>
              </a:rPr>
              <a:t>•  Propón tres fuentes para investigar una nueva interfaz USB y especifica un falso positivo y un falso negativo por fuente.</a:t>
            </a:r>
          </a:p>
          <a:p>
            <a:pPr>
              <a:spcAft>
                <a:spcPts val="600"/>
              </a:spcAft>
            </a:pPr>
            <a:r>
              <a:rPr sz="1500">
                <a:solidFill>
                  <a:srgbClr val="22282E"/>
                </a:solidFill>
              </a:rPr>
              <a:t>•  Modela una prueba de Packet Squirrel en modo puente sin Internet y define cómo demostrar que fue retirado.</a:t>
            </a:r>
          </a:p>
          <a:p>
            <a:pPr>
              <a:spcAft>
                <a:spcPts val="600"/>
              </a:spcAft>
            </a:pPr>
            <a:r>
              <a:rPr sz="1500">
                <a:solidFill>
                  <a:srgbClr val="22282E"/>
                </a:solidFill>
              </a:rPr>
              <a:t>•  Redacta una decisión de contención que preserve evidencia sin dejar el endpoint conectado a una red dudosa.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Reto verificable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Entrega un expediente de prueba con RoE, inventario antes/después, payload HID inocuo, línea de tiempo, política defensiva ensayada, evidencia del resultado, restauración y una conclusión graduada.</a:t>
            </a:r>
          </a:p>
          <a:p>
            <a:pPr>
              <a:spcAft>
                <a:spcPts val="600"/>
              </a:spcAft>
            </a:pPr>
            <a:r>
              <a:rPr sz="1500">
                <a:solidFill>
                  <a:srgbClr val="22282E"/>
                </a:solidFill>
              </a:rPr>
              <a:t>•  Criterio de aceptación: la prueba no abre shell ni red; identifica todas las interfaces; distingue conexión, conducta y atribución; demuestra un control que bloquea el dispositivo de prueba sin…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Matriz de cobertura de la ampliación</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La columna inicial conserva el diagnóstico realizado el 6 de octubre de 2026 antes de esta revisión. «Mencionado» no significa enseñado.</a:t>
            </a:r>
          </a:p>
          <a:p>
            <a:pPr>
              <a:spcAft>
                <a:spcPts val="600"/>
              </a:spcAft>
            </a:pPr>
            <a:r>
              <a:rPr sz="1500">
                <a:solidFill>
                  <a:srgbClr val="22282E"/>
                </a:solidFill>
              </a:rPr>
              <a:t>•  El video y las marcas de tiempo aportados se usaron como mapa temático, pero el video no pudo inspeccionarse de forma reproducible en este entorno. Por eso ninguna afirmación técnica depende de él…</a:t>
            </a:r>
          </a:p>
          <a:p>
            <a:pPr>
              <a:spcAft>
                <a:spcPts val="600"/>
              </a:spcAft>
            </a:pPr>
            <a:r>
              <a:rPr sz="1500">
                <a:solidFill>
                  <a:srgbClr val="22282E"/>
                </a:solidFill>
              </a:rPr>
              <a:t>•  Familia o equipo — Cobertura inicial y evidencia</a:t>
            </a:r>
          </a:p>
          <a:p>
            <a:pPr>
              <a:spcAft>
                <a:spcPts val="600"/>
              </a:spcAft>
            </a:pPr>
            <a:r>
              <a:rPr sz="1500">
                <a:solidFill>
                  <a:srgbClr val="22282E"/>
                </a:solidFill>
              </a:rPr>
              <a:t>•  O.MG Cable — Mencionado en herramientas de esta clase; sin modelo, administración ni defensa</a:t>
            </a:r>
          </a:p>
          <a:p>
            <a:pPr>
              <a:spcAft>
                <a:spcPts val="600"/>
              </a:spcAft>
            </a:pPr>
            <a:r>
              <a:rPr sz="1500">
                <a:solidFill>
                  <a:srgbClr val="22282E"/>
                </a:solidFill>
              </a:rPr>
              <a:t>•  USB Rubber Ducky — Parcialmente desarrollado aquí; la práctica anterior abría C2 y no evaluaba telemetría</a:t>
            </a:r>
          </a:p>
          <a:p>
            <a:pPr>
              <a:spcAft>
                <a:spcPts val="600"/>
              </a:spcAft>
            </a:pPr>
            <a:r>
              <a:rPr sz="1500">
                <a:solidFill>
                  <a:srgbClr val="22282E"/>
                </a:solidFill>
              </a:rPr>
              <a:t>•  Bash Bunny — Ausente</a:t>
            </a:r>
          </a:p>
          <a:p>
            <a:pPr>
              <a:spcAft>
                <a:spcPts val="600"/>
              </a:spcAft>
            </a:pPr>
            <a:r>
              <a:rPr sz="1500">
                <a:solidFill>
                  <a:srgbClr val="22282E"/>
                </a:solidFill>
              </a:rPr>
              <a:t>•  WiFi Pineapple — Ausente en la Clase 272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Errores comunes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Error — Por qué falla</a:t>
            </a:r>
          </a:p>
          <a:p>
            <a:pPr>
              <a:spcAft>
                <a:spcPts val="600"/>
              </a:spcAft>
            </a:pPr>
            <a:r>
              <a:rPr sz="1500">
                <a:solidFill>
                  <a:srgbClr val="22282E"/>
                </a:solidFill>
              </a:rPr>
              <a:t>•  «Bloqueamos pendrives, por tanto bloqueamos USB malicioso» — almacenamiento es solo una interfaz</a:t>
            </a:r>
          </a:p>
          <a:p>
            <a:pPr>
              <a:spcAft>
                <a:spcPts val="600"/>
              </a:spcAft>
            </a:pPr>
            <a:r>
              <a:rPr sz="1500">
                <a:solidFill>
                  <a:srgbClr val="22282E"/>
                </a:solidFill>
              </a:rPr>
              <a:t>•  «El VID/PID demuestra que es un producto X» — los descriptores pueden modificarse</a:t>
            </a:r>
          </a:p>
          <a:p>
            <a:pPr>
              <a:spcAft>
                <a:spcPts val="600"/>
              </a:spcAft>
            </a:pPr>
            <a:r>
              <a:rPr sz="1500">
                <a:solidFill>
                  <a:srgbClr val="22282E"/>
                </a:solidFill>
              </a:rPr>
              <a:t>•  Ejecutar una shell para probar HID — amplía impacto sin necesidad</a:t>
            </a:r>
          </a:p>
          <a:p>
            <a:pPr>
              <a:spcAft>
                <a:spcPts val="600"/>
              </a:spcAft>
            </a:pPr>
            <a:r>
              <a:rPr sz="1500">
                <a:solidFill>
                  <a:srgbClr val="22282E"/>
                </a:solidFill>
              </a:rPr>
              <a:t>•  Confiar en el aspecto del cable — el implante conserva función aparente</a:t>
            </a:r>
          </a:p>
          <a:p>
            <a:pPr>
              <a:spcAft>
                <a:spcPts val="600"/>
              </a:spcAft>
            </a:pPr>
            <a:r>
              <a:rPr sz="1500">
                <a:solidFill>
                  <a:srgbClr val="22282E"/>
                </a:solidFill>
              </a:rPr>
              <a:t>•  Conectar evidencia a otro portátil — altera estado y puede ejecutar funciones</a:t>
            </a:r>
          </a:p>
          <a:p>
            <a:pPr>
              <a:spcAft>
                <a:spcPts val="600"/>
              </a:spcAft>
            </a:pPr>
            <a:r>
              <a:rPr sz="1500">
                <a:solidFill>
                  <a:srgbClr val="22282E"/>
                </a:solidFill>
              </a:rPr>
              <a:t>•  Aplicar una política de bloqueo sin recuperación — puede dejar sin teclado o dock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Preguntas frecuentes</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¿Un dispositivo HID puede escribir si la pantalla está bloqueada? Puede enumerar, pero la pantalla bloqueada cambia el destino y el efecto de las teclas. La prueba debe observarlo; no asumir…</a:t>
            </a:r>
          </a:p>
          <a:p>
            <a:pPr>
              <a:spcAft>
                <a:spcPts val="600"/>
              </a:spcAft>
            </a:pPr>
            <a:r>
              <a:rPr sz="1500">
                <a:solidFill>
                  <a:srgbClr val="22282E"/>
                </a:solidFill>
              </a:rPr>
              <a:t>•  ¿Un «USB data blocker» es una defensa completa? No. Es útil para una necesidad concreta de carga sin datos. No sustituye inventario, políticas de interfaz ni controles cuando sí hace falta transferir…</a:t>
            </a:r>
          </a:p>
          <a:p>
            <a:pPr>
              <a:spcAft>
                <a:spcPts val="600"/>
              </a:spcAft>
            </a:pPr>
            <a:r>
              <a:rPr sz="1500">
                <a:solidFill>
                  <a:srgbClr val="22282E"/>
                </a:solidFill>
              </a:rPr>
              <a:t>•  ¿Se puede saber la marca por los logs? A veces aparece un nombre o VID/PID consistente, pero son datos declarados. Se informa como indicio, no como atribución concluyente.</a:t>
            </a:r>
          </a:p>
          <a:p>
            <a:pPr>
              <a:spcAft>
                <a:spcPts val="600"/>
              </a:spcAft>
            </a:pPr>
            <a:r>
              <a:rPr sz="1500">
                <a:solidFill>
                  <a:srgbClr val="22282E"/>
                </a:solidFill>
              </a:rPr>
              <a:t>•  ¿Qué significa controlar el equipo? Administrarlo incluye firmware, configuración, acceso, respaldo y borrado. Controlar su riesgo significa impedir o detectar efectos no autorizados sobre el…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40"/>
            <a:ext cx="8229600" cy="822960"/>
          </a:xfrm>
          <a:prstGeom prst="rect">
            <a:avLst/>
          </a:prstGeom>
          <a:noFill/>
        </p:spPr>
        <p:txBody>
          <a:bodyPr wrap="square">
            <a:spAutoFit/>
          </a:bodyPr>
          <a:lstStyle/>
          <a:p>
            <a:r>
              <a:rPr sz="2600" b="1">
                <a:solidFill>
                  <a:srgbClr val="0B3D2E"/>
                </a:solidFill>
              </a:rPr>
              <a:t>🔗 Referencias verificables y alcance</a:t>
            </a:r>
          </a:p>
        </p:txBody>
      </p:sp>
      <p:sp>
        <p:nvSpPr>
          <p:cNvPr id="3" name="TextBox 2"/>
          <p:cNvSpPr txBox="1"/>
          <p:nvPr/>
        </p:nvSpPr>
        <p:spPr>
          <a:xfrm>
            <a:off x="457200" y="1280160"/>
            <a:ext cx="8229600" cy="4937760"/>
          </a:xfrm>
          <a:prstGeom prst="rect">
            <a:avLst/>
          </a:prstGeom>
          <a:noFill/>
        </p:spPr>
        <p:txBody>
          <a:bodyPr wrap="square">
            <a:spAutoFit/>
          </a:bodyPr>
          <a:lstStyle/>
          <a:p>
            <a:pPr>
              <a:spcAft>
                <a:spcPts val="600"/>
              </a:spcAft>
            </a:pPr>
            <a:r>
              <a:rPr sz="1500">
                <a:solidFill>
                  <a:srgbClr val="22282E"/>
                </a:solidFill>
              </a:rPr>
              <a:t>•  NIST, SP 800-115 — Technical Guide to Information Security Testing and Assessment — planificación, reglas, ejecución segura y reporte.</a:t>
            </a:r>
          </a:p>
          <a:p>
            <a:pPr>
              <a:spcAft>
                <a:spcPts val="600"/>
              </a:spcAft>
            </a:pPr>
            <a:r>
              <a:rPr sz="1500">
                <a:solidFill>
                  <a:srgbClr val="22282E"/>
                </a:solidFill>
              </a:rPr>
              <a:t>•  NIST, SP 800-53 Rev. 5, familia PE — acceso físico, visitantes y monitoreo como defensa en profundidad.</a:t>
            </a:r>
          </a:p>
          <a:p>
            <a:pPr>
              <a:spcAft>
                <a:spcPts val="600"/>
              </a:spcAft>
            </a:pPr>
            <a:r>
              <a:rPr sz="1500">
                <a:solidFill>
                  <a:srgbClr val="22282E"/>
                </a:solidFill>
              </a:rPr>
              <a:t>•  MITRE ATT&amp;CK, T1200 — Hardware Additions — modela la adición de hardware; no identifica un producto concreto.</a:t>
            </a:r>
          </a:p>
          <a:p>
            <a:pPr>
              <a:spcAft>
                <a:spcPts val="600"/>
              </a:spcAft>
            </a:pPr>
            <a:r>
              <a:rPr sz="1500">
                <a:solidFill>
                  <a:srgbClr val="22282E"/>
                </a:solidFill>
              </a:rPr>
              <a:t>•  Hak5, DuckyScript Quick Reference — modos HID/storage, sintaxis y diferencias por versión/dispositivo.</a:t>
            </a:r>
          </a:p>
          <a:p>
            <a:pPr>
              <a:spcAft>
                <a:spcPts val="600"/>
              </a:spcAft>
            </a:pPr>
            <a:r>
              <a:rPr sz="1500">
                <a:solidFill>
                  <a:srgbClr val="22282E"/>
                </a:solidFill>
              </a:rPr>
              <a:t>•  Hak5, Bash Bunny ATTACKMODE — interfaces serie, almacenamiento, HID y Ethernet, incluidas restricciones de combinación.</a:t>
            </a:r>
          </a:p>
          <a:p>
            <a:pPr>
              <a:spcAft>
                <a:spcPts val="600"/>
              </a:spcAft>
            </a:pPr>
            <a:r>
              <a:rPr sz="1500">
                <a:solidFill>
                  <a:srgbClr val="22282E"/>
                </a:solidFill>
              </a:rPr>
              <a:t>•  Hak5, O.MG Cable y comparación de variantes — capacidades declaradas por generación/variante; no se generalizan a todos los cables.</a:t>
            </a:r>
          </a:p>
          <a:p>
            <a:pPr>
              <a:spcAft>
                <a:spcPts val="600"/>
              </a:spcAft>
            </a:pPr>
            <a:r>
              <a:rPr sz="1500">
                <a:solidFill>
                  <a:srgbClr val="22282E"/>
                </a:solidFill>
              </a:rPr>
              <a:t>•  Great Scott Gadgets, Cynthion — analizador USB 2.0, Packetry, LUNA y Facedancer.</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8229600" cy="640080"/>
          </a:xfrm>
          <a:prstGeom prst="rect">
            <a:avLst/>
          </a:prstGeom>
          <a:noFill/>
        </p:spPr>
        <p:txBody>
          <a:bodyPr wrap="square">
            <a:spAutoFit/>
          </a:bodyPr>
          <a:lstStyle/>
          <a:p>
            <a:r>
              <a:rPr sz="2200" b="1">
                <a:solidFill>
                  <a:srgbClr val="0B3D2E"/>
                </a:solidFill>
              </a:rPr>
              <a:t>Diagrama de la clase</a:t>
            </a:r>
          </a:p>
        </p:txBody>
      </p:sp>
      <p:pic>
        <p:nvPicPr>
          <p:cNvPr id="3" name="Picture 2" descr="f6d64a8230004c8a.png"/>
          <p:cNvPicPr>
            <a:picLocks noChangeAspect="1"/>
          </p:cNvPicPr>
          <p:nvPr/>
        </p:nvPicPr>
        <p:blipFill>
          <a:blip r:embed="rId2"/>
          <a:stretch>
            <a:fillRect/>
          </a:stretch>
        </p:blipFill>
        <p:spPr>
          <a:xfrm>
            <a:off x="457200" y="2836709"/>
            <a:ext cx="8229600" cy="1824662"/>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