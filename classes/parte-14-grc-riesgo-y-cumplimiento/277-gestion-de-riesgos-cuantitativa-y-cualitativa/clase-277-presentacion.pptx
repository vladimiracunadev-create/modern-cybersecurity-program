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B3D2E"/>
                </a:solidFill>
              </a:rPr>
              <a:t>Clase 277 — Gestión de riesgos: cuantitativa y cualitativa</a:t>
            </a:r>
          </a:p>
          <a:p>
            <a:r>
              <a:rPr sz="1600">
                <a:solidFill>
                  <a:srgbClr val="2E8B57"/>
                </a:solidFill>
              </a:rPr>
              <a:t>parte 14 grc riesgo y cumplimiento</a:t>
            </a:r>
          </a:p>
          <a:p>
            <a:r>
              <a:rPr sz="1200">
                <a:solidFill>
                  <a:srgbClr val="22282E"/>
                </a:solidFill>
              </a:rPr>
              <a:t>Programa de Ciberseguridad Moderna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🎯 Objetivo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Aprender a evaluar el riesgo de seguridad de forma rigurosa, tanto con métodos cualitativos (matrices de probabilidad × impacto) como cuantitativos (SLE, ARO, ALE y modelos probabilísticos). Al…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📚 Resultados de aprendizaje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 finalizar, el alumno podrá: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Calcular SLE, ARO y ALE de un escenario de riesgo concreto.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Construir una matriz de riesgo cualitativa 5×5 y ubicar riesgos en ella.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Comparar el ALE antes y después de un control para justificar la inversión (ROSI).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Aplicar una estimación probabilística por rangos con intervalos de confianza del 90%.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Elegir el tratamiento adecuado: mitigar, transferir, evitar o aceptar.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Separar riesgo de ciberseguridad, riesgo económico y de modelo, riesgo de liquidez, incumplimiento y alegaciones de fraude antes de seleccionar controles.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🗺️ 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1 — Vocabulario: amenaza, vulnerabilidad, riesgo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2 — Análisis cualitativo (matriz P×I)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3 — Análisis cuantitativo (SLE/ARO/ALE)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4 — ROSI (retorno de la inversión en seguridad)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5 — Estimación calibrada y rangos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6 — Simulación de Montecarlo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7 — Tratamiento del riesgo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🧠 Explicación en profundidad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riesgo combina escenarios, frecuencia y magnitud de pérdida bajo incertidumbre. Una matriz cualitativa facilita conversación, pero multiplicar ordinales no crea dinero ni probabilidad. El análisis…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Dos riesgos quedan «altos» en una matriz. Uno puede interrumpir ventas por horas; otro generar daño regulatorio de cola larga. Rangos y escenarios separan decisiones. El resultado se presenta como…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TerraUSD (UST) es un contraste útil porque su colapso no debe reescribirse como «hackeo». La SEC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describió UST como una supuesta stablecoin algorítmica y, después de un veredicto unánime por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fraude de valores, informó en 2024 del acuerdo y de las declaraciones falsas sobre la estabilidad de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UST y el uso de la blockchain de Terraform para liquidar transacciones. Esa fuente establece el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resultado del litigio que documenta; no identifica por sí misma una CVE, malware, credencial robada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📔 Glosario operativo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Término — Definición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Escenario de pérdida — Cadena concreta que conecta amenaza, activo y consecuencia.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Incertidumbre — Falta de conocimiento representada y comunicada explícitamente.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Sensibilidad — Cambio del resultado al variar un supuesto.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Riesgo de modelo — Pérdida por supuestos, relaciones o implementación inadecuados para la decisión modelada.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Evento observable — Hecho medido; requiere análisis adicional antes de atribuir causa, intención o categoría de riesgo.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Riesgo de promotor — Pérdida por privilegios, concentración o conducta de quienes controlan el proyecto.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✅ Criterio de dominio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Hay dominio cuando el alumno formula escenarios, evita falsa precisión, justifica método y compara tratamientos mediante riesgo residual.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📖 Definiciones y características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Riesgo: probabilidad de que una amenaza explote una vulnerabilidad causando un impacto. Clave: riesgo = f(probabilidad, impacto).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SLE (Single Loss Expectancy): pérdida esperada de un único incidente. Clave: SLE = Valor del activo (AV) × Factor de exposición (EF).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ARO (Annualized Rate of Occurrence): número esperado de ocurrencias al año. Clave: 0,1 significa "una vez cada 10 años".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ALE (Annualized Loss Expectancy): pérdida anual esperada. Clave: ALE = SLE × ARO.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ROSI: retorno de inversión en seguridad. Clave: ROSI = (ALEantes − ALEdespués − costecontrol) / costecontrol.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Riesgo residual: el que queda tras aplicar controles. Clave: nunca es cero; se acepta formalmente.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Estimación calibrada: dar rangos con un intervalo de confianza (p. ej. 90%) en lugar de un punto. Clave: reduce el exceso de confianza del experto.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🧰 Herramientas y preparación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Hoja de cálculo (LibreOffice Calc / Excel / Google Sheets) para las fórmulas SLE/ARO/ALE.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Opcional: Python con numpy para una simulación de Montecarlo (pip install numpy).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Referencia metodológica: FAIR (Factor Analysis of Information Risk) de The Open Group, y NIST SP 800-30 (Guide for Conducting Risk Assessments).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Una plantilla de matriz de riesgo 5×5 (la crearás tú en el laboratorio).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🧪 Laboratorio guiado (ejercicio aplicado)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Escenario: ransomware contra la plataforma de e-commerce de "Ferretería del Sur S.A.".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Delimita el escenario: registra activo, actor o fuente de incertidumbre, evento, efecto,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horizonte y evidencia. No uses «riesgo tecnológico» como categoría única: este caso modela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indisponibilidad por ransomware, no fraude, liquidez ni un fallo de modelo financiero.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Valora el activo (AV): estima el valor de la plataforma en 500.000 €.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Factor de exposición (EF): un cifrado por ransomware deja el sistema inoperante; estima EF = 0,6 (pérdida del 60%).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SLE: calcula SLE = 500.000 × 0,6 = 300.000 €.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✍️ Ejercicios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Calcula el ALE de un robo de portátil: AV=1.500 €, EF=1, ARO=3.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 control cuesta 10.000 € y baja el ALE de 40.000 a 12.000 €. ¿Cuál es el ROSI?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Convierte esta matriz cualitativa a decisión: probabilidad media, impacto catastrófico. ¿Aceptas o mitigas?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Da un intervalo de confianza del 90% para "cuántos empleados hará clic en un phishing de 100 enviados". Justifica.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Explica por qué el ALE puede engañar cuando el impacto es raro pero catastrófico (cola larga).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Diseña un Montecarlo para una brecha de datos con multa GDPR variable.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Explica por qué revisar un contrato inteligente no basta para evaluar liquidez, reservas,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📝 Reto verificable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Entrega una hoja de cálculo de análisis de riesgo cuantitativo para tres escenarios (ransomware, brecha de datos, caída de disponibilidad) con SLE, ARO, ALE, control propuesto, ALE residual y ROSI de…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Criterio de aceptación: las fórmulas están enlazadas (no números pegados), cada control muestra un ROSI calculado, y la recomendación de tratamiento (mitigar/transferir/aceptar) es coherente con el…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⚠️ Errores comunes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ALE ridículamente preciso (60.000,00 €) — Falsa precisión; usa rangos con intervalos de confianza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Matriz de colores sin acción — La matriz es triaje, no decisión final; complementa con cuantitativo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ROSI negativo pero se compra el control — Decisión emocional; revisa si hay factor regulatorio o reputacional no modelado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"El riesgo no se puede medir" — Falacia; toda reducción de incertidumbre es medición (Hubbard)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Ignorar el riesgo residual — Documenta y acepta formalmente lo que queda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Clasificar un de-peg como «hackeo» sin evidencia — Se confundió el efecto con la causa; abre hipótesis separadas y exige artefactos específicos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Usar «blockchain» como garantía de estabilidad — La integridad de ciertas transacciones no elimina riesgo de mercado, liquidez, modelo o gobierno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❓ Preguntas frecuentes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¿Cuantitativo o cualitativo?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Ambos. El cualitativo prioriza rápido; el cuantitativo justifica inversiones y se comunica con la dirección. Empieza cualitativo, profundiza cuantitativo en los riesgos top.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¿De dónde saco el ARO si no tengo datos?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 informes del sector (Verizon DBIR), datos históricos internos y estimación calibrada por expertos. La incertidumbre se modela, no se elimina.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¿Qué es FAIR?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 marco cuantitativo estándar que descompone el riesgo en frecuencia y magnitud de pérdida. Complementa muy bien SLE/ARO/ALE.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¿La matriz 5×5 tiene problemas?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🔗 Referencias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Hubbard &amp; Seiersen — How to Measure Anything in Cybersecurity Risk. &lt;https://www.howtomeasureanything.com/cybersecurity/&gt;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NIST SP 800-30 Rev.1 — Guide for Conducting Risk Assessments. &lt;https://csrc.nist.gov/pubs/sp/800/30/r1/final&gt;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The Open Group — FAIR Risk Analysis Standard. &lt;https://www.opengroup.org/forum/security/fair&gt;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Verizon Data Breach Investigations Report (DBIR). &lt;https://www.verizon.com/business/resources/reports/dbir/&gt;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U.S. Securities and Exchange Commission — acuerdo posterior al veredicto contra Terraform Labs y Do Kwon (2024); respalda el estado judicial y las afirmaciones sobre UST y el uso declarado de la…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U.S. Securities and Exchange Commission — litigio sobre Game Coin (2025); respalda el mecanismo alegado de control de LP tokens y retiro de liquidez, no una conclusión sobre otros proyectos.…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(ISC)² CISSP Official Study Guide, dominio 1.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0B3D2E"/>
                </a:solidFill>
              </a:rPr>
              <a:t>Diagrama de la clase</a:t>
            </a:r>
          </a:p>
        </p:txBody>
      </p:sp>
      <p:pic>
        <p:nvPicPr>
          <p:cNvPr id="3" name="Picture 2" descr="ac2935fd2ae0e34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875788"/>
            <a:ext cx="8229600" cy="174650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